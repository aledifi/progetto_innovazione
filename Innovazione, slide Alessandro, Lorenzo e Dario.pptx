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0" r:id="rId5"/>
    <p:sldId id="272" r:id="rId6"/>
    <p:sldId id="262" r:id="rId7"/>
    <p:sldId id="273" r:id="rId8"/>
    <p:sldId id="265" r:id="rId9"/>
    <p:sldId id="270" r:id="rId10"/>
    <p:sldId id="266" r:id="rId11"/>
    <p:sldId id="271" r:id="rId12"/>
    <p:sldId id="267"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autoAdjust="0"/>
    <p:restoredTop sz="94610"/>
  </p:normalViewPr>
  <p:slideViewPr>
    <p:cSldViewPr snapToGrid="0" snapToObjects="1">
      <p:cViewPr>
        <p:scale>
          <a:sx n="105" d="100"/>
          <a:sy n="105" d="100"/>
        </p:scale>
        <p:origin x="65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7T20:23:10.086"/>
    </inkml:context>
    <inkml:brush xml:id="br0">
      <inkml:brushProperty name="width" value="0.2" units="cm"/>
      <inkml:brushProperty name="height" value="0.2" units="cm"/>
      <inkml:brushProperty name="color" value="#FFFFFF"/>
    </inkml:brush>
  </inkml:definitions>
  <inkml:trace contextRef="#ctx0" brushRef="#br0">227 10 24575,'-26'0'0,"10"-1"0,1 1 0,-1 0 0,1 2 0,-1-1 0,1 2 0,-29 8 0,43-11 0,0 0 0,0 1 0,0-1 0,-1 0 0,1 1 0,0-1 0,0 1 0,0-1 0,0 1 0,0-1 0,1 1 0,-1 0 0,0 0 0,0-1 0,0 1 0,1 0 0,-1 0 0,0 0 0,1 0 0,-1 0 0,0 0 0,1 0 0,-1 0 0,1 0 0,0 0 0,-1 1 0,1-1 0,1 0 0,-1 1 0,1-1 0,-1 0 0,1 0 0,-1 1 0,1-1 0,0 0 0,0 0 0,-1 0 0,1 0 0,0 0 0,0 0 0,0 0 0,0-1 0,0 1 0,0 0 0,2 0 0,3 3 0,-1-1 0,1 0 0,0 0 0,1-1 0,-1 0 0,0 0 0,1 0 0,7 1 0,7-1 0,30 3 0,-50-5 0,0 0 0,1 0 0,-1 0 0,0-1 0,0 1 0,0 0 0,0 0 0,0-1 0,0 1 0,0-1 0,0 1 0,0-1 0,0 1 0,0-1 0,0 0 0,0 1 0,0-1 0,0 0 0,0 0 0,-1 1 0,1-1 0,0 0 0,-1 0 0,1 0 0,-1 0 0,1 0 0,-1 0 0,1 0 0,-1 0 0,1 0 0,-1 0 0,0-1 0,0 1 0,0 0 0,0 0 0,0-1 0,0 0 0,-1-1 0,0 1 0,0 0 0,0 0 0,0 0 0,0 0 0,0 0 0,-1 1 0,1-1 0,-1 0 0,1 1 0,-1-1 0,0 1 0,1-1 0,-1 1 0,0 0 0,0 0 0,0-1 0,0 2 0,0-1 0,0 0 0,-1 0 0,-3 0 0,-54-14 0,55 15 0,0 0 0,-1 0 0,1 1 0,0 0 0,-1 0 0,1 0 0,0 1 0,0 0 0,0 0 0,-8 4 0,11-5 0,1 0 0,-1 0 0,1 0 0,-1 0 0,1 0 0,-1 0 0,1 0 0,0 1 0,0-1 0,0 0 0,-1 1 0,1-1 0,1 1 0,-3 3 0,3-4 0,0 0 0,0 0 0,0 0 0,0 0 0,0 0 0,0 1 0,0-1 0,1 0 0,-1 0 0,0 0 0,1 0 0,-1 0 0,0 0 0,1 0 0,-1 0 0,1 0 0,0 0 0,-1 0 0,1 0 0,0 0 0,0-1 0,-1 1 0,1 0 0,0-1 0,0 1 0,2 1 0,4 0 0,1 0 0,0 0 0,-1 0 0,1-1 0,0 0 0,0 0 0,0-1 0,0 0 0,0-1 0,13-2 0,-13 2 0,-7 1 0,0 0 0,0 0 0,-1 0 0,1 0 0,0-1 0,-1 1 0,1 0 0,0-1 0,-1 1 0,1 0 0,0-1 0,-1 1 0,1-1 0,0 1 0,-1 0 0,1-1 0,-1 0 0,1 1 0,-1-1 0,1 1 0,-1-1 0,0 0 0,1 1 0,-1-1 0,0 0 0,1 1 0,-1-1 0,0 0 0,0 0 0,0 1 0,0-1 0,0 0 0,1 1 0,-1-1 0,0 0 0,-1 0 0,1 1 0,0-1 0,0 0 0,0 0 0,0 1 0,-1-1 0,1-1 0,-1 1 0,1-1 0,-1 1 0,1-1 0,-1 1 0,0-1 0,1 1 0,-1-1 0,0 1 0,0 0 0,0-1 0,0 1 0,0 0 0,-1 0 0,1 0 0,0 0 0,-1 0 0,1 0 0,0 0 0,-1 0 0,-1 0 0,-7-1 0,1 0 0,-1 1 0,0 0 0,0 1 0,-13 1 0,21-1 0,0 1 0,0-1 0,0 1 0,0-1 0,0 1 0,0-1 0,0 1 0,0 0 0,0 0 0,0 0 0,1 0 0,-1 0 0,0 1 0,-1 0 0,2-1 0,0 1 0,1-1 0,-1 0 0,1 0 0,-1 0 0,1 0 0,0 1 0,-1-1 0,1 0 0,0 1 0,0-1 0,0 0 0,0 0 0,0 1 0,0-1 0,0 0 0,0 1 0,0-1 0,1 0 0,-1 0 0,0 1 0,1-1 0,-1 0 0,1 0 0,1 2 0,0-1 0,0 1 0,1-1 0,-1 1 0,1-1 0,-1 0 0,1 0 0,0 0 0,0-1 0,0 1 0,0-1 0,4 2 0,-5-2 0,0 0 0,-1 0 0,1-1 0,0 1 0,0 0 0,0-1 0,-1 1 0,1-1 0,0 0 0,0 0 0,0 1 0,0-1 0,0-1 0,0 1 0,0 0 0,0 0 0,-1-1 0,1 1 0,0-1 0,0 1 0,1-2 0,-6-1 0,0 1 0,-1-1 0,0 1 0,0-1 0,0 1 0,0 1 0,0-1 0,-8-2 0,11 4 0,-5-2 0,1 0 0,0 0 0,-1 1 0,1 0 0,-1 0 0,0 0 0,-7 1 0,12 0 0,0 0 0,0 0 0,-1 0 0,1 1 0,0-1 0,0 0 0,0 1 0,0-1 0,0 1 0,-1-1 0,1 1 0,0 0 0,0-1 0,0 1 0,1 0 0,-1 0 0,0 0 0,0-1 0,0 1 0,0 0 0,1 0 0,-1 0 0,1 0 0,-1 1 0,1-1 0,-1 0 0,1 0 0,-1 0 0,1 0 0,0 0 0,0 1 0,-1-1 0,1 0 0,0 0 0,0 0 0,0 1 0,0-1 0,1 2 0,-1 0 0,0 0 0,0 0 0,0 0 0,1 1 0,0-1 0,-1 0 0,1 0 0,0 0 0,0 0 0,1 0 0,-1 0 0,1 0 0,-1 0 0,1-1 0,0 1 0,0-1 0,0 1 0,3 2 0,0-2 0,-1-1 0,0 1 0,1-1 0,0 0 0,-1 0 0,1 0 0,0-1 0,0 0 0,0 0 0,0 0 0,7 0 0,-6 0 0,0-1 0,0 1 0,-1 1 0,1-1 0,0 1 0,0 0 0,-1 0 0,1 0 0,-1 1 0,0 0 0,0 0 0,0 0 0,0 1 0,4 4 0,-56-4 0,37-4 0,-31-3 0,39 3 0,1 0 0,-1-1 0,1 1 0,-1-1 0,1 1 0,-1-1 0,1 0 0,-1 1 0,1-1 0,0 0 0,-1 0 0,1 0 0,0 0 0,0 0 0,-1 0 0,1 0 0,0-1 0,0 1 0,0 0 0,1-1 0,-2-1 0,48 0 0,17 4 0,106-2 0,-167 0 0,1 1 0,-1-1 0,0 0 0,0 0 0,0 0 0,0 0 0,0 0 0,0 0 0,0-1 0,0 1 0,-1 0 0,1-1 0,0 0 0,-1 1 0,1-1 0,-1 0 0,0 0 0,1 0 0,-1 0 0,0 0 0,0 0 0,0 0 0,-1 0 0,1 0 0,0-3 0,1-1 0,-1 1 0,1-1 0,-2 0 0,1 0 0,0 0 0,-1 0 0,0 0 0,-2-9 0,-26 77 0,27-59 0,-2 0 0,1 0 0,0 0 0,-1 0 0,1 0 0,-1 0 0,0-1 0,0 1 0,0-1 0,0 0 0,-7 4 0,6-2 0,-1 0 0,1 0 0,0 0 0,1 1 0,-1 0 0,1-1 0,0 1 0,0 0 0,0 1 0,0-1 0,1 1 0,0-1 0,0 1 0,-1 7 0,49-45 0,-46 32 0,13-12 0,1 1 0,1 1 0,15-9 0,-26 17 0,0-1 0,0 2 0,1-1 0,-1 0 0,0 1 0,1 0 0,-1 0 0,1 0 0,-1 1 0,1-1 0,-1 1 0,1 0 0,-1 0 0,1 1 0,-1 0 0,9 2 0,15 3 0,0-1 0,0-1 0,0-1 0,45-2 0,-30 1 0,57 10 0,-33-6 0,-60-6 0,-9 0 0,-35 0 0,-163-7 0,185 7 0,0-1 0,0 0 0,0-2 0,-16-3 0,28 5 0,0 0 0,-1 1 0,1-1 0,0-1 0,0 1 0,-1 0 0,1-1 0,0 0 0,0 1 0,1-1 0,-1 0 0,0-1 0,1 1 0,-1 0 0,1-1 0,0 1 0,-1-1 0,1 0 0,1 0 0,-1 0 0,0 0 0,1 0 0,-3-6 0,4 9 0,0-1 0,0 0 0,0 1 0,0-1 0,0 0 0,0 1 0,0-1 0,0 0 0,0 1 0,1-1 0,-1 0 0,0 1 0,0-1 0,0 1 0,1-1 0,-1 0 0,0 1 0,1-1 0,-1 1 0,1-1 0,-1 1 0,1-1 0,-1 1 0,0-1 0,1 1 0,0 0 0,-1-1 0,1 1 0,-1 0 0,2-1 0,26-4 0,-20 5 0,0 1 0,0 0 0,0 0 0,15 4 0,28 8 0,-42-12 0,-1 1 0,0 0 0,0 0 0,0 1 0,0 0 0,8 4 0,-26-8 0,1 0 0,-1 1 0,1 1 0,-1 0 0,-12 2 0,-11 6 0,-1-2 0,0-1 0,-59 3 0,67-13 0,23 2 0,-1 1 0,0 0 0,0 0 0,0 0 0,0 1 0,0 0 0,0-1 0,0 1 0,0 1 0,0-1 0,0 1 0,0-1 0,0 1 0,0 0 0,-7 3 0,11-3 0,-1 0 0,0 0 0,0 0 0,1 0 0,-1-1 0,1 1 0,-1 1 0,0-1 0,1 0 0,0 0 0,-1 0 0,1 0 0,0 0 0,0 0 0,-1 0 0,1 0 0,0 1 0,0-1 0,0 0 0,0 0 0,1 0 0,-1 0 0,0 0 0,0 1 0,1-1 0,-1 0 0,0 0 0,1 0 0,-1 0 0,1 0 0,0 0 0,-1 0 0,1 0 0,0 0 0,-1-1 0,1 1 0,0 0 0,0 0 0,0 0 0,0-1 0,0 1 0,0-1 0,0 1 0,0-1 0,0 1 0,0-1 0,0 1 0,1-1 0,4 3 0,0 0 0,0-1 0,0 1 0,0-2 0,0 1 0,0 0 0,9 0 0,15-2 0,-11-1 0,-1 2 0,1 0 0,-1 1 0,24 5 0,-22-4 0,1 0 0,0-2 0,0 0 0,40-4 0,0 1 0,-44 1 0,0-1 0,27-6 0,16-2 0,25-4 0,-64 9 0,-7 3 0,0-1 0,-1-1 0,1 0 0,0-1 0,-1-1 0,22-12 0,-33 16 0,0 0 0,-1 1 0,1-1 0,-1 0 0,1 0 0,-1 0 0,1 0 0,-1 0 0,0 0 0,0 0 0,0 0 0,0 0 0,-1-1 0,1 1 0,0 0 0,-1-1 0,0 1 0,1 0 0,-1-1 0,0 1 0,0 0 0,-1-1 0,1 1 0,0-1 0,-1 1 0,1 0 0,-1 0 0,0-1 0,0 1 0,-1-2 0,-2-7 0,-1 0 0,-1 0 0,0 0 0,-10-12 0,10 14 0,-1 1 0,1 0 0,-2 0 0,-10-8 0,18 15 0,-1 0 0,0 1 0,0-1 0,0 0 0,0 1 0,0-1 0,0 1 0,0-1 0,0 1 0,0 0 0,-1-1 0,1 1 0,0 0 0,0 0 0,0 0 0,0 0 0,0 0 0,0 0 0,-1 0 0,0 0 0,1 1 0,0 0 0,0 0 0,0 0 0,0 0 0,0 0 0,0 0 0,0 0 0,0 0 0,1 0 0,-1 0 0,0 0 0,1 1 0,-1-1 0,1 0 0,-1 0 0,1 1 0,0-1 0,0 0 0,-1 1 0,1-1 0,0 0 0,0 2 0,-6 37 0,3-26 0,1-1 0,0 1 0,1 0 0,0-1 0,1 1 0,1 0 0,2 15 0,-2-25 0,1 0 0,0 0 0,0-1 0,0 1 0,0-1 0,0 1 0,1-1 0,0 0 0,-1 0 0,1 0 0,0 0 0,1-1 0,-1 1 0,6 3 0,-8-6 0,0 1 0,0-1 0,0 1 0,0-1 0,0 1 0,0-1 0,0 0 0,0 1 0,0-1 0,0 0 0,1 0 0,-1 0 0,0 0 0,0 0 0,0 0 0,0 0 0,0 0 0,0-1 0,0 1 0,0 0 0,2-1 0,-2 0 0,0-1 0,0 1 0,0 0 0,0 0 0,0-1 0,0 1 0,0 0 0,-1-1 0,1 1 0,0-1 0,-1 1 0,0-1 0,1 1 0,-1-1 0,0 1 0,0-1 0,1 1 0,-1-1 0,0 0 0,-1-2 0,0-18 0,0 16 0,0 1 0,1-1 0,-1 1 0,1-1 0,1 0 0,-1 1 0,1-1 0,0 1 0,0-1 0,3-7 0,-3 12 0,0 1 0,0 0 0,-1 0 0,1 0 0,0 0 0,0-1 0,-1 1 0,1 0 0,0 1 0,0-1 0,-1 0 0,1 0 0,0 0 0,-1 0 0,1 0 0,0 1 0,0-1 0,-1 0 0,1 1 0,0-1 0,-1 0 0,1 1 0,-1-1 0,1 1 0,0-1 0,-1 1 0,1-1 0,-1 1 0,1 0 0,-1-1 0,1 2 0,26 26 0,-20-21 0,35 22 0,-41-28 0,1 0 0,-1 0 0,1-1 0,-1 1 0,1 0 0,0 0 0,-1-1 0,1 1 0,0-1 0,0 0 0,-1 1 0,1-1 0,0 0 0,0 0 0,0 0 0,-1 0 0,1 0 0,0-1 0,0 1 0,-1-1 0,1 1 0,0-1 0,-1 1 0,1-1 0,1-1 0,0-3-54,-2 0-1,1 0 0,-1-1 1,1 1-1,-2 0 0,1-1 1,0 1-1,-1-9 0,0 7-818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15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introduttiva. Presentiamo un progetto di gestione energetica per uno smart district composto da sorgenti, accumuli e carichi. Il problema è che domanda, fotovoltaico, prezzi e condizioni ambientali cambiano nel tempo: serve un controllore che decida ora per ora. L’obiettivo è minimizzare il costo operativo senza violare bilancio di potenza, limiti degli accumuli, comfort indoor e target di ricarica del veicolo.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centro c’è il bus elettrico, cioè il nodo comune dove produzione e consumo devono bilanciarsi. Sul lato generazione ci sono fotovoltaico, rete, generatore e fuel cell. Sul lato consumo ci sono carico uffici, HVAC, ricarica PEV, batteria in carica ed elettrolizzatore.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ciclo parte dalla misura dello stato corrente: batteria, idrogeno, temperatura interna e PEV. Poi vengono costruite le previsioni per le 24 ore successive. Pyomo costruisce il MILP, il solver restituisce la sequenza ottima, ma viene applicata solo la prima decisione. Dopo un’ora si aggiorna tutto e si ripete.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codice il modello è costruito in Pyomo. Le variabili continue rappresentano potenze e stati dinamici. Le variabili binarie evitano comportamenti non fisici. La funzione obiettivo minimizza importazione più combustibile del generatore meno ricavi da export, con penalità alte per comfort e PEV.</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simulato quattro scenari di 48 ore. A e B sono estate, C e D inverno. A e C hanno combustibile basso a 0,15 euro per kWh; B e D combustibile alto a 0,45 euro per kWh.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scenari con combustibile economico hanno costo più basso. Quando il combustibile costa poco il modello usa il generatore e importa meno. Quando costa di più evita il generatore e importa di più dalla rete.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costo cumulativo cresce più rapidamente nelle ore in cui il sistema deve usare risorse costose. A parità di stagione, lo scenario con combustibile alto resta sopra quello con combustibile basso.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verifica gli stati e i vincoli. La batteria resta nei limiti, il sistema a idrogeno resta stabile, il comfort è rispettato e il target di ricarica PEV è sempre soddisfatto.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EEE2-1755-99FB-5EB1-B870D2196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EB060-0C54-B33A-134B-720403BFB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7B5BF-1106-9F11-6F1F-26EBAF3E034C}"/>
              </a:ext>
            </a:extLst>
          </p:cNvPr>
          <p:cNvSpPr>
            <a:spLocks noGrp="1"/>
          </p:cNvSpPr>
          <p:nvPr>
            <p:ph type="body" idx="1"/>
          </p:nvPr>
        </p:nvSpPr>
        <p:spPr/>
        <p:txBody>
          <a:bodyPr/>
          <a:lstStyle/>
          <a:p>
            <a:r>
              <a:rPr lang="en-US" dirty="0"/>
              <a:t>Questa slide verifica gli stati e i vincoli. La batteria resta nei limiti, il sistema a idrogeno resta stabile, il comfort è rispettato e il target di ricarica PEV è sempre soddisfatto.</a:t>
            </a:r>
          </a:p>
        </p:txBody>
      </p:sp>
      <p:sp>
        <p:nvSpPr>
          <p:cNvPr id="4" name="Slide Number Placeholder 3">
            <a:extLst>
              <a:ext uri="{FF2B5EF4-FFF2-40B4-BE49-F238E27FC236}">
                <a16:creationId xmlns:a16="http://schemas.microsoft.com/office/drawing/2014/main" id="{CEF5CC95-26C3-3DAF-B220-B9AACBB787C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487288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costo totale è composto principalmente da costo di importazione dalla rete e costo combustibile del generatore, mentre l’export produce ricavo. Nel nostro caso l’export è molto limitato, quindi non incide quasi sul risultato economico.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898D5-8A02-D46F-51BA-01EAC15FF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BD741-E23F-E620-D8AA-2BB57FCDE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0C136-EFCE-D225-BF3C-B876AF20BCE3}"/>
              </a:ext>
            </a:extLst>
          </p:cNvPr>
          <p:cNvSpPr>
            <a:spLocks noGrp="1"/>
          </p:cNvSpPr>
          <p:nvPr>
            <p:ph type="body" idx="1"/>
          </p:nvPr>
        </p:nvSpPr>
        <p:spPr/>
        <p:txBody>
          <a:bodyPr/>
          <a:lstStyle/>
          <a:p>
            <a:r>
              <a:rPr lang="en-US" dirty="0"/>
              <a:t>Il costo totale è composto principalmente da costo di importazione dalla rete e costo combustibile del generatore, mentre l’export produce ricavo. Nel nostro caso l’export è molto limitato, quindi non incide quasi sul risultato economico.</a:t>
            </a:r>
          </a:p>
        </p:txBody>
      </p:sp>
      <p:sp>
        <p:nvSpPr>
          <p:cNvPr id="4" name="Slide Number Placeholder 3">
            <a:extLst>
              <a:ext uri="{FF2B5EF4-FFF2-40B4-BE49-F238E27FC236}">
                <a16:creationId xmlns:a16="http://schemas.microsoft.com/office/drawing/2014/main" id="{C574AD6C-AFD2-8024-1918-1AF23605CC5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38952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tabella riassume i KPI. I messaggi principali sono: il modello rispetta comfort e ricarica PEV, il prezzo del combustibile modifica il ruolo del DG e l’MPC produce una strategia dinamica e coerente.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conclusione, il progetto mostra come uno smart district possa essere formulato come MILP e risolto con Pyomo dentro una logica MPC. Il controllore risponde agli incentivi economici: usa il DG quando il combustibile è economico e preferisce la rete quando il combustibile è costoso, mantenendo comfort e target PEV.</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65392"/>
            <a:ext cx="12191695" cy="0"/>
          </a:xfrm>
          <a:prstGeom prst="line">
            <a:avLst/>
          </a:prstGeom>
          <a:noFill/>
          <a:ln w="12700">
            <a:solidFill>
              <a:srgbClr val="E6EEF8"/>
            </a:solidFill>
            <a:prstDash val="solid"/>
          </a:ln>
        </p:spPr>
        <p:txBody>
          <a:bodyPr/>
          <a:lstStyle/>
          <a:p>
            <a:endParaRPr lang="it-IT"/>
          </a:p>
        </p:txBody>
      </p:sp>
      <p:sp>
        <p:nvSpPr>
          <p:cNvPr id="3" name="Text 1"/>
          <p:cNvSpPr/>
          <p:nvPr/>
        </p:nvSpPr>
        <p:spPr>
          <a:xfrm>
            <a:off x="502920" y="6601968"/>
            <a:ext cx="3657600" cy="137160"/>
          </a:xfrm>
          <a:prstGeom prst="rect">
            <a:avLst/>
          </a:prstGeom>
          <a:noFill/>
          <a:ln/>
        </p:spPr>
        <p:txBody>
          <a:bodyPr wrap="square" rtlCol="0" anchor="ctr"/>
          <a:lstStyle/>
          <a:p>
            <a:pPr marL="0" indent="0">
              <a:buNone/>
            </a:pPr>
            <a:r>
              <a:rPr lang="en-US" sz="650" dirty="0">
                <a:solidFill>
                  <a:srgbClr val="748296"/>
                </a:solidFill>
                <a:latin typeface="Aptos" pitchFamily="34" charset="0"/>
                <a:ea typeface="Aptos" pitchFamily="34" charset="-122"/>
                <a:cs typeface="Aptos" pitchFamily="34" charset="-120"/>
              </a:rPr>
              <a:t>Smart District MILP-MPC</a:t>
            </a:r>
            <a:endParaRPr lang="en-US" sz="650" dirty="0"/>
          </a:p>
        </p:txBody>
      </p:sp>
      <p:sp>
        <p:nvSpPr>
          <p:cNvPr id="4" name="Text 2"/>
          <p:cNvSpPr/>
          <p:nvPr/>
        </p:nvSpPr>
        <p:spPr>
          <a:xfrm>
            <a:off x="7863840" y="6601968"/>
            <a:ext cx="3840480" cy="137160"/>
          </a:xfrm>
          <a:prstGeom prst="rect">
            <a:avLst/>
          </a:prstGeom>
          <a:noFill/>
          <a:ln/>
        </p:spPr>
        <p:txBody>
          <a:bodyPr wrap="square" rtlCol="0" anchor="ctr"/>
          <a:lstStyle/>
          <a:p>
            <a:pPr marL="0" indent="0" algn="r">
              <a:buNone/>
            </a:pPr>
            <a:r>
              <a:rPr lang="en-US" sz="650" dirty="0">
                <a:solidFill>
                  <a:srgbClr val="748296"/>
                </a:solidFill>
                <a:latin typeface="Aptos" pitchFamily="34" charset="0"/>
                <a:ea typeface="Aptos" pitchFamily="34" charset="-122"/>
                <a:cs typeface="Aptos" pitchFamily="34" charset="-120"/>
              </a:rPr>
              <a:t>Ottimizzazione della gestione energetica</a:t>
            </a:r>
            <a:endParaRPr lang="en-US" sz="6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3.xml"/><Relationship Id="rId16"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customXml" Target="../ink/ink1.xm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it-IT"/>
          </a:p>
        </p:txBody>
      </p:sp>
      <p:sp>
        <p:nvSpPr>
          <p:cNvPr id="3" name="Shape 1"/>
          <p:cNvSpPr/>
          <p:nvPr/>
        </p:nvSpPr>
        <p:spPr>
          <a:xfrm>
            <a:off x="0" y="0"/>
            <a:ext cx="12191695" cy="1097280"/>
          </a:xfrm>
          <a:prstGeom prst="rect">
            <a:avLst/>
          </a:prstGeom>
          <a:solidFill>
            <a:srgbClr val="FFFFFF"/>
          </a:solidFill>
          <a:ln w="12700">
            <a:solidFill>
              <a:srgbClr val="FFFFFF"/>
            </a:solidFill>
            <a:prstDash val="solid"/>
          </a:ln>
        </p:spPr>
        <p:txBody>
          <a:bodyPr/>
          <a:lstStyle/>
          <a:p>
            <a:endParaRPr lang="it-IT"/>
          </a:p>
        </p:txBody>
      </p:sp>
      <p:sp>
        <p:nvSpPr>
          <p:cNvPr id="4" name="Text 2"/>
          <p:cNvSpPr/>
          <p:nvPr/>
        </p:nvSpPr>
        <p:spPr>
          <a:xfrm>
            <a:off x="731520" y="1417320"/>
            <a:ext cx="10789920" cy="548640"/>
          </a:xfrm>
          <a:prstGeom prst="rect">
            <a:avLst/>
          </a:prstGeom>
          <a:noFill/>
          <a:ln/>
        </p:spPr>
        <p:txBody>
          <a:bodyPr wrap="square" lIns="0" tIns="0" rIns="0" bIns="0" rtlCol="0" anchor="ctr"/>
          <a:lstStyle/>
          <a:p>
            <a:pPr marL="0" indent="0">
              <a:buNone/>
            </a:pPr>
            <a:r>
              <a:rPr lang="en-US" sz="3400" b="1" dirty="0">
                <a:solidFill>
                  <a:srgbClr val="0F172A"/>
                </a:solidFill>
              </a:rPr>
              <a:t>Gestione energetica di uno Smart District</a:t>
            </a:r>
            <a:endParaRPr lang="en-US" sz="3400" dirty="0"/>
          </a:p>
        </p:txBody>
      </p:sp>
      <p:sp>
        <p:nvSpPr>
          <p:cNvPr id="5" name="Text 3"/>
          <p:cNvSpPr/>
          <p:nvPr/>
        </p:nvSpPr>
        <p:spPr>
          <a:xfrm>
            <a:off x="749808" y="2039112"/>
            <a:ext cx="10058400" cy="320040"/>
          </a:xfrm>
          <a:prstGeom prst="rect">
            <a:avLst/>
          </a:prstGeom>
          <a:noFill/>
          <a:ln/>
        </p:spPr>
        <p:txBody>
          <a:bodyPr wrap="square" lIns="0" tIns="0" rIns="0" bIns="0" rtlCol="0" anchor="ctr"/>
          <a:lstStyle/>
          <a:p>
            <a:pPr marL="0" indent="0">
              <a:buNone/>
            </a:pPr>
            <a:r>
              <a:rPr lang="en-US" sz="1700" dirty="0">
                <a:solidFill>
                  <a:srgbClr val="5B677A"/>
                </a:solidFill>
              </a:rPr>
              <a:t>Ottimizzazione MILP con controllo MPC a orizzonte mobile</a:t>
            </a:r>
            <a:endParaRPr lang="en-US" sz="1700" dirty="0"/>
          </a:p>
        </p:txBody>
      </p:sp>
      <p:sp>
        <p:nvSpPr>
          <p:cNvPr id="6" name="Shape 4"/>
          <p:cNvSpPr/>
          <p:nvPr/>
        </p:nvSpPr>
        <p:spPr>
          <a:xfrm>
            <a:off x="777240" y="2743200"/>
            <a:ext cx="1143000" cy="384048"/>
          </a:xfrm>
          <a:prstGeom prst="roundRect">
            <a:avLst>
              <a:gd name="adj" fmla="val 19048"/>
            </a:avLst>
          </a:prstGeom>
          <a:solidFill>
            <a:srgbClr val="2563EB"/>
          </a:solidFill>
          <a:ln w="12700">
            <a:solidFill>
              <a:srgbClr val="2563EB"/>
            </a:solidFill>
            <a:prstDash val="solid"/>
          </a:ln>
        </p:spPr>
        <p:txBody>
          <a:bodyPr/>
          <a:lstStyle/>
          <a:p>
            <a:endParaRPr lang="it-IT"/>
          </a:p>
        </p:txBody>
      </p:sp>
      <p:sp>
        <p:nvSpPr>
          <p:cNvPr id="7" name="Text 5"/>
          <p:cNvSpPr/>
          <p:nvPr/>
        </p:nvSpPr>
        <p:spPr>
          <a:xfrm>
            <a:off x="777240" y="2825496"/>
            <a:ext cx="1143000" cy="164592"/>
          </a:xfrm>
          <a:prstGeom prst="rect">
            <a:avLst/>
          </a:prstGeom>
          <a:noFill/>
          <a:ln/>
        </p:spPr>
        <p:txBody>
          <a:bodyPr wrap="square" lIns="0" tIns="0" rIns="0" bIns="0" rtlCol="0" anchor="ctr"/>
          <a:lstStyle/>
          <a:p>
            <a:pPr marL="0" indent="0" algn="ctr">
              <a:buNone/>
            </a:pPr>
            <a:r>
              <a:rPr lang="en-US" sz="900" b="1" dirty="0">
                <a:solidFill>
                  <a:srgbClr val="FFFFFF"/>
                </a:solidFill>
              </a:rPr>
              <a:t>Pyomo</a:t>
            </a:r>
            <a:endParaRPr lang="en-US" sz="900" dirty="0"/>
          </a:p>
        </p:txBody>
      </p:sp>
      <p:sp>
        <p:nvSpPr>
          <p:cNvPr id="8" name="Shape 6"/>
          <p:cNvSpPr/>
          <p:nvPr/>
        </p:nvSpPr>
        <p:spPr>
          <a:xfrm>
            <a:off x="2057400" y="2743200"/>
            <a:ext cx="1143000" cy="384048"/>
          </a:xfrm>
          <a:prstGeom prst="roundRect">
            <a:avLst>
              <a:gd name="adj" fmla="val 19048"/>
            </a:avLst>
          </a:prstGeom>
          <a:solidFill>
            <a:srgbClr val="7C3AED"/>
          </a:solidFill>
          <a:ln w="12700">
            <a:solidFill>
              <a:srgbClr val="7C3AED"/>
            </a:solidFill>
            <a:prstDash val="solid"/>
          </a:ln>
        </p:spPr>
        <p:txBody>
          <a:bodyPr/>
          <a:lstStyle/>
          <a:p>
            <a:endParaRPr lang="it-IT"/>
          </a:p>
        </p:txBody>
      </p:sp>
      <p:sp>
        <p:nvSpPr>
          <p:cNvPr id="9" name="Text 7"/>
          <p:cNvSpPr/>
          <p:nvPr/>
        </p:nvSpPr>
        <p:spPr>
          <a:xfrm>
            <a:off x="2057400" y="2825496"/>
            <a:ext cx="1143000" cy="164592"/>
          </a:xfrm>
          <a:prstGeom prst="rect">
            <a:avLst/>
          </a:prstGeom>
          <a:noFill/>
          <a:ln/>
        </p:spPr>
        <p:txBody>
          <a:bodyPr wrap="square" lIns="0" tIns="0" rIns="0" bIns="0" rtlCol="0" anchor="ctr"/>
          <a:lstStyle/>
          <a:p>
            <a:pPr marL="0" indent="0" algn="ctr">
              <a:buNone/>
            </a:pPr>
            <a:r>
              <a:rPr lang="en-US" sz="900" b="1" dirty="0">
                <a:solidFill>
                  <a:srgbClr val="FFFFFF"/>
                </a:solidFill>
              </a:rPr>
              <a:t>MILP</a:t>
            </a:r>
            <a:endParaRPr lang="en-US" sz="900" dirty="0"/>
          </a:p>
        </p:txBody>
      </p:sp>
      <p:sp>
        <p:nvSpPr>
          <p:cNvPr id="10" name="Shape 8"/>
          <p:cNvSpPr/>
          <p:nvPr/>
        </p:nvSpPr>
        <p:spPr>
          <a:xfrm>
            <a:off x="3337560" y="2743200"/>
            <a:ext cx="1143000" cy="384048"/>
          </a:xfrm>
          <a:prstGeom prst="roundRect">
            <a:avLst>
              <a:gd name="adj" fmla="val 19048"/>
            </a:avLst>
          </a:prstGeom>
          <a:solidFill>
            <a:srgbClr val="16A34A"/>
          </a:solidFill>
          <a:ln w="12700">
            <a:solidFill>
              <a:srgbClr val="16A34A"/>
            </a:solidFill>
            <a:prstDash val="solid"/>
          </a:ln>
        </p:spPr>
        <p:txBody>
          <a:bodyPr/>
          <a:lstStyle/>
          <a:p>
            <a:endParaRPr lang="it-IT"/>
          </a:p>
        </p:txBody>
      </p:sp>
      <p:sp>
        <p:nvSpPr>
          <p:cNvPr id="11" name="Text 9"/>
          <p:cNvSpPr/>
          <p:nvPr/>
        </p:nvSpPr>
        <p:spPr>
          <a:xfrm>
            <a:off x="3337560" y="2825496"/>
            <a:ext cx="1143000" cy="164592"/>
          </a:xfrm>
          <a:prstGeom prst="rect">
            <a:avLst/>
          </a:prstGeom>
          <a:noFill/>
          <a:ln/>
        </p:spPr>
        <p:txBody>
          <a:bodyPr wrap="square" lIns="0" tIns="0" rIns="0" bIns="0" rtlCol="0" anchor="ctr"/>
          <a:lstStyle/>
          <a:p>
            <a:pPr marL="0" indent="0" algn="ctr">
              <a:buNone/>
            </a:pPr>
            <a:r>
              <a:rPr lang="en-US" sz="900" b="1" dirty="0">
                <a:solidFill>
                  <a:srgbClr val="FFFFFF"/>
                </a:solidFill>
              </a:rPr>
              <a:t>MPC</a:t>
            </a:r>
            <a:endParaRPr lang="en-US" sz="900" dirty="0"/>
          </a:p>
        </p:txBody>
      </p:sp>
      <p:sp>
        <p:nvSpPr>
          <p:cNvPr id="12" name="Shape 10"/>
          <p:cNvSpPr/>
          <p:nvPr/>
        </p:nvSpPr>
        <p:spPr>
          <a:xfrm>
            <a:off x="4617720" y="2743200"/>
            <a:ext cx="1737360" cy="384048"/>
          </a:xfrm>
          <a:prstGeom prst="roundRect">
            <a:avLst>
              <a:gd name="adj" fmla="val 19048"/>
            </a:avLst>
          </a:prstGeom>
          <a:solidFill>
            <a:srgbClr val="F97316"/>
          </a:solidFill>
          <a:ln w="12700">
            <a:solidFill>
              <a:srgbClr val="F97316"/>
            </a:solidFill>
            <a:prstDash val="solid"/>
          </a:ln>
        </p:spPr>
        <p:txBody>
          <a:bodyPr/>
          <a:lstStyle/>
          <a:p>
            <a:endParaRPr lang="it-IT"/>
          </a:p>
        </p:txBody>
      </p:sp>
      <p:sp>
        <p:nvSpPr>
          <p:cNvPr id="13" name="Text 11"/>
          <p:cNvSpPr/>
          <p:nvPr/>
        </p:nvSpPr>
        <p:spPr>
          <a:xfrm>
            <a:off x="4617720" y="2825496"/>
            <a:ext cx="1737360" cy="164592"/>
          </a:xfrm>
          <a:prstGeom prst="rect">
            <a:avLst/>
          </a:prstGeom>
          <a:noFill/>
          <a:ln/>
        </p:spPr>
        <p:txBody>
          <a:bodyPr wrap="square" lIns="0" tIns="0" rIns="0" bIns="0" rtlCol="0" anchor="ctr"/>
          <a:lstStyle/>
          <a:p>
            <a:pPr marL="0" indent="0" algn="ctr">
              <a:buNone/>
            </a:pPr>
            <a:r>
              <a:rPr lang="en-US" sz="900" b="1" dirty="0">
                <a:solidFill>
                  <a:srgbClr val="FFFFFF"/>
                </a:solidFill>
              </a:rPr>
              <a:t>Scenari 48 h</a:t>
            </a:r>
            <a:endParaRPr lang="en-US" sz="900" dirty="0"/>
          </a:p>
        </p:txBody>
      </p:sp>
      <p:sp>
        <p:nvSpPr>
          <p:cNvPr id="14" name="Shape 12"/>
          <p:cNvSpPr/>
          <p:nvPr/>
        </p:nvSpPr>
        <p:spPr>
          <a:xfrm>
            <a:off x="777240" y="3703320"/>
            <a:ext cx="4937760" cy="1325880"/>
          </a:xfrm>
          <a:prstGeom prst="roundRect">
            <a:avLst>
              <a:gd name="adj" fmla="val 551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5" name="Shape 13"/>
          <p:cNvSpPr/>
          <p:nvPr/>
        </p:nvSpPr>
        <p:spPr>
          <a:xfrm>
            <a:off x="777240" y="3703320"/>
            <a:ext cx="64008" cy="1325880"/>
          </a:xfrm>
          <a:prstGeom prst="rect">
            <a:avLst/>
          </a:prstGeom>
          <a:solidFill>
            <a:srgbClr val="2563EB"/>
          </a:solidFill>
          <a:ln w="12700">
            <a:solidFill>
              <a:srgbClr val="2563EB"/>
            </a:solidFill>
            <a:prstDash val="solid"/>
          </a:ln>
        </p:spPr>
        <p:txBody>
          <a:bodyPr/>
          <a:lstStyle/>
          <a:p>
            <a:endParaRPr lang="it-IT"/>
          </a:p>
        </p:txBody>
      </p:sp>
      <p:sp>
        <p:nvSpPr>
          <p:cNvPr id="16" name="Text 14"/>
          <p:cNvSpPr/>
          <p:nvPr/>
        </p:nvSpPr>
        <p:spPr>
          <a:xfrm>
            <a:off x="1005840" y="3886200"/>
            <a:ext cx="4526280" cy="274320"/>
          </a:xfrm>
          <a:prstGeom prst="rect">
            <a:avLst/>
          </a:prstGeom>
          <a:noFill/>
          <a:ln/>
        </p:spPr>
        <p:txBody>
          <a:bodyPr wrap="square" lIns="0" tIns="0" rIns="0" bIns="0" rtlCol="0" anchor="ctr"/>
          <a:lstStyle/>
          <a:p>
            <a:pPr marL="0" indent="0">
              <a:buNone/>
            </a:pPr>
            <a:r>
              <a:rPr lang="en-US" sz="1500" b="1" dirty="0">
                <a:solidFill>
                  <a:srgbClr val="0F172A"/>
                </a:solidFill>
              </a:rPr>
              <a:t>Obiettivo</a:t>
            </a:r>
            <a:endParaRPr lang="en-US" sz="1500" dirty="0"/>
          </a:p>
        </p:txBody>
      </p:sp>
      <p:sp>
        <p:nvSpPr>
          <p:cNvPr id="17" name="Text 15"/>
          <p:cNvSpPr/>
          <p:nvPr/>
        </p:nvSpPr>
        <p:spPr>
          <a:xfrm>
            <a:off x="1005840" y="4361688"/>
            <a:ext cx="4526280" cy="548640"/>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Minimizzare il costo operativo rispettando bilancio di potenza, limiti degli accumuli, comfort termico e ricarica PEV.</a:t>
            </a:r>
            <a:endParaRPr lang="en-US" sz="1200" dirty="0"/>
          </a:p>
        </p:txBody>
      </p:sp>
      <p:sp>
        <p:nvSpPr>
          <p:cNvPr id="18" name="Shape 16"/>
          <p:cNvSpPr/>
          <p:nvPr/>
        </p:nvSpPr>
        <p:spPr>
          <a:xfrm>
            <a:off x="6172200" y="3703320"/>
            <a:ext cx="4892040" cy="1325880"/>
          </a:xfrm>
          <a:prstGeom prst="roundRect">
            <a:avLst>
              <a:gd name="adj" fmla="val 551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9" name="Shape 17"/>
          <p:cNvSpPr/>
          <p:nvPr/>
        </p:nvSpPr>
        <p:spPr>
          <a:xfrm>
            <a:off x="6172200" y="3703320"/>
            <a:ext cx="64008" cy="1325880"/>
          </a:xfrm>
          <a:prstGeom prst="rect">
            <a:avLst/>
          </a:prstGeom>
          <a:solidFill>
            <a:srgbClr val="F97316"/>
          </a:solidFill>
          <a:ln w="12700">
            <a:solidFill>
              <a:srgbClr val="F97316"/>
            </a:solidFill>
            <a:prstDash val="solid"/>
          </a:ln>
        </p:spPr>
        <p:txBody>
          <a:bodyPr/>
          <a:lstStyle/>
          <a:p>
            <a:endParaRPr lang="it-IT"/>
          </a:p>
        </p:txBody>
      </p:sp>
      <p:sp>
        <p:nvSpPr>
          <p:cNvPr id="20" name="Text 18"/>
          <p:cNvSpPr/>
          <p:nvPr/>
        </p:nvSpPr>
        <p:spPr>
          <a:xfrm>
            <a:off x="6400800" y="3886200"/>
            <a:ext cx="4480560" cy="274320"/>
          </a:xfrm>
          <a:prstGeom prst="rect">
            <a:avLst/>
          </a:prstGeom>
          <a:noFill/>
          <a:ln/>
        </p:spPr>
        <p:txBody>
          <a:bodyPr wrap="square" lIns="0" tIns="0" rIns="0" bIns="0" rtlCol="0" anchor="ctr"/>
          <a:lstStyle/>
          <a:p>
            <a:pPr marL="0" indent="0">
              <a:buNone/>
            </a:pPr>
            <a:r>
              <a:rPr lang="en-US" sz="1500" b="1" dirty="0">
                <a:solidFill>
                  <a:srgbClr val="0F172A"/>
                </a:solidFill>
              </a:rPr>
              <a:t>Domanda chiave</a:t>
            </a:r>
            <a:endParaRPr lang="en-US" sz="1500" dirty="0"/>
          </a:p>
        </p:txBody>
      </p:sp>
      <p:sp>
        <p:nvSpPr>
          <p:cNvPr id="21" name="Text 19"/>
          <p:cNvSpPr/>
          <p:nvPr/>
        </p:nvSpPr>
        <p:spPr>
          <a:xfrm>
            <a:off x="6400800" y="4361688"/>
            <a:ext cx="4480560" cy="548640"/>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Come cambia la strategia ottima al variare della stagione e del costo del combustibile?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Architettura della microgrid</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Un bus elettrico coordina sorgenti, accumuli e carichi</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5257800" y="2743200"/>
            <a:ext cx="1691640" cy="914400"/>
          </a:xfrm>
          <a:prstGeom prst="roundRect">
            <a:avLst>
              <a:gd name="adj" fmla="val 7000"/>
            </a:avLst>
          </a:prstGeom>
          <a:solidFill>
            <a:srgbClr val="2563EB"/>
          </a:solidFill>
          <a:ln w="12700">
            <a:solidFill>
              <a:srgbClr val="2563EB"/>
            </a:solidFill>
            <a:prstDash val="solid"/>
          </a:ln>
        </p:spPr>
        <p:txBody>
          <a:bodyPr/>
          <a:lstStyle/>
          <a:p>
            <a:endParaRPr lang="it-IT"/>
          </a:p>
        </p:txBody>
      </p:sp>
      <p:sp>
        <p:nvSpPr>
          <p:cNvPr id="6" name="Text 4"/>
          <p:cNvSpPr/>
          <p:nvPr/>
        </p:nvSpPr>
        <p:spPr>
          <a:xfrm>
            <a:off x="5349240" y="2962656"/>
            <a:ext cx="1508760" cy="457200"/>
          </a:xfrm>
          <a:prstGeom prst="rect">
            <a:avLst/>
          </a:prstGeom>
          <a:noFill/>
          <a:ln/>
        </p:spPr>
        <p:txBody>
          <a:bodyPr wrap="square" lIns="0" tIns="0" rIns="0" bIns="0" rtlCol="0" anchor="ctr"/>
          <a:lstStyle/>
          <a:p>
            <a:pPr marL="0" indent="0" algn="ctr">
              <a:buNone/>
            </a:pPr>
            <a:r>
              <a:rPr lang="en-US" sz="1600" b="1" dirty="0">
                <a:solidFill>
                  <a:srgbClr val="FFFFFF"/>
                </a:solidFill>
              </a:rPr>
              <a:t>Bus</a:t>
            </a:r>
            <a:endParaRPr lang="en-US" sz="1600" dirty="0"/>
          </a:p>
          <a:p>
            <a:pPr marL="0" indent="0" algn="ctr">
              <a:buNone/>
            </a:pPr>
            <a:r>
              <a:rPr lang="en-US" sz="1600" b="1" dirty="0">
                <a:solidFill>
                  <a:srgbClr val="FFFFFF"/>
                </a:solidFill>
              </a:rPr>
              <a:t>elettrico</a:t>
            </a:r>
            <a:endParaRPr lang="en-US" sz="1600" dirty="0"/>
          </a:p>
        </p:txBody>
      </p:sp>
      <p:sp>
        <p:nvSpPr>
          <p:cNvPr id="7" name="Shape 5"/>
          <p:cNvSpPr/>
          <p:nvPr/>
        </p:nvSpPr>
        <p:spPr>
          <a:xfrm>
            <a:off x="822960" y="1234440"/>
            <a:ext cx="2148840" cy="822960"/>
          </a:xfrm>
          <a:prstGeom prst="roundRect">
            <a:avLst>
              <a:gd name="adj" fmla="val 6667"/>
            </a:avLst>
          </a:prstGeom>
          <a:solidFill>
            <a:srgbClr val="F8FAFC"/>
          </a:solidFill>
          <a:ln w="17780">
            <a:solidFill>
              <a:srgbClr val="16A34A"/>
            </a:solidFill>
            <a:prstDash val="solid"/>
          </a:ln>
        </p:spPr>
        <p:txBody>
          <a:bodyPr/>
          <a:lstStyle/>
          <a:p>
            <a:endParaRPr lang="it-IT"/>
          </a:p>
        </p:txBody>
      </p:sp>
      <p:sp>
        <p:nvSpPr>
          <p:cNvPr id="8" name="Text 6"/>
          <p:cNvSpPr/>
          <p:nvPr/>
        </p:nvSpPr>
        <p:spPr>
          <a:xfrm>
            <a:off x="896112" y="138988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Fotovoltaico</a:t>
            </a:r>
            <a:endParaRPr lang="en-US" sz="1200" dirty="0"/>
          </a:p>
          <a:p>
            <a:pPr marL="0" indent="0" algn="ctr">
              <a:buNone/>
            </a:pPr>
            <a:r>
              <a:rPr lang="en-US" sz="1200" b="1" dirty="0">
                <a:solidFill>
                  <a:srgbClr val="0F172A"/>
                </a:solidFill>
              </a:rPr>
              <a:t>previsione + curtailment</a:t>
            </a:r>
            <a:endParaRPr lang="en-US" sz="1200" dirty="0"/>
          </a:p>
        </p:txBody>
      </p:sp>
      <p:sp>
        <p:nvSpPr>
          <p:cNvPr id="9" name="Shape 7"/>
          <p:cNvSpPr/>
          <p:nvPr/>
        </p:nvSpPr>
        <p:spPr>
          <a:xfrm>
            <a:off x="2971800" y="1645920"/>
            <a:ext cx="2286000" cy="1554480"/>
          </a:xfrm>
          <a:prstGeom prst="line">
            <a:avLst/>
          </a:prstGeom>
          <a:noFill/>
          <a:ln w="22860">
            <a:solidFill>
              <a:srgbClr val="16A34A"/>
            </a:solidFill>
            <a:prstDash val="solid"/>
            <a:headEnd type="none"/>
            <a:tailEnd type="triangle"/>
          </a:ln>
        </p:spPr>
        <p:txBody>
          <a:bodyPr/>
          <a:lstStyle/>
          <a:p>
            <a:endParaRPr lang="it-IT"/>
          </a:p>
        </p:txBody>
      </p:sp>
      <p:sp>
        <p:nvSpPr>
          <p:cNvPr id="10" name="Shape 8"/>
          <p:cNvSpPr/>
          <p:nvPr/>
        </p:nvSpPr>
        <p:spPr>
          <a:xfrm>
            <a:off x="822960" y="2743200"/>
            <a:ext cx="2148840" cy="822960"/>
          </a:xfrm>
          <a:prstGeom prst="roundRect">
            <a:avLst>
              <a:gd name="adj" fmla="val 6667"/>
            </a:avLst>
          </a:prstGeom>
          <a:solidFill>
            <a:srgbClr val="F8FAFC"/>
          </a:solidFill>
          <a:ln w="17780">
            <a:solidFill>
              <a:srgbClr val="2563EB"/>
            </a:solidFill>
            <a:prstDash val="solid"/>
          </a:ln>
        </p:spPr>
        <p:txBody>
          <a:bodyPr/>
          <a:lstStyle/>
          <a:p>
            <a:endParaRPr lang="it-IT"/>
          </a:p>
        </p:txBody>
      </p:sp>
      <p:sp>
        <p:nvSpPr>
          <p:cNvPr id="11" name="Text 9"/>
          <p:cNvSpPr/>
          <p:nvPr/>
        </p:nvSpPr>
        <p:spPr>
          <a:xfrm>
            <a:off x="896112" y="289864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Rete</a:t>
            </a:r>
            <a:endParaRPr lang="en-US" sz="1200" dirty="0"/>
          </a:p>
          <a:p>
            <a:pPr marL="0" indent="0" algn="ctr">
              <a:buNone/>
            </a:pPr>
            <a:r>
              <a:rPr lang="en-US" sz="1200" b="1" dirty="0">
                <a:solidFill>
                  <a:srgbClr val="0F172A"/>
                </a:solidFill>
              </a:rPr>
              <a:t>import / export</a:t>
            </a:r>
            <a:endParaRPr lang="en-US" sz="1200" dirty="0"/>
          </a:p>
        </p:txBody>
      </p:sp>
      <p:sp>
        <p:nvSpPr>
          <p:cNvPr id="12" name="Shape 10"/>
          <p:cNvSpPr/>
          <p:nvPr/>
        </p:nvSpPr>
        <p:spPr>
          <a:xfrm>
            <a:off x="2971800" y="3154680"/>
            <a:ext cx="2286000" cy="45720"/>
          </a:xfrm>
          <a:prstGeom prst="line">
            <a:avLst/>
          </a:prstGeom>
          <a:noFill/>
          <a:ln w="22860">
            <a:solidFill>
              <a:srgbClr val="2563EB"/>
            </a:solidFill>
            <a:prstDash val="solid"/>
            <a:headEnd type="none"/>
            <a:tailEnd type="triangle"/>
          </a:ln>
        </p:spPr>
        <p:txBody>
          <a:bodyPr/>
          <a:lstStyle/>
          <a:p>
            <a:endParaRPr lang="it-IT"/>
          </a:p>
        </p:txBody>
      </p:sp>
      <p:sp>
        <p:nvSpPr>
          <p:cNvPr id="13" name="Shape 11"/>
          <p:cNvSpPr/>
          <p:nvPr/>
        </p:nvSpPr>
        <p:spPr>
          <a:xfrm>
            <a:off x="822960" y="4251960"/>
            <a:ext cx="2148840" cy="822960"/>
          </a:xfrm>
          <a:prstGeom prst="roundRect">
            <a:avLst>
              <a:gd name="adj" fmla="val 6667"/>
            </a:avLst>
          </a:prstGeom>
          <a:solidFill>
            <a:srgbClr val="F8FAFC"/>
          </a:solidFill>
          <a:ln w="17780">
            <a:solidFill>
              <a:srgbClr val="F97316"/>
            </a:solidFill>
            <a:prstDash val="solid"/>
          </a:ln>
        </p:spPr>
        <p:txBody>
          <a:bodyPr/>
          <a:lstStyle/>
          <a:p>
            <a:endParaRPr lang="it-IT"/>
          </a:p>
        </p:txBody>
      </p:sp>
      <p:sp>
        <p:nvSpPr>
          <p:cNvPr id="14" name="Text 12"/>
          <p:cNvSpPr/>
          <p:nvPr/>
        </p:nvSpPr>
        <p:spPr>
          <a:xfrm>
            <a:off x="896112" y="440740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Generatore</a:t>
            </a:r>
            <a:endParaRPr lang="en-US" sz="1200" dirty="0"/>
          </a:p>
          <a:p>
            <a:pPr marL="0" indent="0" algn="ctr">
              <a:buNone/>
            </a:pPr>
            <a:r>
              <a:rPr lang="en-US" sz="1200" b="1" dirty="0">
                <a:solidFill>
                  <a:srgbClr val="0F172A"/>
                </a:solidFill>
              </a:rPr>
              <a:t>costo combustibile</a:t>
            </a:r>
            <a:endParaRPr lang="en-US" sz="1200" dirty="0"/>
          </a:p>
        </p:txBody>
      </p:sp>
      <p:sp>
        <p:nvSpPr>
          <p:cNvPr id="15" name="Shape 13"/>
          <p:cNvSpPr/>
          <p:nvPr/>
        </p:nvSpPr>
        <p:spPr>
          <a:xfrm>
            <a:off x="2971800" y="4663440"/>
            <a:ext cx="2286000" cy="0"/>
          </a:xfrm>
          <a:prstGeom prst="line">
            <a:avLst/>
          </a:prstGeom>
          <a:noFill/>
          <a:ln w="22860">
            <a:solidFill>
              <a:srgbClr val="F97316"/>
            </a:solidFill>
            <a:prstDash val="solid"/>
            <a:headEnd type="none"/>
            <a:tailEnd type="triangle"/>
          </a:ln>
        </p:spPr>
        <p:txBody>
          <a:bodyPr/>
          <a:lstStyle/>
          <a:p>
            <a:endParaRPr lang="it-IT"/>
          </a:p>
        </p:txBody>
      </p:sp>
      <p:sp>
        <p:nvSpPr>
          <p:cNvPr id="16" name="Shape 14"/>
          <p:cNvSpPr/>
          <p:nvPr/>
        </p:nvSpPr>
        <p:spPr>
          <a:xfrm>
            <a:off x="3657600" y="1234440"/>
            <a:ext cx="2148840" cy="822960"/>
          </a:xfrm>
          <a:prstGeom prst="roundRect">
            <a:avLst>
              <a:gd name="adj" fmla="val 6667"/>
            </a:avLst>
          </a:prstGeom>
          <a:solidFill>
            <a:srgbClr val="F8FAFC"/>
          </a:solidFill>
          <a:ln w="17780">
            <a:solidFill>
              <a:srgbClr val="7C3AED"/>
            </a:solidFill>
            <a:prstDash val="solid"/>
          </a:ln>
        </p:spPr>
        <p:txBody>
          <a:bodyPr/>
          <a:lstStyle/>
          <a:p>
            <a:endParaRPr lang="it-IT"/>
          </a:p>
        </p:txBody>
      </p:sp>
      <p:sp>
        <p:nvSpPr>
          <p:cNvPr id="17" name="Text 15"/>
          <p:cNvSpPr/>
          <p:nvPr/>
        </p:nvSpPr>
        <p:spPr>
          <a:xfrm>
            <a:off x="3730752" y="138988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Batteria</a:t>
            </a:r>
            <a:endParaRPr lang="en-US" sz="1200" dirty="0"/>
          </a:p>
          <a:p>
            <a:pPr marL="0" indent="0" algn="ctr">
              <a:buNone/>
            </a:pPr>
            <a:r>
              <a:rPr lang="en-US" sz="1200" b="1" dirty="0">
                <a:solidFill>
                  <a:srgbClr val="0F172A"/>
                </a:solidFill>
              </a:rPr>
              <a:t>carica / scarica</a:t>
            </a:r>
            <a:endParaRPr lang="en-US" sz="1200" dirty="0"/>
          </a:p>
          <a:p>
            <a:pPr marL="0" indent="0" algn="ctr">
              <a:buNone/>
            </a:pPr>
            <a:r>
              <a:rPr lang="en-US" sz="1200" b="1" dirty="0">
                <a:solidFill>
                  <a:srgbClr val="0F172A"/>
                </a:solidFill>
              </a:rPr>
              <a:t>SoC</a:t>
            </a:r>
            <a:endParaRPr lang="en-US" sz="1200" dirty="0"/>
          </a:p>
        </p:txBody>
      </p:sp>
      <p:sp>
        <p:nvSpPr>
          <p:cNvPr id="18" name="Shape 16"/>
          <p:cNvSpPr/>
          <p:nvPr/>
        </p:nvSpPr>
        <p:spPr>
          <a:xfrm>
            <a:off x="5806440" y="1645920"/>
            <a:ext cx="0" cy="1554480"/>
          </a:xfrm>
          <a:prstGeom prst="line">
            <a:avLst/>
          </a:prstGeom>
          <a:noFill/>
          <a:ln w="22860">
            <a:solidFill>
              <a:srgbClr val="7C3AED"/>
            </a:solidFill>
            <a:prstDash val="solid"/>
            <a:headEnd type="none"/>
            <a:tailEnd type="triangle"/>
          </a:ln>
        </p:spPr>
        <p:txBody>
          <a:bodyPr/>
          <a:lstStyle/>
          <a:p>
            <a:endParaRPr lang="it-IT"/>
          </a:p>
        </p:txBody>
      </p:sp>
      <p:sp>
        <p:nvSpPr>
          <p:cNvPr id="19" name="Shape 17"/>
          <p:cNvSpPr/>
          <p:nvPr/>
        </p:nvSpPr>
        <p:spPr>
          <a:xfrm>
            <a:off x="3657600" y="4572000"/>
            <a:ext cx="2148840" cy="822960"/>
          </a:xfrm>
          <a:prstGeom prst="roundRect">
            <a:avLst>
              <a:gd name="adj" fmla="val 6667"/>
            </a:avLst>
          </a:prstGeom>
          <a:solidFill>
            <a:srgbClr val="F8FAFC"/>
          </a:solidFill>
          <a:ln w="17780">
            <a:solidFill>
              <a:srgbClr val="0F766E"/>
            </a:solidFill>
            <a:prstDash val="solid"/>
          </a:ln>
        </p:spPr>
        <p:txBody>
          <a:bodyPr/>
          <a:lstStyle/>
          <a:p>
            <a:endParaRPr lang="it-IT"/>
          </a:p>
        </p:txBody>
      </p:sp>
      <p:sp>
        <p:nvSpPr>
          <p:cNvPr id="20" name="Text 18"/>
          <p:cNvSpPr/>
          <p:nvPr/>
        </p:nvSpPr>
        <p:spPr>
          <a:xfrm>
            <a:off x="3730752" y="472744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Idrogeno</a:t>
            </a:r>
            <a:endParaRPr lang="en-US" sz="1200" dirty="0"/>
          </a:p>
          <a:p>
            <a:pPr marL="0" indent="0" algn="ctr">
              <a:buNone/>
            </a:pPr>
            <a:r>
              <a:rPr lang="en-US" sz="1200" b="1" dirty="0">
                <a:solidFill>
                  <a:srgbClr val="0F172A"/>
                </a:solidFill>
              </a:rPr>
              <a:t>elettrolizzatore + fuel cell</a:t>
            </a:r>
            <a:endParaRPr lang="en-US" sz="1200" dirty="0"/>
          </a:p>
          <a:p>
            <a:pPr marL="0" indent="0" algn="ctr">
              <a:buNone/>
            </a:pPr>
            <a:r>
              <a:rPr lang="en-US" sz="1200" b="1" dirty="0">
                <a:solidFill>
                  <a:srgbClr val="0F172A"/>
                </a:solidFill>
              </a:rPr>
              <a:t>SoH</a:t>
            </a:r>
            <a:endParaRPr lang="en-US" sz="1200" dirty="0"/>
          </a:p>
        </p:txBody>
      </p:sp>
      <p:sp>
        <p:nvSpPr>
          <p:cNvPr id="21" name="Shape 19"/>
          <p:cNvSpPr/>
          <p:nvPr/>
        </p:nvSpPr>
        <p:spPr>
          <a:xfrm>
            <a:off x="5806440" y="4983480"/>
            <a:ext cx="0" cy="0"/>
          </a:xfrm>
          <a:prstGeom prst="line">
            <a:avLst/>
          </a:prstGeom>
          <a:noFill/>
          <a:ln w="22860">
            <a:solidFill>
              <a:srgbClr val="0F766E"/>
            </a:solidFill>
            <a:prstDash val="solid"/>
            <a:headEnd type="none"/>
            <a:tailEnd type="triangle"/>
          </a:ln>
        </p:spPr>
        <p:txBody>
          <a:bodyPr/>
          <a:lstStyle/>
          <a:p>
            <a:endParaRPr lang="it-IT"/>
          </a:p>
        </p:txBody>
      </p:sp>
      <p:sp>
        <p:nvSpPr>
          <p:cNvPr id="22" name="Shape 20"/>
          <p:cNvSpPr/>
          <p:nvPr/>
        </p:nvSpPr>
        <p:spPr>
          <a:xfrm>
            <a:off x="8412480" y="1234440"/>
            <a:ext cx="2148840" cy="822960"/>
          </a:xfrm>
          <a:prstGeom prst="roundRect">
            <a:avLst>
              <a:gd name="adj" fmla="val 6667"/>
            </a:avLst>
          </a:prstGeom>
          <a:solidFill>
            <a:srgbClr val="F8FAFC"/>
          </a:solidFill>
          <a:ln w="17780">
            <a:solidFill>
              <a:srgbClr val="2563EB"/>
            </a:solidFill>
            <a:prstDash val="solid"/>
          </a:ln>
        </p:spPr>
        <p:txBody>
          <a:bodyPr/>
          <a:lstStyle/>
          <a:p>
            <a:endParaRPr lang="it-IT"/>
          </a:p>
        </p:txBody>
      </p:sp>
      <p:sp>
        <p:nvSpPr>
          <p:cNvPr id="23" name="Text 21"/>
          <p:cNvSpPr/>
          <p:nvPr/>
        </p:nvSpPr>
        <p:spPr>
          <a:xfrm>
            <a:off x="8485632" y="138988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Carico uffici</a:t>
            </a:r>
            <a:endParaRPr lang="en-US" sz="1200" dirty="0"/>
          </a:p>
          <a:p>
            <a:pPr marL="0" indent="0" algn="ctr">
              <a:buNone/>
            </a:pPr>
            <a:r>
              <a:rPr lang="en-US" sz="1200" b="1" dirty="0">
                <a:solidFill>
                  <a:srgbClr val="0F172A"/>
                </a:solidFill>
              </a:rPr>
              <a:t>domanda non controllabile</a:t>
            </a:r>
            <a:endParaRPr lang="en-US" sz="1200" dirty="0"/>
          </a:p>
        </p:txBody>
      </p:sp>
      <p:sp>
        <p:nvSpPr>
          <p:cNvPr id="24" name="Shape 22"/>
          <p:cNvSpPr/>
          <p:nvPr/>
        </p:nvSpPr>
        <p:spPr>
          <a:xfrm>
            <a:off x="8412480" y="1645920"/>
            <a:ext cx="0" cy="1554480"/>
          </a:xfrm>
          <a:prstGeom prst="line">
            <a:avLst/>
          </a:prstGeom>
          <a:noFill/>
          <a:ln w="22860">
            <a:solidFill>
              <a:srgbClr val="2563EB"/>
            </a:solidFill>
            <a:prstDash val="solid"/>
            <a:headEnd type="none"/>
            <a:tailEnd type="triangle"/>
          </a:ln>
        </p:spPr>
        <p:txBody>
          <a:bodyPr/>
          <a:lstStyle/>
          <a:p>
            <a:endParaRPr lang="it-IT"/>
          </a:p>
        </p:txBody>
      </p:sp>
      <p:sp>
        <p:nvSpPr>
          <p:cNvPr id="25" name="Shape 23"/>
          <p:cNvSpPr/>
          <p:nvPr/>
        </p:nvSpPr>
        <p:spPr>
          <a:xfrm>
            <a:off x="8412480" y="2743200"/>
            <a:ext cx="2148840" cy="822960"/>
          </a:xfrm>
          <a:prstGeom prst="roundRect">
            <a:avLst>
              <a:gd name="adj" fmla="val 6667"/>
            </a:avLst>
          </a:prstGeom>
          <a:solidFill>
            <a:srgbClr val="F8FAFC"/>
          </a:solidFill>
          <a:ln w="17780">
            <a:solidFill>
              <a:srgbClr val="EF4444"/>
            </a:solidFill>
            <a:prstDash val="solid"/>
          </a:ln>
        </p:spPr>
        <p:txBody>
          <a:bodyPr/>
          <a:lstStyle/>
          <a:p>
            <a:endParaRPr lang="it-IT"/>
          </a:p>
        </p:txBody>
      </p:sp>
      <p:sp>
        <p:nvSpPr>
          <p:cNvPr id="26" name="Text 24"/>
          <p:cNvSpPr/>
          <p:nvPr/>
        </p:nvSpPr>
        <p:spPr>
          <a:xfrm>
            <a:off x="8485632" y="289864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HVAC</a:t>
            </a:r>
            <a:endParaRPr lang="en-US" sz="1200" dirty="0"/>
          </a:p>
          <a:p>
            <a:pPr marL="0" indent="0" algn="ctr">
              <a:buNone/>
            </a:pPr>
            <a:r>
              <a:rPr lang="en-US" sz="1200" b="1" dirty="0">
                <a:solidFill>
                  <a:srgbClr val="0F172A"/>
                </a:solidFill>
              </a:rPr>
              <a:t>fascia di comfort</a:t>
            </a:r>
            <a:endParaRPr lang="en-US" sz="1200" dirty="0"/>
          </a:p>
        </p:txBody>
      </p:sp>
      <p:sp>
        <p:nvSpPr>
          <p:cNvPr id="27" name="Shape 25"/>
          <p:cNvSpPr/>
          <p:nvPr/>
        </p:nvSpPr>
        <p:spPr>
          <a:xfrm>
            <a:off x="8412480" y="3154680"/>
            <a:ext cx="0" cy="45720"/>
          </a:xfrm>
          <a:prstGeom prst="line">
            <a:avLst/>
          </a:prstGeom>
          <a:noFill/>
          <a:ln w="22860">
            <a:solidFill>
              <a:srgbClr val="EF4444"/>
            </a:solidFill>
            <a:prstDash val="solid"/>
            <a:headEnd type="none"/>
            <a:tailEnd type="triangle"/>
          </a:ln>
        </p:spPr>
        <p:txBody>
          <a:bodyPr/>
          <a:lstStyle/>
          <a:p>
            <a:endParaRPr lang="it-IT"/>
          </a:p>
        </p:txBody>
      </p:sp>
      <p:sp>
        <p:nvSpPr>
          <p:cNvPr id="28" name="Shape 26"/>
          <p:cNvSpPr/>
          <p:nvPr/>
        </p:nvSpPr>
        <p:spPr>
          <a:xfrm>
            <a:off x="8412480" y="4251960"/>
            <a:ext cx="2148840" cy="822960"/>
          </a:xfrm>
          <a:prstGeom prst="roundRect">
            <a:avLst>
              <a:gd name="adj" fmla="val 6667"/>
            </a:avLst>
          </a:prstGeom>
          <a:solidFill>
            <a:srgbClr val="F8FAFC"/>
          </a:solidFill>
          <a:ln w="17780">
            <a:solidFill>
              <a:srgbClr val="7C3AED"/>
            </a:solidFill>
            <a:prstDash val="solid"/>
          </a:ln>
        </p:spPr>
        <p:txBody>
          <a:bodyPr/>
          <a:lstStyle/>
          <a:p>
            <a:endParaRPr lang="it-IT"/>
          </a:p>
        </p:txBody>
      </p:sp>
      <p:sp>
        <p:nvSpPr>
          <p:cNvPr id="29" name="Text 27"/>
          <p:cNvSpPr/>
          <p:nvPr/>
        </p:nvSpPr>
        <p:spPr>
          <a:xfrm>
            <a:off x="8485632" y="4407408"/>
            <a:ext cx="2002536" cy="594360"/>
          </a:xfrm>
          <a:prstGeom prst="rect">
            <a:avLst/>
          </a:prstGeom>
          <a:noFill/>
          <a:ln/>
        </p:spPr>
        <p:txBody>
          <a:bodyPr wrap="square" lIns="254" tIns="254" rIns="254" bIns="254" rtlCol="0" anchor="ctr">
            <a:normAutofit/>
          </a:bodyPr>
          <a:lstStyle/>
          <a:p>
            <a:pPr marL="0" indent="0" algn="ctr">
              <a:buNone/>
            </a:pPr>
            <a:r>
              <a:rPr lang="en-US" sz="1200" b="1" dirty="0">
                <a:solidFill>
                  <a:srgbClr val="0F172A"/>
                </a:solidFill>
              </a:rPr>
              <a:t>PEV</a:t>
            </a:r>
            <a:endParaRPr lang="en-US" sz="1200" dirty="0"/>
          </a:p>
          <a:p>
            <a:pPr marL="0" indent="0" algn="ctr">
              <a:buNone/>
            </a:pPr>
            <a:r>
              <a:rPr lang="en-US" sz="1200" b="1" dirty="0">
                <a:solidFill>
                  <a:srgbClr val="0F172A"/>
                </a:solidFill>
              </a:rPr>
              <a:t>disponibilità + target</a:t>
            </a:r>
            <a:endParaRPr lang="en-US" sz="1200" dirty="0"/>
          </a:p>
        </p:txBody>
      </p:sp>
      <p:sp>
        <p:nvSpPr>
          <p:cNvPr id="30" name="Shape 28"/>
          <p:cNvSpPr/>
          <p:nvPr/>
        </p:nvSpPr>
        <p:spPr>
          <a:xfrm>
            <a:off x="8412480" y="4663440"/>
            <a:ext cx="0" cy="0"/>
          </a:xfrm>
          <a:prstGeom prst="line">
            <a:avLst/>
          </a:prstGeom>
          <a:noFill/>
          <a:ln w="22860">
            <a:solidFill>
              <a:srgbClr val="7C3AED"/>
            </a:solidFill>
            <a:prstDash val="solid"/>
            <a:headEnd type="none"/>
            <a:tailEnd type="triangle"/>
          </a:ln>
        </p:spPr>
        <p:txBody>
          <a:bodyPr/>
          <a:lstStyle/>
          <a:p>
            <a:endParaRPr lang="it-IT"/>
          </a:p>
        </p:txBody>
      </p:sp>
      <p:sp>
        <p:nvSpPr>
          <p:cNvPr id="31" name="Text 29"/>
          <p:cNvSpPr/>
          <p:nvPr/>
        </p:nvSpPr>
        <p:spPr>
          <a:xfrm>
            <a:off x="1371600" y="5806440"/>
            <a:ext cx="9509760" cy="320040"/>
          </a:xfrm>
          <a:prstGeom prst="rect">
            <a:avLst/>
          </a:prstGeom>
          <a:noFill/>
          <a:ln/>
        </p:spPr>
        <p:txBody>
          <a:bodyPr wrap="square" lIns="0" tIns="0" rIns="0" bIns="0" rtlCol="0" anchor="ctr"/>
          <a:lstStyle/>
          <a:p>
            <a:pPr marL="0" indent="0" algn="ctr">
              <a:buNone/>
            </a:pPr>
            <a:r>
              <a:rPr lang="en-US" sz="1700" b="1" dirty="0">
                <a:solidFill>
                  <a:srgbClr val="0F172A"/>
                </a:solidFill>
              </a:rPr>
              <a:t>Vincolo centrale: energia in ingresso = energia in uscita, a ogni ora</a:t>
            </a:r>
            <a:endParaRPr lang="en-US" sz="1700" dirty="0"/>
          </a:p>
        </p:txBody>
      </p:sp>
      <p:pic>
        <p:nvPicPr>
          <p:cNvPr id="33" name="Immagine 32">
            <a:extLst>
              <a:ext uri="{FF2B5EF4-FFF2-40B4-BE49-F238E27FC236}">
                <a16:creationId xmlns:a16="http://schemas.microsoft.com/office/drawing/2014/main" id="{69AB35B3-DF6D-8AE0-AAB6-BCE60C87FE44}"/>
              </a:ext>
            </a:extLst>
          </p:cNvPr>
          <p:cNvPicPr>
            <a:picLocks noChangeAspect="1"/>
          </p:cNvPicPr>
          <p:nvPr/>
        </p:nvPicPr>
        <p:blipFill>
          <a:blip r:embed="rId3"/>
          <a:srcRect b="961"/>
          <a:stretch>
            <a:fillRect/>
          </a:stretch>
        </p:blipFill>
        <p:spPr>
          <a:xfrm>
            <a:off x="477589" y="1115568"/>
            <a:ext cx="11297782" cy="5124913"/>
          </a:xfrm>
          <a:prstGeom prst="rect">
            <a:avLst/>
          </a:prstGeom>
        </p:spPr>
      </p:pic>
      <p:pic>
        <p:nvPicPr>
          <p:cNvPr id="34" name="Immagine 33">
            <a:extLst>
              <a:ext uri="{FF2B5EF4-FFF2-40B4-BE49-F238E27FC236}">
                <a16:creationId xmlns:a16="http://schemas.microsoft.com/office/drawing/2014/main" id="{43D7C250-5FB1-007C-BFB2-8C00A4C6EE8B}"/>
              </a:ext>
            </a:extLst>
          </p:cNvPr>
          <p:cNvPicPr>
            <a:picLocks noChangeAspect="1"/>
          </p:cNvPicPr>
          <p:nvPr/>
        </p:nvPicPr>
        <p:blipFill>
          <a:blip r:embed="rId4"/>
          <a:stretch>
            <a:fillRect/>
          </a:stretch>
        </p:blipFill>
        <p:spPr>
          <a:xfrm>
            <a:off x="749807" y="1250440"/>
            <a:ext cx="2404247" cy="1126991"/>
          </a:xfrm>
          <a:prstGeom prst="rect">
            <a:avLst/>
          </a:prstGeom>
        </p:spPr>
      </p:pic>
      <p:pic>
        <p:nvPicPr>
          <p:cNvPr id="35" name="Immagine 34">
            <a:extLst>
              <a:ext uri="{FF2B5EF4-FFF2-40B4-BE49-F238E27FC236}">
                <a16:creationId xmlns:a16="http://schemas.microsoft.com/office/drawing/2014/main" id="{986FAC35-E807-CCD9-A077-1B2C5D53DC37}"/>
              </a:ext>
            </a:extLst>
          </p:cNvPr>
          <p:cNvPicPr>
            <a:picLocks noChangeAspect="1"/>
          </p:cNvPicPr>
          <p:nvPr/>
        </p:nvPicPr>
        <p:blipFill>
          <a:blip r:embed="rId4"/>
          <a:stretch>
            <a:fillRect/>
          </a:stretch>
        </p:blipFill>
        <p:spPr>
          <a:xfrm>
            <a:off x="3699373" y="1217700"/>
            <a:ext cx="2404247" cy="1126991"/>
          </a:xfrm>
          <a:prstGeom prst="rect">
            <a:avLst/>
          </a:prstGeom>
        </p:spPr>
      </p:pic>
      <p:pic>
        <p:nvPicPr>
          <p:cNvPr id="36" name="Immagine 35">
            <a:extLst>
              <a:ext uri="{FF2B5EF4-FFF2-40B4-BE49-F238E27FC236}">
                <a16:creationId xmlns:a16="http://schemas.microsoft.com/office/drawing/2014/main" id="{CCC8D321-52B9-7148-743F-D3699FF317B9}"/>
              </a:ext>
            </a:extLst>
          </p:cNvPr>
          <p:cNvPicPr>
            <a:picLocks noChangeAspect="1"/>
          </p:cNvPicPr>
          <p:nvPr/>
        </p:nvPicPr>
        <p:blipFill>
          <a:blip r:embed="rId4"/>
          <a:stretch>
            <a:fillRect/>
          </a:stretch>
        </p:blipFill>
        <p:spPr>
          <a:xfrm>
            <a:off x="6492241" y="1200157"/>
            <a:ext cx="2148840" cy="1007269"/>
          </a:xfrm>
          <a:prstGeom prst="rect">
            <a:avLst/>
          </a:prstGeom>
        </p:spPr>
      </p:pic>
      <p:pic>
        <p:nvPicPr>
          <p:cNvPr id="37" name="Immagine 36">
            <a:extLst>
              <a:ext uri="{FF2B5EF4-FFF2-40B4-BE49-F238E27FC236}">
                <a16:creationId xmlns:a16="http://schemas.microsoft.com/office/drawing/2014/main" id="{A5E15E21-47CF-12A8-F94E-4D7095BF6366}"/>
              </a:ext>
            </a:extLst>
          </p:cNvPr>
          <p:cNvPicPr>
            <a:picLocks noChangeAspect="1"/>
          </p:cNvPicPr>
          <p:nvPr/>
        </p:nvPicPr>
        <p:blipFill>
          <a:blip r:embed="rId4"/>
          <a:stretch>
            <a:fillRect/>
          </a:stretch>
        </p:blipFill>
        <p:spPr>
          <a:xfrm>
            <a:off x="8991148" y="2688485"/>
            <a:ext cx="1341568" cy="628860"/>
          </a:xfrm>
          <a:prstGeom prst="rect">
            <a:avLst/>
          </a:prstGeom>
        </p:spPr>
      </p:pic>
      <p:pic>
        <p:nvPicPr>
          <p:cNvPr id="38" name="Immagine 37">
            <a:extLst>
              <a:ext uri="{FF2B5EF4-FFF2-40B4-BE49-F238E27FC236}">
                <a16:creationId xmlns:a16="http://schemas.microsoft.com/office/drawing/2014/main" id="{35C4037B-0250-C634-122D-31A890E7FC3D}"/>
              </a:ext>
            </a:extLst>
          </p:cNvPr>
          <p:cNvPicPr>
            <a:picLocks noChangeAspect="1"/>
          </p:cNvPicPr>
          <p:nvPr/>
        </p:nvPicPr>
        <p:blipFill>
          <a:blip r:embed="rId4"/>
          <a:stretch>
            <a:fillRect/>
          </a:stretch>
        </p:blipFill>
        <p:spPr>
          <a:xfrm>
            <a:off x="9799595" y="5050201"/>
            <a:ext cx="2374022" cy="1112823"/>
          </a:xfrm>
          <a:prstGeom prst="rect">
            <a:avLst/>
          </a:prstGeom>
        </p:spPr>
      </p:pic>
      <p:pic>
        <p:nvPicPr>
          <p:cNvPr id="39" name="Immagine 38">
            <a:extLst>
              <a:ext uri="{FF2B5EF4-FFF2-40B4-BE49-F238E27FC236}">
                <a16:creationId xmlns:a16="http://schemas.microsoft.com/office/drawing/2014/main" id="{203BFE06-C58C-F861-2B9B-87B0055A3456}"/>
              </a:ext>
            </a:extLst>
          </p:cNvPr>
          <p:cNvPicPr>
            <a:picLocks noChangeAspect="1"/>
          </p:cNvPicPr>
          <p:nvPr/>
        </p:nvPicPr>
        <p:blipFill>
          <a:blip r:embed="rId4"/>
          <a:stretch>
            <a:fillRect/>
          </a:stretch>
        </p:blipFill>
        <p:spPr>
          <a:xfrm>
            <a:off x="8187298" y="5470558"/>
            <a:ext cx="1477259" cy="769923"/>
          </a:xfrm>
          <a:prstGeom prst="rect">
            <a:avLst/>
          </a:prstGeom>
        </p:spPr>
      </p:pic>
      <p:pic>
        <p:nvPicPr>
          <p:cNvPr id="40" name="Immagine 39">
            <a:extLst>
              <a:ext uri="{FF2B5EF4-FFF2-40B4-BE49-F238E27FC236}">
                <a16:creationId xmlns:a16="http://schemas.microsoft.com/office/drawing/2014/main" id="{41BE101A-58B5-C9C4-389C-55221995861D}"/>
              </a:ext>
            </a:extLst>
          </p:cNvPr>
          <p:cNvPicPr>
            <a:picLocks noChangeAspect="1"/>
          </p:cNvPicPr>
          <p:nvPr/>
        </p:nvPicPr>
        <p:blipFill>
          <a:blip r:embed="rId4"/>
          <a:stretch>
            <a:fillRect/>
          </a:stretch>
        </p:blipFill>
        <p:spPr>
          <a:xfrm>
            <a:off x="5733288" y="5431536"/>
            <a:ext cx="1477259" cy="769923"/>
          </a:xfrm>
          <a:prstGeom prst="rect">
            <a:avLst/>
          </a:prstGeom>
        </p:spPr>
      </p:pic>
      <p:pic>
        <p:nvPicPr>
          <p:cNvPr id="41" name="Immagine 40">
            <a:extLst>
              <a:ext uri="{FF2B5EF4-FFF2-40B4-BE49-F238E27FC236}">
                <a16:creationId xmlns:a16="http://schemas.microsoft.com/office/drawing/2014/main" id="{C89BCF4F-7180-317A-5083-1652E6AFA0FF}"/>
              </a:ext>
            </a:extLst>
          </p:cNvPr>
          <p:cNvPicPr>
            <a:picLocks noChangeAspect="1"/>
          </p:cNvPicPr>
          <p:nvPr/>
        </p:nvPicPr>
        <p:blipFill>
          <a:blip r:embed="rId4"/>
          <a:stretch>
            <a:fillRect/>
          </a:stretch>
        </p:blipFill>
        <p:spPr>
          <a:xfrm>
            <a:off x="4078927" y="5234027"/>
            <a:ext cx="1477259" cy="844020"/>
          </a:xfrm>
          <a:prstGeom prst="rect">
            <a:avLst/>
          </a:prstGeom>
        </p:spPr>
      </p:pic>
      <p:pic>
        <p:nvPicPr>
          <p:cNvPr id="42" name="Immagine 41">
            <a:extLst>
              <a:ext uri="{FF2B5EF4-FFF2-40B4-BE49-F238E27FC236}">
                <a16:creationId xmlns:a16="http://schemas.microsoft.com/office/drawing/2014/main" id="{01851466-1E82-EBF2-7001-DDD8277F5FD3}"/>
              </a:ext>
            </a:extLst>
          </p:cNvPr>
          <p:cNvPicPr>
            <a:picLocks noChangeAspect="1"/>
          </p:cNvPicPr>
          <p:nvPr/>
        </p:nvPicPr>
        <p:blipFill>
          <a:blip r:embed="rId4"/>
          <a:stretch>
            <a:fillRect/>
          </a:stretch>
        </p:blipFill>
        <p:spPr>
          <a:xfrm>
            <a:off x="632970" y="5195277"/>
            <a:ext cx="1894473" cy="844020"/>
          </a:xfrm>
          <a:prstGeom prst="rect">
            <a:avLst/>
          </a:prstGeom>
        </p:spPr>
      </p:pic>
      <p:pic>
        <p:nvPicPr>
          <p:cNvPr id="43" name="Immagine 42">
            <a:extLst>
              <a:ext uri="{FF2B5EF4-FFF2-40B4-BE49-F238E27FC236}">
                <a16:creationId xmlns:a16="http://schemas.microsoft.com/office/drawing/2014/main" id="{A604C32A-20AB-D126-8CFE-B215AB1B6511}"/>
              </a:ext>
            </a:extLst>
          </p:cNvPr>
          <p:cNvPicPr>
            <a:picLocks noChangeAspect="1"/>
          </p:cNvPicPr>
          <p:nvPr/>
        </p:nvPicPr>
        <p:blipFill>
          <a:blip r:embed="rId4"/>
          <a:stretch>
            <a:fillRect/>
          </a:stretch>
        </p:blipFill>
        <p:spPr>
          <a:xfrm>
            <a:off x="7020556" y="4644408"/>
            <a:ext cx="1318771"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Logica MPC</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A ogni ora il </a:t>
            </a:r>
            <a:r>
              <a:rPr lang="en-US" sz="1250" dirty="0" err="1">
                <a:solidFill>
                  <a:srgbClr val="5B677A"/>
                </a:solidFill>
              </a:rPr>
              <a:t>modello</a:t>
            </a:r>
            <a:r>
              <a:rPr lang="en-US" sz="1250" dirty="0">
                <a:solidFill>
                  <a:srgbClr val="5B677A"/>
                </a:solidFill>
              </a:rPr>
              <a:t> </a:t>
            </a:r>
            <a:r>
              <a:rPr lang="en-US" sz="1250" dirty="0" err="1">
                <a:solidFill>
                  <a:srgbClr val="5B677A"/>
                </a:solidFill>
              </a:rPr>
              <a:t>ottimizza</a:t>
            </a:r>
            <a:r>
              <a:rPr lang="en-US" sz="1250" dirty="0">
                <a:solidFill>
                  <a:srgbClr val="5B677A"/>
                </a:solidFill>
              </a:rPr>
              <a:t> le successive 24 ore, ma </a:t>
            </a:r>
            <a:r>
              <a:rPr lang="en-US" sz="1250" dirty="0" err="1">
                <a:solidFill>
                  <a:srgbClr val="5B677A"/>
                </a:solidFill>
              </a:rPr>
              <a:t>applica</a:t>
            </a:r>
            <a:r>
              <a:rPr lang="en-US" sz="1250" dirty="0">
                <a:solidFill>
                  <a:srgbClr val="5B677A"/>
                </a:solidFill>
              </a:rPr>
              <a:t> solo la prima azione di </a:t>
            </a:r>
            <a:r>
              <a:rPr lang="en-US" sz="1250" dirty="0" err="1">
                <a:solidFill>
                  <a:srgbClr val="5B677A"/>
                </a:solidFill>
              </a:rPr>
              <a:t>controllo</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777240" y="2331720"/>
            <a:ext cx="1737360" cy="1097280"/>
          </a:xfrm>
          <a:prstGeom prst="roundRect">
            <a:avLst>
              <a:gd name="adj" fmla="val 5000"/>
            </a:avLst>
          </a:prstGeom>
          <a:solidFill>
            <a:srgbClr val="F8FAFC"/>
          </a:solidFill>
          <a:ln w="17780">
            <a:solidFill>
              <a:srgbClr val="2563EB"/>
            </a:solidFill>
            <a:prstDash val="solid"/>
          </a:ln>
        </p:spPr>
        <p:txBody>
          <a:bodyPr/>
          <a:lstStyle/>
          <a:p>
            <a:endParaRPr lang="it-IT"/>
          </a:p>
        </p:txBody>
      </p:sp>
      <p:sp>
        <p:nvSpPr>
          <p:cNvPr id="6" name="Text 4"/>
          <p:cNvSpPr/>
          <p:nvPr/>
        </p:nvSpPr>
        <p:spPr>
          <a:xfrm>
            <a:off x="850392" y="2487168"/>
            <a:ext cx="1591056" cy="868680"/>
          </a:xfrm>
          <a:prstGeom prst="rect">
            <a:avLst/>
          </a:prstGeom>
          <a:noFill/>
          <a:ln/>
        </p:spPr>
        <p:txBody>
          <a:bodyPr wrap="square" lIns="254" tIns="254" rIns="254" bIns="254" rtlCol="0" anchor="ctr">
            <a:normAutofit/>
          </a:bodyPr>
          <a:lstStyle/>
          <a:p>
            <a:pPr marL="0" indent="0" algn="ctr">
              <a:buNone/>
            </a:pPr>
            <a:r>
              <a:rPr lang="en-US" sz="1400" b="1" dirty="0">
                <a:solidFill>
                  <a:srgbClr val="0F172A"/>
                </a:solidFill>
              </a:rPr>
              <a:t>1. Misura</a:t>
            </a:r>
            <a:endParaRPr lang="en-US" sz="1400" dirty="0"/>
          </a:p>
          <a:p>
            <a:pPr marL="0" indent="0" algn="ctr">
              <a:buNone/>
            </a:pPr>
            <a:r>
              <a:rPr lang="en-US" sz="1400" b="1" dirty="0">
                <a:solidFill>
                  <a:srgbClr val="0F172A"/>
                </a:solidFill>
              </a:rPr>
              <a:t>stato</a:t>
            </a:r>
            <a:endParaRPr lang="en-US" sz="1400" dirty="0"/>
          </a:p>
        </p:txBody>
      </p:sp>
      <p:sp>
        <p:nvSpPr>
          <p:cNvPr id="7" name="Shape 5"/>
          <p:cNvSpPr/>
          <p:nvPr/>
        </p:nvSpPr>
        <p:spPr>
          <a:xfrm>
            <a:off x="2514600" y="2880360"/>
            <a:ext cx="530352" cy="0"/>
          </a:xfrm>
          <a:prstGeom prst="line">
            <a:avLst/>
          </a:prstGeom>
          <a:noFill/>
          <a:ln w="22860">
            <a:solidFill>
              <a:srgbClr val="2563EB"/>
            </a:solidFill>
            <a:prstDash val="solid"/>
            <a:headEnd type="none"/>
            <a:tailEnd type="triangle"/>
          </a:ln>
        </p:spPr>
        <p:txBody>
          <a:bodyPr/>
          <a:lstStyle/>
          <a:p>
            <a:endParaRPr lang="it-IT"/>
          </a:p>
        </p:txBody>
      </p:sp>
      <p:sp>
        <p:nvSpPr>
          <p:cNvPr id="8" name="Shape 6"/>
          <p:cNvSpPr/>
          <p:nvPr/>
        </p:nvSpPr>
        <p:spPr>
          <a:xfrm>
            <a:off x="3044952" y="2331720"/>
            <a:ext cx="1737360" cy="1097280"/>
          </a:xfrm>
          <a:prstGeom prst="roundRect">
            <a:avLst>
              <a:gd name="adj" fmla="val 5000"/>
            </a:avLst>
          </a:prstGeom>
          <a:solidFill>
            <a:srgbClr val="F8FAFC"/>
          </a:solidFill>
          <a:ln w="17780">
            <a:solidFill>
              <a:srgbClr val="2563EB"/>
            </a:solidFill>
            <a:prstDash val="solid"/>
          </a:ln>
        </p:spPr>
        <p:txBody>
          <a:bodyPr/>
          <a:lstStyle/>
          <a:p>
            <a:endParaRPr lang="it-IT"/>
          </a:p>
        </p:txBody>
      </p:sp>
      <p:sp>
        <p:nvSpPr>
          <p:cNvPr id="9" name="Text 7"/>
          <p:cNvSpPr/>
          <p:nvPr/>
        </p:nvSpPr>
        <p:spPr>
          <a:xfrm>
            <a:off x="3118104" y="2487168"/>
            <a:ext cx="1591056" cy="868680"/>
          </a:xfrm>
          <a:prstGeom prst="rect">
            <a:avLst/>
          </a:prstGeom>
          <a:noFill/>
          <a:ln/>
        </p:spPr>
        <p:txBody>
          <a:bodyPr wrap="square" lIns="254" tIns="254" rIns="254" bIns="254" rtlCol="0" anchor="ctr">
            <a:normAutofit/>
          </a:bodyPr>
          <a:lstStyle/>
          <a:p>
            <a:pPr marL="0" indent="0" algn="ctr">
              <a:buNone/>
            </a:pPr>
            <a:r>
              <a:rPr lang="en-US" sz="1400" b="1" dirty="0">
                <a:solidFill>
                  <a:srgbClr val="0F172A"/>
                </a:solidFill>
              </a:rPr>
              <a:t>2. Costruisce</a:t>
            </a:r>
            <a:endParaRPr lang="en-US" sz="1400" dirty="0"/>
          </a:p>
          <a:p>
            <a:pPr marL="0" indent="0" algn="ctr">
              <a:buNone/>
            </a:pPr>
            <a:r>
              <a:rPr lang="en-US" sz="1400" b="1" dirty="0">
                <a:solidFill>
                  <a:srgbClr val="0F172A"/>
                </a:solidFill>
              </a:rPr>
              <a:t>previsioni</a:t>
            </a:r>
            <a:endParaRPr lang="en-US" sz="1400" dirty="0"/>
          </a:p>
        </p:txBody>
      </p:sp>
      <p:sp>
        <p:nvSpPr>
          <p:cNvPr id="10" name="Shape 8"/>
          <p:cNvSpPr/>
          <p:nvPr/>
        </p:nvSpPr>
        <p:spPr>
          <a:xfrm>
            <a:off x="4782312" y="2880360"/>
            <a:ext cx="530352" cy="0"/>
          </a:xfrm>
          <a:prstGeom prst="line">
            <a:avLst/>
          </a:prstGeom>
          <a:noFill/>
          <a:ln w="22860">
            <a:solidFill>
              <a:srgbClr val="2563EB"/>
            </a:solidFill>
            <a:prstDash val="solid"/>
            <a:headEnd type="none"/>
            <a:tailEnd type="triangle"/>
          </a:ln>
        </p:spPr>
        <p:txBody>
          <a:bodyPr/>
          <a:lstStyle/>
          <a:p>
            <a:endParaRPr lang="it-IT"/>
          </a:p>
        </p:txBody>
      </p:sp>
      <p:sp>
        <p:nvSpPr>
          <p:cNvPr id="11" name="Shape 9"/>
          <p:cNvSpPr/>
          <p:nvPr/>
        </p:nvSpPr>
        <p:spPr>
          <a:xfrm>
            <a:off x="5312664" y="2331720"/>
            <a:ext cx="1737360" cy="1097280"/>
          </a:xfrm>
          <a:prstGeom prst="roundRect">
            <a:avLst>
              <a:gd name="adj" fmla="val 5000"/>
            </a:avLst>
          </a:prstGeom>
          <a:solidFill>
            <a:srgbClr val="F8FAFC"/>
          </a:solidFill>
          <a:ln w="17780">
            <a:solidFill>
              <a:srgbClr val="7C3AED"/>
            </a:solidFill>
            <a:prstDash val="solid"/>
          </a:ln>
        </p:spPr>
        <p:txBody>
          <a:bodyPr/>
          <a:lstStyle/>
          <a:p>
            <a:endParaRPr lang="it-IT"/>
          </a:p>
        </p:txBody>
      </p:sp>
      <p:sp>
        <p:nvSpPr>
          <p:cNvPr id="12" name="Text 10"/>
          <p:cNvSpPr/>
          <p:nvPr/>
        </p:nvSpPr>
        <p:spPr>
          <a:xfrm>
            <a:off x="5385816" y="2487168"/>
            <a:ext cx="1591056" cy="868680"/>
          </a:xfrm>
          <a:prstGeom prst="rect">
            <a:avLst/>
          </a:prstGeom>
          <a:noFill/>
          <a:ln/>
        </p:spPr>
        <p:txBody>
          <a:bodyPr wrap="square" lIns="254" tIns="254" rIns="254" bIns="254" rtlCol="0" anchor="ctr">
            <a:normAutofit/>
          </a:bodyPr>
          <a:lstStyle/>
          <a:p>
            <a:pPr marL="0" indent="0" algn="ctr">
              <a:buNone/>
            </a:pPr>
            <a:r>
              <a:rPr lang="en-US" sz="1400" b="1" dirty="0">
                <a:solidFill>
                  <a:srgbClr val="0F172A"/>
                </a:solidFill>
              </a:rPr>
              <a:t>3. Risolve</a:t>
            </a:r>
            <a:endParaRPr lang="en-US" sz="1400" dirty="0"/>
          </a:p>
          <a:p>
            <a:pPr marL="0" indent="0" algn="ctr">
              <a:buNone/>
            </a:pPr>
            <a:r>
              <a:rPr lang="en-US" sz="1400" b="1" dirty="0">
                <a:solidFill>
                  <a:srgbClr val="0F172A"/>
                </a:solidFill>
              </a:rPr>
              <a:t>MILP</a:t>
            </a:r>
            <a:endParaRPr lang="en-US" sz="1400" dirty="0"/>
          </a:p>
        </p:txBody>
      </p:sp>
      <p:sp>
        <p:nvSpPr>
          <p:cNvPr id="13" name="Shape 11"/>
          <p:cNvSpPr/>
          <p:nvPr/>
        </p:nvSpPr>
        <p:spPr>
          <a:xfrm>
            <a:off x="7050024" y="2880360"/>
            <a:ext cx="530352" cy="0"/>
          </a:xfrm>
          <a:prstGeom prst="line">
            <a:avLst/>
          </a:prstGeom>
          <a:noFill/>
          <a:ln w="22860">
            <a:solidFill>
              <a:srgbClr val="2563EB"/>
            </a:solidFill>
            <a:prstDash val="solid"/>
            <a:headEnd type="none"/>
            <a:tailEnd type="triangle"/>
          </a:ln>
        </p:spPr>
        <p:txBody>
          <a:bodyPr/>
          <a:lstStyle/>
          <a:p>
            <a:endParaRPr lang="it-IT"/>
          </a:p>
        </p:txBody>
      </p:sp>
      <p:sp>
        <p:nvSpPr>
          <p:cNvPr id="14" name="Shape 12"/>
          <p:cNvSpPr/>
          <p:nvPr/>
        </p:nvSpPr>
        <p:spPr>
          <a:xfrm>
            <a:off x="7580376" y="2331720"/>
            <a:ext cx="1737360" cy="1097280"/>
          </a:xfrm>
          <a:prstGeom prst="roundRect">
            <a:avLst>
              <a:gd name="adj" fmla="val 5000"/>
            </a:avLst>
          </a:prstGeom>
          <a:solidFill>
            <a:srgbClr val="F8FAFC"/>
          </a:solidFill>
          <a:ln w="17780">
            <a:solidFill>
              <a:srgbClr val="2563EB"/>
            </a:solidFill>
            <a:prstDash val="solid"/>
          </a:ln>
        </p:spPr>
        <p:txBody>
          <a:bodyPr/>
          <a:lstStyle/>
          <a:p>
            <a:endParaRPr lang="it-IT"/>
          </a:p>
        </p:txBody>
      </p:sp>
      <p:sp>
        <p:nvSpPr>
          <p:cNvPr id="15" name="Text 13"/>
          <p:cNvSpPr/>
          <p:nvPr/>
        </p:nvSpPr>
        <p:spPr>
          <a:xfrm>
            <a:off x="7653528" y="2487168"/>
            <a:ext cx="1591056" cy="868680"/>
          </a:xfrm>
          <a:prstGeom prst="rect">
            <a:avLst/>
          </a:prstGeom>
          <a:noFill/>
          <a:ln/>
        </p:spPr>
        <p:txBody>
          <a:bodyPr wrap="square" lIns="254" tIns="254" rIns="254" bIns="254" rtlCol="0" anchor="ctr">
            <a:normAutofit/>
          </a:bodyPr>
          <a:lstStyle/>
          <a:p>
            <a:pPr marL="0" indent="0" algn="ctr">
              <a:buNone/>
            </a:pPr>
            <a:r>
              <a:rPr lang="en-US" sz="1400" b="1" dirty="0">
                <a:solidFill>
                  <a:srgbClr val="0F172A"/>
                </a:solidFill>
              </a:rPr>
              <a:t>4. Applica</a:t>
            </a:r>
            <a:endParaRPr lang="en-US" sz="1400" dirty="0"/>
          </a:p>
          <a:p>
            <a:pPr marL="0" indent="0" algn="ctr">
              <a:buNone/>
            </a:pPr>
            <a:r>
              <a:rPr lang="en-US" sz="1400" b="1" dirty="0">
                <a:solidFill>
                  <a:srgbClr val="0F172A"/>
                </a:solidFill>
              </a:rPr>
              <a:t>prima azione</a:t>
            </a:r>
            <a:endParaRPr lang="en-US" sz="1400" dirty="0"/>
          </a:p>
        </p:txBody>
      </p:sp>
      <p:sp>
        <p:nvSpPr>
          <p:cNvPr id="16" name="Shape 14"/>
          <p:cNvSpPr/>
          <p:nvPr/>
        </p:nvSpPr>
        <p:spPr>
          <a:xfrm>
            <a:off x="9317736" y="2880360"/>
            <a:ext cx="530352" cy="0"/>
          </a:xfrm>
          <a:prstGeom prst="line">
            <a:avLst/>
          </a:prstGeom>
          <a:noFill/>
          <a:ln w="22860">
            <a:solidFill>
              <a:srgbClr val="2563EB"/>
            </a:solidFill>
            <a:prstDash val="solid"/>
            <a:headEnd type="none"/>
            <a:tailEnd type="triangle"/>
          </a:ln>
        </p:spPr>
        <p:txBody>
          <a:bodyPr/>
          <a:lstStyle/>
          <a:p>
            <a:endParaRPr lang="it-IT"/>
          </a:p>
        </p:txBody>
      </p:sp>
      <p:sp>
        <p:nvSpPr>
          <p:cNvPr id="17" name="Shape 15"/>
          <p:cNvSpPr/>
          <p:nvPr/>
        </p:nvSpPr>
        <p:spPr>
          <a:xfrm>
            <a:off x="9848088" y="2331720"/>
            <a:ext cx="1737360" cy="1097280"/>
          </a:xfrm>
          <a:prstGeom prst="roundRect">
            <a:avLst>
              <a:gd name="adj" fmla="val 5000"/>
            </a:avLst>
          </a:prstGeom>
          <a:solidFill>
            <a:srgbClr val="F8FAFC"/>
          </a:solidFill>
          <a:ln w="17780">
            <a:solidFill>
              <a:srgbClr val="2563EB"/>
            </a:solidFill>
            <a:prstDash val="solid"/>
          </a:ln>
        </p:spPr>
        <p:txBody>
          <a:bodyPr/>
          <a:lstStyle/>
          <a:p>
            <a:endParaRPr lang="it-IT"/>
          </a:p>
        </p:txBody>
      </p:sp>
      <p:sp>
        <p:nvSpPr>
          <p:cNvPr id="18" name="Text 16"/>
          <p:cNvSpPr/>
          <p:nvPr/>
        </p:nvSpPr>
        <p:spPr>
          <a:xfrm>
            <a:off x="9921240" y="2487168"/>
            <a:ext cx="1591056" cy="868680"/>
          </a:xfrm>
          <a:prstGeom prst="rect">
            <a:avLst/>
          </a:prstGeom>
          <a:noFill/>
          <a:ln/>
        </p:spPr>
        <p:txBody>
          <a:bodyPr wrap="square" lIns="254" tIns="254" rIns="254" bIns="254" rtlCol="0" anchor="ctr">
            <a:normAutofit/>
          </a:bodyPr>
          <a:lstStyle/>
          <a:p>
            <a:pPr marL="0" indent="0" algn="ctr">
              <a:buNone/>
            </a:pPr>
            <a:r>
              <a:rPr lang="en-US" sz="1400" b="1" dirty="0">
                <a:solidFill>
                  <a:srgbClr val="0F172A"/>
                </a:solidFill>
              </a:rPr>
              <a:t>5. Aggiorna</a:t>
            </a:r>
            <a:endParaRPr lang="en-US" sz="1400" dirty="0"/>
          </a:p>
          <a:p>
            <a:pPr marL="0" indent="0" algn="ctr">
              <a:buNone/>
            </a:pPr>
            <a:r>
              <a:rPr lang="en-US" sz="1400" b="1" dirty="0">
                <a:solidFill>
                  <a:srgbClr val="0F172A"/>
                </a:solidFill>
              </a:rPr>
              <a:t>orizzonte</a:t>
            </a:r>
            <a:endParaRPr lang="en-US" sz="1400" dirty="0"/>
          </a:p>
        </p:txBody>
      </p:sp>
      <p:sp>
        <p:nvSpPr>
          <p:cNvPr id="19" name="Shape 17"/>
          <p:cNvSpPr/>
          <p:nvPr/>
        </p:nvSpPr>
        <p:spPr>
          <a:xfrm>
            <a:off x="1828800" y="3886200"/>
            <a:ext cx="8595360" cy="1554480"/>
          </a:xfrm>
          <a:prstGeom prst="arc">
            <a:avLst/>
          </a:prstGeom>
          <a:noFill/>
          <a:ln w="20320">
            <a:solidFill>
              <a:srgbClr val="64748B"/>
            </a:solidFill>
            <a:prstDash val="solid"/>
            <a:headEnd type="triangle"/>
            <a:tailEnd type="none"/>
          </a:ln>
        </p:spPr>
        <p:txBody>
          <a:bodyPr/>
          <a:lstStyle/>
          <a:p>
            <a:endParaRPr lang="it-IT"/>
          </a:p>
        </p:txBody>
      </p:sp>
      <p:sp>
        <p:nvSpPr>
          <p:cNvPr id="20" name="Text 18"/>
          <p:cNvSpPr/>
          <p:nvPr/>
        </p:nvSpPr>
        <p:spPr>
          <a:xfrm>
            <a:off x="1920240" y="5257800"/>
            <a:ext cx="8412480" cy="274320"/>
          </a:xfrm>
          <a:prstGeom prst="rect">
            <a:avLst/>
          </a:prstGeom>
          <a:noFill/>
          <a:ln/>
        </p:spPr>
        <p:txBody>
          <a:bodyPr wrap="square" lIns="0" tIns="0" rIns="0" bIns="0" rtlCol="0" anchor="ctr"/>
          <a:lstStyle/>
          <a:p>
            <a:pPr algn="ctr"/>
            <a:r>
              <a:rPr lang="en-US" sz="1600" b="1" dirty="0"/>
              <a:t>MPC ad </a:t>
            </a:r>
            <a:r>
              <a:rPr lang="en-US" sz="1600" b="1" dirty="0" err="1"/>
              <a:t>anello</a:t>
            </a:r>
            <a:r>
              <a:rPr lang="en-US" sz="1600" b="1" dirty="0"/>
              <a:t> </a:t>
            </a:r>
            <a:r>
              <a:rPr lang="en-US" sz="1600" b="1" dirty="0" err="1"/>
              <a:t>chiuso</a:t>
            </a:r>
            <a:r>
              <a:rPr lang="en-US" sz="1600" b="1" dirty="0"/>
              <a:t>: </a:t>
            </a:r>
            <a:r>
              <a:rPr lang="en-US" sz="1600" b="1" dirty="0" err="1"/>
              <a:t>l’ottimizzazione</a:t>
            </a:r>
            <a:r>
              <a:rPr lang="en-US" sz="1600" b="1" dirty="0"/>
              <a:t> </a:t>
            </a:r>
            <a:r>
              <a:rPr lang="en-US" sz="1600" b="1" dirty="0" err="1"/>
              <a:t>viene</a:t>
            </a:r>
            <a:r>
              <a:rPr lang="en-US" sz="1600" b="1" dirty="0"/>
              <a:t> </a:t>
            </a:r>
            <a:r>
              <a:rPr lang="en-US" sz="1600" b="1" dirty="0" err="1"/>
              <a:t>ripetuta</a:t>
            </a:r>
            <a:r>
              <a:rPr lang="en-US" sz="1600" b="1" dirty="0"/>
              <a:t> a ogni </a:t>
            </a:r>
            <a:r>
              <a:rPr lang="en-US" sz="1600" b="1" dirty="0" err="1"/>
              <a:t>istante</a:t>
            </a:r>
            <a:r>
              <a:rPr lang="en-US" sz="1600" b="1" dirty="0"/>
              <a:t> di </a:t>
            </a:r>
            <a:r>
              <a:rPr lang="en-US" sz="1600" b="1" dirty="0" err="1"/>
              <a:t>campionamento</a:t>
            </a:r>
            <a:r>
              <a:rPr lang="en-US" sz="1600" b="1" dirty="0"/>
              <a:t>.</a:t>
            </a:r>
            <a:endParaRPr lang="en-US" sz="1700" b="1" dirty="0"/>
          </a:p>
        </p:txBody>
      </p:sp>
      <p:pic>
        <p:nvPicPr>
          <p:cNvPr id="30" name="Immagine 29">
            <a:extLst>
              <a:ext uri="{FF2B5EF4-FFF2-40B4-BE49-F238E27FC236}">
                <a16:creationId xmlns:a16="http://schemas.microsoft.com/office/drawing/2014/main" id="{CB4359CC-4C4C-F118-BB6E-45038B1F8984}"/>
              </a:ext>
            </a:extLst>
          </p:cNvPr>
          <p:cNvPicPr>
            <a:picLocks noChangeAspect="1"/>
          </p:cNvPicPr>
          <p:nvPr/>
        </p:nvPicPr>
        <p:blipFill>
          <a:blip r:embed="rId3"/>
          <a:srcRect l="8329" t="33999" r="2124" b="22137"/>
          <a:stretch>
            <a:fillRect/>
          </a:stretch>
        </p:blipFill>
        <p:spPr>
          <a:xfrm>
            <a:off x="267144" y="1880561"/>
            <a:ext cx="11422511" cy="3148639"/>
          </a:xfrm>
          <a:prstGeom prst="rect">
            <a:avLst/>
          </a:prstGeom>
        </p:spPr>
      </p:pic>
      <p:sp>
        <p:nvSpPr>
          <p:cNvPr id="31" name="Shape 1">
            <a:extLst>
              <a:ext uri="{FF2B5EF4-FFF2-40B4-BE49-F238E27FC236}">
                <a16:creationId xmlns:a16="http://schemas.microsoft.com/office/drawing/2014/main" id="{E387E06A-47D2-E4C5-491D-961B33B56406}"/>
              </a:ext>
            </a:extLst>
          </p:cNvPr>
          <p:cNvSpPr/>
          <p:nvPr/>
        </p:nvSpPr>
        <p:spPr>
          <a:xfrm>
            <a:off x="491361" y="2299716"/>
            <a:ext cx="1571215" cy="228599"/>
          </a:xfrm>
          <a:prstGeom prst="rect">
            <a:avLst/>
          </a:prstGeom>
          <a:solidFill>
            <a:srgbClr val="FFFFFF"/>
          </a:solidFill>
          <a:ln w="12700">
            <a:solidFill>
              <a:srgbClr val="FFFFFF"/>
            </a:solidFill>
            <a:prstDash val="solid"/>
          </a:ln>
        </p:spPr>
        <p:txBody>
          <a:bodyPr/>
          <a:lstStyle/>
          <a:p>
            <a:endParaRPr lang="it-IT"/>
          </a:p>
        </p:txBody>
      </p:sp>
      <p:sp>
        <p:nvSpPr>
          <p:cNvPr id="32" name="Shape 1">
            <a:extLst>
              <a:ext uri="{FF2B5EF4-FFF2-40B4-BE49-F238E27FC236}">
                <a16:creationId xmlns:a16="http://schemas.microsoft.com/office/drawing/2014/main" id="{A541CB34-A69F-4928-8374-F4203065C94B}"/>
              </a:ext>
            </a:extLst>
          </p:cNvPr>
          <p:cNvSpPr/>
          <p:nvPr/>
        </p:nvSpPr>
        <p:spPr>
          <a:xfrm>
            <a:off x="2832225" y="2283758"/>
            <a:ext cx="1477807" cy="228599"/>
          </a:xfrm>
          <a:prstGeom prst="rect">
            <a:avLst/>
          </a:prstGeom>
          <a:solidFill>
            <a:srgbClr val="FFFFFF"/>
          </a:solidFill>
          <a:ln w="12700">
            <a:solidFill>
              <a:srgbClr val="FFFFFF"/>
            </a:solidFill>
            <a:prstDash val="solid"/>
          </a:ln>
        </p:spPr>
        <p:txBody>
          <a:bodyPr/>
          <a:lstStyle/>
          <a:p>
            <a:endParaRPr lang="it-IT"/>
          </a:p>
        </p:txBody>
      </p:sp>
      <p:sp>
        <p:nvSpPr>
          <p:cNvPr id="33" name="Shape 1">
            <a:extLst>
              <a:ext uri="{FF2B5EF4-FFF2-40B4-BE49-F238E27FC236}">
                <a16:creationId xmlns:a16="http://schemas.microsoft.com/office/drawing/2014/main" id="{EF820F6C-6097-A665-A5A0-D130DFB63B0F}"/>
              </a:ext>
            </a:extLst>
          </p:cNvPr>
          <p:cNvSpPr/>
          <p:nvPr/>
        </p:nvSpPr>
        <p:spPr>
          <a:xfrm>
            <a:off x="5068824" y="2267198"/>
            <a:ext cx="1705103" cy="228599"/>
          </a:xfrm>
          <a:prstGeom prst="rect">
            <a:avLst/>
          </a:prstGeom>
          <a:solidFill>
            <a:srgbClr val="FFFFFF"/>
          </a:solidFill>
          <a:ln w="12700">
            <a:solidFill>
              <a:srgbClr val="FFFFFF"/>
            </a:solidFill>
            <a:prstDash val="solid"/>
          </a:ln>
        </p:spPr>
        <p:txBody>
          <a:bodyPr/>
          <a:lstStyle/>
          <a:p>
            <a:endParaRPr lang="it-IT"/>
          </a:p>
        </p:txBody>
      </p:sp>
      <p:sp>
        <p:nvSpPr>
          <p:cNvPr id="34" name="Shape 1">
            <a:extLst>
              <a:ext uri="{FF2B5EF4-FFF2-40B4-BE49-F238E27FC236}">
                <a16:creationId xmlns:a16="http://schemas.microsoft.com/office/drawing/2014/main" id="{C1DFF1A3-9607-C274-D9AB-839BA671BCAC}"/>
              </a:ext>
            </a:extLst>
          </p:cNvPr>
          <p:cNvSpPr/>
          <p:nvPr/>
        </p:nvSpPr>
        <p:spPr>
          <a:xfrm>
            <a:off x="7336536" y="2308860"/>
            <a:ext cx="1695321" cy="228599"/>
          </a:xfrm>
          <a:prstGeom prst="rect">
            <a:avLst/>
          </a:prstGeom>
          <a:solidFill>
            <a:srgbClr val="FFFFFF"/>
          </a:solidFill>
          <a:ln w="12700">
            <a:solidFill>
              <a:srgbClr val="FFFFFF"/>
            </a:solidFill>
            <a:prstDash val="solid"/>
          </a:ln>
        </p:spPr>
        <p:txBody>
          <a:bodyPr/>
          <a:lstStyle/>
          <a:p>
            <a:endParaRPr lang="it-IT"/>
          </a:p>
        </p:txBody>
      </p:sp>
      <p:sp>
        <p:nvSpPr>
          <p:cNvPr id="35" name="Shape 1">
            <a:extLst>
              <a:ext uri="{FF2B5EF4-FFF2-40B4-BE49-F238E27FC236}">
                <a16:creationId xmlns:a16="http://schemas.microsoft.com/office/drawing/2014/main" id="{969C5F76-9098-2D68-D182-4A021A73CF89}"/>
              </a:ext>
            </a:extLst>
          </p:cNvPr>
          <p:cNvSpPr/>
          <p:nvPr/>
        </p:nvSpPr>
        <p:spPr>
          <a:xfrm>
            <a:off x="9712563" y="2308859"/>
            <a:ext cx="1629046" cy="228599"/>
          </a:xfrm>
          <a:prstGeom prst="rect">
            <a:avLst/>
          </a:prstGeom>
          <a:solidFill>
            <a:srgbClr val="FFFFFF"/>
          </a:solidFill>
          <a:ln w="12700">
            <a:solidFill>
              <a:srgbClr val="FFFFFF"/>
            </a:solidFill>
            <a:prstDash val="solid"/>
          </a:ln>
        </p:spPr>
        <p:txBody>
          <a:bodyPr/>
          <a:lstStyle/>
          <a:p>
            <a:endParaRPr lang="it-IT"/>
          </a:p>
        </p:txBody>
      </p:sp>
      <p:sp>
        <p:nvSpPr>
          <p:cNvPr id="38" name="Text 5">
            <a:extLst>
              <a:ext uri="{FF2B5EF4-FFF2-40B4-BE49-F238E27FC236}">
                <a16:creationId xmlns:a16="http://schemas.microsoft.com/office/drawing/2014/main" id="{72CEE516-D629-A9D5-FEA5-72FD74DDB8B2}"/>
              </a:ext>
            </a:extLst>
          </p:cNvPr>
          <p:cNvSpPr/>
          <p:nvPr/>
        </p:nvSpPr>
        <p:spPr>
          <a:xfrm>
            <a:off x="482569" y="2282209"/>
            <a:ext cx="1647620" cy="274320"/>
          </a:xfrm>
          <a:prstGeom prst="rect">
            <a:avLst/>
          </a:prstGeom>
          <a:noFill/>
          <a:ln/>
        </p:spPr>
        <p:txBody>
          <a:bodyPr wrap="square" lIns="0" tIns="0" rIns="0" bIns="0" rtlCol="0" anchor="ctr"/>
          <a:lstStyle/>
          <a:p>
            <a:pPr marL="0" indent="0">
              <a:buNone/>
            </a:pPr>
            <a:r>
              <a:rPr lang="en-US" sz="1400" b="1" dirty="0">
                <a:solidFill>
                  <a:srgbClr val="0F172A"/>
                </a:solidFill>
              </a:rPr>
              <a:t>1. </a:t>
            </a:r>
            <a:r>
              <a:rPr lang="en-US" sz="1400" b="1" dirty="0" err="1">
                <a:solidFill>
                  <a:srgbClr val="0F172A"/>
                </a:solidFill>
              </a:rPr>
              <a:t>Ingressi</a:t>
            </a:r>
            <a:r>
              <a:rPr lang="en-US" sz="1400" b="1" dirty="0">
                <a:solidFill>
                  <a:srgbClr val="0F172A"/>
                </a:solidFill>
              </a:rPr>
              <a:t> variabili</a:t>
            </a:r>
            <a:endParaRPr lang="en-US" sz="1400" dirty="0"/>
          </a:p>
        </p:txBody>
      </p:sp>
      <p:sp>
        <p:nvSpPr>
          <p:cNvPr id="39" name="Text 5">
            <a:extLst>
              <a:ext uri="{FF2B5EF4-FFF2-40B4-BE49-F238E27FC236}">
                <a16:creationId xmlns:a16="http://schemas.microsoft.com/office/drawing/2014/main" id="{081B0E0A-D338-048B-8467-0017C364C963}"/>
              </a:ext>
            </a:extLst>
          </p:cNvPr>
          <p:cNvSpPr/>
          <p:nvPr/>
        </p:nvSpPr>
        <p:spPr>
          <a:xfrm>
            <a:off x="2806173" y="2386953"/>
            <a:ext cx="1815688" cy="171124"/>
          </a:xfrm>
          <a:prstGeom prst="rect">
            <a:avLst/>
          </a:prstGeom>
          <a:noFill/>
          <a:ln/>
        </p:spPr>
        <p:txBody>
          <a:bodyPr wrap="square" lIns="0" tIns="0" rIns="0" bIns="0" rtlCol="0" anchor="ctr"/>
          <a:lstStyle/>
          <a:p>
            <a:r>
              <a:rPr lang="en-US" sz="1400" b="1" dirty="0">
                <a:solidFill>
                  <a:srgbClr val="0F172A"/>
                </a:solidFill>
              </a:rPr>
              <a:t>2. </a:t>
            </a:r>
            <a:r>
              <a:rPr lang="en-US" sz="1400" b="1" dirty="0" err="1"/>
              <a:t>Costruzione</a:t>
            </a:r>
            <a:r>
              <a:rPr lang="en-US" sz="1400" b="1" dirty="0"/>
              <a:t> delle </a:t>
            </a:r>
            <a:r>
              <a:rPr lang="en-US" sz="1400" b="1" dirty="0" err="1"/>
              <a:t>previsioni</a:t>
            </a:r>
            <a:endParaRPr lang="en-US" sz="1400" b="1" dirty="0"/>
          </a:p>
        </p:txBody>
      </p:sp>
      <p:pic>
        <p:nvPicPr>
          <p:cNvPr id="41" name="Immagine 40">
            <a:extLst>
              <a:ext uri="{FF2B5EF4-FFF2-40B4-BE49-F238E27FC236}">
                <a16:creationId xmlns:a16="http://schemas.microsoft.com/office/drawing/2014/main" id="{BACC76C7-3B02-423D-8B18-6BE6BB8F61BC}"/>
              </a:ext>
            </a:extLst>
          </p:cNvPr>
          <p:cNvPicPr>
            <a:picLocks noChangeAspect="1"/>
          </p:cNvPicPr>
          <p:nvPr/>
        </p:nvPicPr>
        <p:blipFill>
          <a:blip r:embed="rId4"/>
          <a:stretch>
            <a:fillRect/>
          </a:stretch>
        </p:blipFill>
        <p:spPr>
          <a:xfrm>
            <a:off x="416539" y="2832516"/>
            <a:ext cx="1713650" cy="213182"/>
          </a:xfrm>
          <a:prstGeom prst="rect">
            <a:avLst/>
          </a:prstGeom>
        </p:spPr>
      </p:pic>
      <p:pic>
        <p:nvPicPr>
          <p:cNvPr id="43" name="Immagine 42">
            <a:extLst>
              <a:ext uri="{FF2B5EF4-FFF2-40B4-BE49-F238E27FC236}">
                <a16:creationId xmlns:a16="http://schemas.microsoft.com/office/drawing/2014/main" id="{C4E0DC11-B0EE-969B-B29B-7EE53A03743B}"/>
              </a:ext>
            </a:extLst>
          </p:cNvPr>
          <p:cNvPicPr>
            <a:picLocks noChangeAspect="1"/>
          </p:cNvPicPr>
          <p:nvPr/>
        </p:nvPicPr>
        <p:blipFill>
          <a:blip r:embed="rId5"/>
          <a:stretch>
            <a:fillRect/>
          </a:stretch>
        </p:blipFill>
        <p:spPr>
          <a:xfrm>
            <a:off x="416539" y="3008335"/>
            <a:ext cx="1713650" cy="502961"/>
          </a:xfrm>
          <a:prstGeom prst="rect">
            <a:avLst/>
          </a:prstGeom>
        </p:spPr>
      </p:pic>
      <p:pic>
        <p:nvPicPr>
          <p:cNvPr id="44" name="Immagine 43">
            <a:extLst>
              <a:ext uri="{FF2B5EF4-FFF2-40B4-BE49-F238E27FC236}">
                <a16:creationId xmlns:a16="http://schemas.microsoft.com/office/drawing/2014/main" id="{C1D8F0A3-8271-CD74-D8AA-70C22A7B139E}"/>
              </a:ext>
            </a:extLst>
          </p:cNvPr>
          <p:cNvPicPr>
            <a:picLocks noChangeAspect="1"/>
          </p:cNvPicPr>
          <p:nvPr/>
        </p:nvPicPr>
        <p:blipFill>
          <a:blip r:embed="rId5"/>
          <a:stretch>
            <a:fillRect/>
          </a:stretch>
        </p:blipFill>
        <p:spPr>
          <a:xfrm>
            <a:off x="2680227" y="2691422"/>
            <a:ext cx="1713650" cy="868680"/>
          </a:xfrm>
          <a:prstGeom prst="rect">
            <a:avLst/>
          </a:prstGeom>
        </p:spPr>
      </p:pic>
      <p:pic>
        <p:nvPicPr>
          <p:cNvPr id="46" name="Immagine 45">
            <a:extLst>
              <a:ext uri="{FF2B5EF4-FFF2-40B4-BE49-F238E27FC236}">
                <a16:creationId xmlns:a16="http://schemas.microsoft.com/office/drawing/2014/main" id="{7C6E87F4-73B2-61BA-12DB-8393CDA988D6}"/>
              </a:ext>
            </a:extLst>
          </p:cNvPr>
          <p:cNvPicPr>
            <a:picLocks noChangeAspect="1"/>
          </p:cNvPicPr>
          <p:nvPr/>
        </p:nvPicPr>
        <p:blipFill>
          <a:blip r:embed="rId6"/>
          <a:srcRect r="28873"/>
          <a:stretch>
            <a:fillRect/>
          </a:stretch>
        </p:blipFill>
        <p:spPr>
          <a:xfrm>
            <a:off x="2809271" y="2769434"/>
            <a:ext cx="1571975" cy="276264"/>
          </a:xfrm>
          <a:prstGeom prst="rect">
            <a:avLst/>
          </a:prstGeom>
        </p:spPr>
      </p:pic>
      <p:pic>
        <p:nvPicPr>
          <p:cNvPr id="48" name="Immagine 47">
            <a:extLst>
              <a:ext uri="{FF2B5EF4-FFF2-40B4-BE49-F238E27FC236}">
                <a16:creationId xmlns:a16="http://schemas.microsoft.com/office/drawing/2014/main" id="{BDE124BE-4784-FB4A-298E-EC72C53103DE}"/>
              </a:ext>
            </a:extLst>
          </p:cNvPr>
          <p:cNvPicPr>
            <a:picLocks noChangeAspect="1"/>
          </p:cNvPicPr>
          <p:nvPr/>
        </p:nvPicPr>
        <p:blipFill>
          <a:blip r:embed="rId7"/>
          <a:stretch>
            <a:fillRect/>
          </a:stretch>
        </p:blipFill>
        <p:spPr>
          <a:xfrm>
            <a:off x="3237706" y="3034264"/>
            <a:ext cx="666843" cy="200053"/>
          </a:xfrm>
          <a:prstGeom prst="rect">
            <a:avLst/>
          </a:prstGeom>
        </p:spPr>
      </p:pic>
      <p:pic>
        <p:nvPicPr>
          <p:cNvPr id="50" name="Immagine 49">
            <a:extLst>
              <a:ext uri="{FF2B5EF4-FFF2-40B4-BE49-F238E27FC236}">
                <a16:creationId xmlns:a16="http://schemas.microsoft.com/office/drawing/2014/main" id="{92EB135A-0DC4-DE06-A4E8-C87589666684}"/>
              </a:ext>
            </a:extLst>
          </p:cNvPr>
          <p:cNvPicPr>
            <a:picLocks noChangeAspect="1"/>
          </p:cNvPicPr>
          <p:nvPr/>
        </p:nvPicPr>
        <p:blipFill>
          <a:blip r:embed="rId8"/>
          <a:stretch>
            <a:fillRect/>
          </a:stretch>
        </p:blipFill>
        <p:spPr>
          <a:xfrm>
            <a:off x="5068824" y="2852721"/>
            <a:ext cx="1638529" cy="238158"/>
          </a:xfrm>
          <a:prstGeom prst="rect">
            <a:avLst/>
          </a:prstGeom>
        </p:spPr>
      </p:pic>
      <p:pic>
        <p:nvPicPr>
          <p:cNvPr id="52" name="Immagine 51">
            <a:extLst>
              <a:ext uri="{FF2B5EF4-FFF2-40B4-BE49-F238E27FC236}">
                <a16:creationId xmlns:a16="http://schemas.microsoft.com/office/drawing/2014/main" id="{6B183B07-EE01-AB3A-FB2D-4020F60E8896}"/>
              </a:ext>
            </a:extLst>
          </p:cNvPr>
          <p:cNvPicPr>
            <a:picLocks noChangeAspect="1"/>
          </p:cNvPicPr>
          <p:nvPr/>
        </p:nvPicPr>
        <p:blipFill>
          <a:blip r:embed="rId9"/>
          <a:stretch>
            <a:fillRect/>
          </a:stretch>
        </p:blipFill>
        <p:spPr>
          <a:xfrm>
            <a:off x="5208457" y="3096565"/>
            <a:ext cx="1352739" cy="200053"/>
          </a:xfrm>
          <a:prstGeom prst="rect">
            <a:avLst/>
          </a:prstGeom>
        </p:spPr>
      </p:pic>
      <p:sp>
        <p:nvSpPr>
          <p:cNvPr id="53" name="Text 5">
            <a:extLst>
              <a:ext uri="{FF2B5EF4-FFF2-40B4-BE49-F238E27FC236}">
                <a16:creationId xmlns:a16="http://schemas.microsoft.com/office/drawing/2014/main" id="{16A7C164-C9B2-CF9C-B2C1-4D9C43E8A0DA}"/>
              </a:ext>
            </a:extLst>
          </p:cNvPr>
          <p:cNvSpPr/>
          <p:nvPr/>
        </p:nvSpPr>
        <p:spPr>
          <a:xfrm>
            <a:off x="4975562" y="2331720"/>
            <a:ext cx="1921644" cy="252805"/>
          </a:xfrm>
          <a:prstGeom prst="rect">
            <a:avLst/>
          </a:prstGeom>
          <a:noFill/>
          <a:ln/>
        </p:spPr>
        <p:txBody>
          <a:bodyPr wrap="square" lIns="0" tIns="0" rIns="0" bIns="0" rtlCol="0" anchor="ctr"/>
          <a:lstStyle/>
          <a:p>
            <a:r>
              <a:rPr lang="en-US" sz="1400" b="1" dirty="0">
                <a:solidFill>
                  <a:srgbClr val="0F172A"/>
                </a:solidFill>
              </a:rPr>
              <a:t>3. </a:t>
            </a:r>
            <a:r>
              <a:rPr lang="en-US" sz="1400" b="1" dirty="0" err="1"/>
              <a:t>Risoluzione</a:t>
            </a:r>
            <a:r>
              <a:rPr lang="en-US" sz="1400" b="1" dirty="0"/>
              <a:t> del MILP</a:t>
            </a:r>
          </a:p>
        </p:txBody>
      </p:sp>
      <p:pic>
        <p:nvPicPr>
          <p:cNvPr id="55" name="Immagine 54">
            <a:extLst>
              <a:ext uri="{FF2B5EF4-FFF2-40B4-BE49-F238E27FC236}">
                <a16:creationId xmlns:a16="http://schemas.microsoft.com/office/drawing/2014/main" id="{DFA4AAE4-9920-2641-CA76-C4A92E9BB257}"/>
              </a:ext>
            </a:extLst>
          </p:cNvPr>
          <p:cNvPicPr>
            <a:picLocks noChangeAspect="1"/>
          </p:cNvPicPr>
          <p:nvPr/>
        </p:nvPicPr>
        <p:blipFill>
          <a:blip r:embed="rId10"/>
          <a:stretch>
            <a:fillRect/>
          </a:stretch>
        </p:blipFill>
        <p:spPr>
          <a:xfrm>
            <a:off x="7387126" y="2854082"/>
            <a:ext cx="1562318" cy="219106"/>
          </a:xfrm>
          <a:prstGeom prst="rect">
            <a:avLst/>
          </a:prstGeom>
        </p:spPr>
      </p:pic>
      <p:pic>
        <p:nvPicPr>
          <p:cNvPr id="57" name="Immagine 56">
            <a:extLst>
              <a:ext uri="{FF2B5EF4-FFF2-40B4-BE49-F238E27FC236}">
                <a16:creationId xmlns:a16="http://schemas.microsoft.com/office/drawing/2014/main" id="{359E55DF-8AA1-AE8B-2CA8-E5345DDC61E0}"/>
              </a:ext>
            </a:extLst>
          </p:cNvPr>
          <p:cNvPicPr>
            <a:picLocks noChangeAspect="1"/>
          </p:cNvPicPr>
          <p:nvPr/>
        </p:nvPicPr>
        <p:blipFill>
          <a:blip r:embed="rId11"/>
          <a:stretch>
            <a:fillRect/>
          </a:stretch>
        </p:blipFill>
        <p:spPr>
          <a:xfrm>
            <a:off x="7444284" y="3073156"/>
            <a:ext cx="1448002" cy="228632"/>
          </a:xfrm>
          <a:prstGeom prst="rect">
            <a:avLst/>
          </a:prstGeom>
        </p:spPr>
      </p:pic>
      <p:sp>
        <p:nvSpPr>
          <p:cNvPr id="58" name="Text 5">
            <a:extLst>
              <a:ext uri="{FF2B5EF4-FFF2-40B4-BE49-F238E27FC236}">
                <a16:creationId xmlns:a16="http://schemas.microsoft.com/office/drawing/2014/main" id="{63A3E1AE-2D74-BE47-4685-0233CE6669F5}"/>
              </a:ext>
            </a:extLst>
          </p:cNvPr>
          <p:cNvSpPr/>
          <p:nvPr/>
        </p:nvSpPr>
        <p:spPr>
          <a:xfrm>
            <a:off x="7292033" y="2361799"/>
            <a:ext cx="1855015" cy="252804"/>
          </a:xfrm>
          <a:prstGeom prst="rect">
            <a:avLst/>
          </a:prstGeom>
          <a:noFill/>
          <a:ln/>
        </p:spPr>
        <p:txBody>
          <a:bodyPr wrap="square" lIns="0" tIns="0" rIns="0" bIns="0" rtlCol="0" anchor="ctr"/>
          <a:lstStyle/>
          <a:p>
            <a:r>
              <a:rPr lang="en-US" sz="1400" b="1" dirty="0">
                <a:solidFill>
                  <a:srgbClr val="0F172A"/>
                </a:solidFill>
              </a:rPr>
              <a:t>4. </a:t>
            </a:r>
            <a:r>
              <a:rPr lang="en-US" sz="1400" b="1" dirty="0" err="1"/>
              <a:t>Applicazione</a:t>
            </a:r>
            <a:r>
              <a:rPr lang="en-US" sz="1400" b="1" dirty="0"/>
              <a:t> della prima azione</a:t>
            </a:r>
          </a:p>
        </p:txBody>
      </p:sp>
      <p:pic>
        <p:nvPicPr>
          <p:cNvPr id="62" name="Immagine 61">
            <a:extLst>
              <a:ext uri="{FF2B5EF4-FFF2-40B4-BE49-F238E27FC236}">
                <a16:creationId xmlns:a16="http://schemas.microsoft.com/office/drawing/2014/main" id="{75927E5C-A971-3983-A9DD-FC4EB3459986}"/>
              </a:ext>
            </a:extLst>
          </p:cNvPr>
          <p:cNvPicPr>
            <a:picLocks noChangeAspect="1"/>
          </p:cNvPicPr>
          <p:nvPr/>
        </p:nvPicPr>
        <p:blipFill>
          <a:blip r:embed="rId12"/>
          <a:stretch>
            <a:fillRect/>
          </a:stretch>
        </p:blipFill>
        <p:spPr>
          <a:xfrm>
            <a:off x="9582912" y="2839342"/>
            <a:ext cx="1838582" cy="247685"/>
          </a:xfrm>
          <a:prstGeom prst="rect">
            <a:avLst/>
          </a:prstGeom>
        </p:spPr>
      </p:pic>
      <p:pic>
        <p:nvPicPr>
          <p:cNvPr id="64" name="Immagine 63">
            <a:extLst>
              <a:ext uri="{FF2B5EF4-FFF2-40B4-BE49-F238E27FC236}">
                <a16:creationId xmlns:a16="http://schemas.microsoft.com/office/drawing/2014/main" id="{46CA4E74-2F53-0E95-01C1-81A6D4EB9A75}"/>
              </a:ext>
            </a:extLst>
          </p:cNvPr>
          <p:cNvPicPr>
            <a:picLocks noChangeAspect="1"/>
          </p:cNvPicPr>
          <p:nvPr/>
        </p:nvPicPr>
        <p:blipFill>
          <a:blip r:embed="rId13"/>
          <a:stretch>
            <a:fillRect/>
          </a:stretch>
        </p:blipFill>
        <p:spPr>
          <a:xfrm>
            <a:off x="10084111" y="3073156"/>
            <a:ext cx="885949" cy="228632"/>
          </a:xfrm>
          <a:prstGeom prst="rect">
            <a:avLst/>
          </a:prstGeom>
        </p:spPr>
      </p:pic>
      <p:sp>
        <p:nvSpPr>
          <p:cNvPr id="65" name="Text 5">
            <a:extLst>
              <a:ext uri="{FF2B5EF4-FFF2-40B4-BE49-F238E27FC236}">
                <a16:creationId xmlns:a16="http://schemas.microsoft.com/office/drawing/2014/main" id="{059633C7-F6D1-1892-9E92-329F091887B6}"/>
              </a:ext>
            </a:extLst>
          </p:cNvPr>
          <p:cNvSpPr/>
          <p:nvPr/>
        </p:nvSpPr>
        <p:spPr>
          <a:xfrm>
            <a:off x="9709657" y="2290704"/>
            <a:ext cx="1705103" cy="457198"/>
          </a:xfrm>
          <a:prstGeom prst="rect">
            <a:avLst/>
          </a:prstGeom>
          <a:noFill/>
          <a:ln/>
        </p:spPr>
        <p:txBody>
          <a:bodyPr wrap="square" lIns="0" tIns="0" rIns="0" bIns="0" rtlCol="0" anchor="ctr"/>
          <a:lstStyle/>
          <a:p>
            <a:r>
              <a:rPr lang="en-US" sz="1400" b="1" dirty="0">
                <a:solidFill>
                  <a:srgbClr val="0F172A"/>
                </a:solidFill>
              </a:rPr>
              <a:t>5. </a:t>
            </a:r>
            <a:r>
              <a:rPr lang="en-US" sz="1400" b="1" dirty="0" err="1"/>
              <a:t>Scorrimento</a:t>
            </a:r>
            <a:r>
              <a:rPr lang="en-US" sz="1400" b="1" dirty="0"/>
              <a:t> </a:t>
            </a:r>
            <a:r>
              <a:rPr lang="en-US" sz="1400" b="1" dirty="0" err="1"/>
              <a:t>dell’orizzonte</a:t>
            </a:r>
            <a:endParaRPr lang="en-US" sz="1400" b="1" dirty="0"/>
          </a:p>
        </p:txBody>
      </p:sp>
      <p:pic>
        <p:nvPicPr>
          <p:cNvPr id="67" name="Immagine 66">
            <a:extLst>
              <a:ext uri="{FF2B5EF4-FFF2-40B4-BE49-F238E27FC236}">
                <a16:creationId xmlns:a16="http://schemas.microsoft.com/office/drawing/2014/main" id="{14638554-86E2-8B40-0DF2-22733C03B2DC}"/>
              </a:ext>
            </a:extLst>
          </p:cNvPr>
          <p:cNvPicPr>
            <a:picLocks noChangeAspect="1"/>
          </p:cNvPicPr>
          <p:nvPr/>
        </p:nvPicPr>
        <p:blipFill>
          <a:blip r:embed="rId14"/>
          <a:stretch>
            <a:fillRect/>
          </a:stretch>
        </p:blipFill>
        <p:spPr>
          <a:xfrm>
            <a:off x="3190355" y="4125723"/>
            <a:ext cx="5644578" cy="246682"/>
          </a:xfrm>
          <a:prstGeom prst="rect">
            <a:avLst/>
          </a:prstGeom>
        </p:spPr>
      </p:pic>
      <mc:AlternateContent xmlns:mc="http://schemas.openxmlformats.org/markup-compatibility/2006" xmlns:p14="http://schemas.microsoft.com/office/powerpoint/2010/main">
        <mc:Choice Requires="p14">
          <p:contentPart p14:bwMode="auto" r:id="rId15">
            <p14:nvContentPartPr>
              <p14:cNvPr id="68" name="Input penna 67">
                <a:extLst>
                  <a:ext uri="{FF2B5EF4-FFF2-40B4-BE49-F238E27FC236}">
                    <a16:creationId xmlns:a16="http://schemas.microsoft.com/office/drawing/2014/main" id="{474B66ED-0701-8E58-9B3D-E03720C29AC9}"/>
                  </a:ext>
                </a:extLst>
              </p14:cNvPr>
              <p14:cNvContentPartPr/>
              <p14:nvPr/>
            </p14:nvContentPartPr>
            <p14:xfrm>
              <a:off x="2809170" y="4206446"/>
              <a:ext cx="439200" cy="101160"/>
            </p14:xfrm>
          </p:contentPart>
        </mc:Choice>
        <mc:Fallback xmlns="">
          <p:pic>
            <p:nvPicPr>
              <p:cNvPr id="68" name="Input penna 67">
                <a:extLst>
                  <a:ext uri="{FF2B5EF4-FFF2-40B4-BE49-F238E27FC236}">
                    <a16:creationId xmlns:a16="http://schemas.microsoft.com/office/drawing/2014/main" id="{474B66ED-0701-8E58-9B3D-E03720C29AC9}"/>
                  </a:ext>
                </a:extLst>
              </p:cNvPr>
              <p:cNvPicPr/>
              <p:nvPr/>
            </p:nvPicPr>
            <p:blipFill>
              <a:blip r:embed="rId16"/>
              <a:stretch>
                <a:fillRect/>
              </a:stretch>
            </p:blipFill>
            <p:spPr>
              <a:xfrm>
                <a:off x="2773170" y="4170806"/>
                <a:ext cx="510840" cy="1728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0398" y="190194"/>
            <a:ext cx="10972800" cy="411480"/>
          </a:xfrm>
          <a:prstGeom prst="rect">
            <a:avLst/>
          </a:prstGeom>
          <a:noFill/>
          <a:ln/>
        </p:spPr>
        <p:txBody>
          <a:bodyPr wrap="square" lIns="0" tIns="0" rIns="0" bIns="0" rtlCol="0" anchor="ctr"/>
          <a:lstStyle/>
          <a:p>
            <a:r>
              <a:rPr lang="en-US" sz="2800" b="1" dirty="0" err="1"/>
              <a:t>Formulazione</a:t>
            </a:r>
            <a:r>
              <a:rPr lang="en-US" sz="2800" b="1" dirty="0"/>
              <a:t> </a:t>
            </a:r>
            <a:r>
              <a:rPr lang="en-US" sz="2800" b="1" dirty="0" err="1"/>
              <a:t>Pyomo</a:t>
            </a:r>
            <a:r>
              <a:rPr lang="en-US" sz="2800" b="1" dirty="0"/>
              <a:t> del </a:t>
            </a:r>
            <a:r>
              <a:rPr lang="en-US" sz="2800" b="1" dirty="0" err="1"/>
              <a:t>modello</a:t>
            </a:r>
            <a:r>
              <a:rPr lang="en-US" sz="2800" b="1" dirty="0"/>
              <a:t> MILP</a:t>
            </a:r>
          </a:p>
        </p:txBody>
      </p:sp>
      <p:sp>
        <p:nvSpPr>
          <p:cNvPr id="3" name="Text 1"/>
          <p:cNvSpPr/>
          <p:nvPr/>
        </p:nvSpPr>
        <p:spPr>
          <a:xfrm>
            <a:off x="621792" y="804672"/>
            <a:ext cx="11360658" cy="274320"/>
          </a:xfrm>
          <a:prstGeom prst="rect">
            <a:avLst/>
          </a:prstGeom>
          <a:noFill/>
          <a:ln/>
        </p:spPr>
        <p:txBody>
          <a:bodyPr wrap="square" lIns="0" tIns="0" rIns="0" bIns="0" rtlCol="0" anchor="ctr"/>
          <a:lstStyle/>
          <a:p>
            <a:r>
              <a:rPr lang="en-US" sz="1400" dirty="0" err="1"/>
              <a:t>ConcreteModel</a:t>
            </a:r>
            <a:r>
              <a:rPr lang="en-US" sz="1400" dirty="0"/>
              <a:t> con </a:t>
            </a:r>
            <a:r>
              <a:rPr lang="en-US" sz="1400" dirty="0" err="1"/>
              <a:t>orizzonte</a:t>
            </a:r>
            <a:r>
              <a:rPr lang="en-US" sz="1400" dirty="0"/>
              <a:t> di 24 ore, tempo di </a:t>
            </a:r>
            <a:r>
              <a:rPr lang="en-US" sz="1400" dirty="0" err="1"/>
              <a:t>campionamento</a:t>
            </a:r>
            <a:r>
              <a:rPr lang="en-US" sz="1400" dirty="0"/>
              <a:t> di 1 ora, </a:t>
            </a:r>
            <a:r>
              <a:rPr lang="en-US" sz="1400" dirty="0" err="1"/>
              <a:t>variabili</a:t>
            </a:r>
            <a:r>
              <a:rPr lang="en-US" sz="1400" dirty="0"/>
              <a:t> continue di </a:t>
            </a:r>
            <a:r>
              <a:rPr lang="en-US" sz="1400" dirty="0" err="1"/>
              <a:t>potenza</a:t>
            </a:r>
            <a:r>
              <a:rPr lang="en-US" sz="1400" dirty="0"/>
              <a:t>/</a:t>
            </a:r>
            <a:r>
              <a:rPr lang="en-US" sz="1400" dirty="0" err="1"/>
              <a:t>stato</a:t>
            </a:r>
            <a:r>
              <a:rPr lang="en-US" sz="1400" dirty="0"/>
              <a:t> e </a:t>
            </a:r>
            <a:r>
              <a:rPr lang="en-US" sz="1400" dirty="0" err="1"/>
              <a:t>logiche</a:t>
            </a:r>
            <a:r>
              <a:rPr lang="en-US" sz="1400" dirty="0"/>
              <a:t> </a:t>
            </a:r>
            <a:r>
              <a:rPr lang="en-US" sz="1400" dirty="0" err="1"/>
              <a:t>binarie</a:t>
            </a:r>
            <a:r>
              <a:rPr lang="en-US" sz="1400" dirty="0"/>
              <a:t> di </a:t>
            </a:r>
            <a:r>
              <a:rPr lang="en-US" sz="1400" dirty="0" err="1"/>
              <a:t>funzionamento</a:t>
            </a:r>
            <a:r>
              <a:rPr lang="en-US" sz="1400" dirty="0"/>
              <a:t>.</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640080" y="1463040"/>
            <a:ext cx="3429000" cy="4160520"/>
          </a:xfrm>
          <a:prstGeom prst="roundRect">
            <a:avLst>
              <a:gd name="adj" fmla="val 2133"/>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6" name="Shape 4"/>
          <p:cNvSpPr/>
          <p:nvPr/>
        </p:nvSpPr>
        <p:spPr>
          <a:xfrm>
            <a:off x="640080" y="1463040"/>
            <a:ext cx="64008" cy="4160520"/>
          </a:xfrm>
          <a:prstGeom prst="rect">
            <a:avLst/>
          </a:prstGeom>
          <a:solidFill>
            <a:srgbClr val="2563EB"/>
          </a:solidFill>
          <a:ln w="12700">
            <a:solidFill>
              <a:srgbClr val="2563EB"/>
            </a:solidFill>
            <a:prstDash val="solid"/>
          </a:ln>
        </p:spPr>
        <p:txBody>
          <a:bodyPr/>
          <a:lstStyle/>
          <a:p>
            <a:endParaRPr lang="it-IT"/>
          </a:p>
        </p:txBody>
      </p:sp>
      <p:sp>
        <p:nvSpPr>
          <p:cNvPr id="7" name="Text 5"/>
          <p:cNvSpPr/>
          <p:nvPr/>
        </p:nvSpPr>
        <p:spPr>
          <a:xfrm>
            <a:off x="868680" y="1645920"/>
            <a:ext cx="3017520" cy="274320"/>
          </a:xfrm>
          <a:prstGeom prst="rect">
            <a:avLst/>
          </a:prstGeom>
          <a:noFill/>
          <a:ln/>
        </p:spPr>
        <p:txBody>
          <a:bodyPr wrap="square" lIns="0" tIns="0" rIns="0" bIns="0" rtlCol="0" anchor="ctr"/>
          <a:lstStyle/>
          <a:p>
            <a:pPr marL="0" indent="0">
              <a:buNone/>
            </a:pPr>
            <a:r>
              <a:rPr lang="en-US" sz="1500" b="1" dirty="0">
                <a:solidFill>
                  <a:srgbClr val="0F172A"/>
                </a:solidFill>
              </a:rPr>
              <a:t>Variabili</a:t>
            </a:r>
            <a:endParaRPr lang="en-US" sz="1500" dirty="0"/>
          </a:p>
        </p:txBody>
      </p:sp>
      <p:sp>
        <p:nvSpPr>
          <p:cNvPr id="8" name="Text 6"/>
          <p:cNvSpPr/>
          <p:nvPr/>
        </p:nvSpPr>
        <p:spPr>
          <a:xfrm>
            <a:off x="868680" y="2121408"/>
            <a:ext cx="3017520" cy="3383280"/>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Flussi di potenza</a:t>
            </a:r>
            <a:endParaRPr lang="en-US" sz="1200" dirty="0"/>
          </a:p>
          <a:p>
            <a:pPr marL="0" indent="0">
              <a:buNone/>
            </a:pPr>
            <a:r>
              <a:rPr lang="en-US" sz="1200" dirty="0">
                <a:solidFill>
                  <a:srgbClr val="5B677A"/>
                </a:solidFill>
              </a:rPr>
              <a:t>Rete, PV, BESS, DG</a:t>
            </a:r>
            <a:endParaRPr lang="en-US" sz="1200" dirty="0"/>
          </a:p>
          <a:p>
            <a:pPr marL="0" indent="0">
              <a:buNone/>
            </a:pPr>
            <a:r>
              <a:rPr lang="en-US" sz="1200" dirty="0">
                <a:solidFill>
                  <a:srgbClr val="5B677A"/>
                </a:solidFill>
              </a:rPr>
              <a:t>HVAC, PEV, HSS</a:t>
            </a:r>
            <a:endParaRPr lang="en-US" sz="1200" dirty="0"/>
          </a:p>
          <a:p>
            <a:pPr marL="0" indent="0">
              <a:buNone/>
            </a:pPr>
            <a:endParaRPr lang="en-US" sz="1200" dirty="0"/>
          </a:p>
          <a:p>
            <a:pPr marL="0" indent="0">
              <a:buNone/>
            </a:pPr>
            <a:r>
              <a:rPr lang="en-US" sz="1200" dirty="0">
                <a:solidFill>
                  <a:srgbClr val="5B677A"/>
                </a:solidFill>
              </a:rPr>
              <a:t>Stati dinamici</a:t>
            </a:r>
            <a:endParaRPr lang="en-US" sz="1200" dirty="0"/>
          </a:p>
          <a:p>
            <a:pPr marL="0" indent="0">
              <a:buNone/>
            </a:pPr>
            <a:r>
              <a:rPr lang="en-US" sz="1200" dirty="0">
                <a:solidFill>
                  <a:srgbClr val="5B677A"/>
                </a:solidFill>
              </a:rPr>
              <a:t>SoC batteria, SoH idrogeno, temperatura interna</a:t>
            </a:r>
            <a:endParaRPr lang="en-US" sz="1200" dirty="0"/>
          </a:p>
        </p:txBody>
      </p:sp>
      <p:sp>
        <p:nvSpPr>
          <p:cNvPr id="9" name="Shape 7"/>
          <p:cNvSpPr/>
          <p:nvPr/>
        </p:nvSpPr>
        <p:spPr>
          <a:xfrm>
            <a:off x="4389120" y="1463040"/>
            <a:ext cx="3429000" cy="4160520"/>
          </a:xfrm>
          <a:prstGeom prst="roundRect">
            <a:avLst>
              <a:gd name="adj" fmla="val 2133"/>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0" name="Shape 8"/>
          <p:cNvSpPr/>
          <p:nvPr/>
        </p:nvSpPr>
        <p:spPr>
          <a:xfrm>
            <a:off x="4389120" y="1463040"/>
            <a:ext cx="64008" cy="4160520"/>
          </a:xfrm>
          <a:prstGeom prst="rect">
            <a:avLst/>
          </a:prstGeom>
          <a:solidFill>
            <a:srgbClr val="7C3AED"/>
          </a:solidFill>
          <a:ln w="12700">
            <a:solidFill>
              <a:srgbClr val="7C3AED"/>
            </a:solidFill>
            <a:prstDash val="solid"/>
          </a:ln>
        </p:spPr>
        <p:txBody>
          <a:bodyPr/>
          <a:lstStyle/>
          <a:p>
            <a:endParaRPr lang="it-IT"/>
          </a:p>
        </p:txBody>
      </p:sp>
      <p:sp>
        <p:nvSpPr>
          <p:cNvPr id="11" name="Text 9"/>
          <p:cNvSpPr/>
          <p:nvPr/>
        </p:nvSpPr>
        <p:spPr>
          <a:xfrm>
            <a:off x="4617720" y="1645920"/>
            <a:ext cx="3017520" cy="274320"/>
          </a:xfrm>
          <a:prstGeom prst="rect">
            <a:avLst/>
          </a:prstGeom>
          <a:noFill/>
          <a:ln/>
        </p:spPr>
        <p:txBody>
          <a:bodyPr wrap="square" lIns="0" tIns="0" rIns="0" bIns="0" rtlCol="0" anchor="ctr"/>
          <a:lstStyle/>
          <a:p>
            <a:pPr marL="0" indent="0">
              <a:buNone/>
            </a:pPr>
            <a:r>
              <a:rPr lang="en-US" sz="1500" b="1" dirty="0">
                <a:solidFill>
                  <a:srgbClr val="0F172A"/>
                </a:solidFill>
              </a:rPr>
              <a:t>Variabili binarie</a:t>
            </a:r>
            <a:endParaRPr lang="en-US" sz="1500" dirty="0"/>
          </a:p>
        </p:txBody>
      </p:sp>
      <p:sp>
        <p:nvSpPr>
          <p:cNvPr id="12" name="Text 10"/>
          <p:cNvSpPr/>
          <p:nvPr/>
        </p:nvSpPr>
        <p:spPr>
          <a:xfrm>
            <a:off x="4617720" y="2121408"/>
            <a:ext cx="3017520" cy="3383280"/>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Impediscono simultaneità non fisiche:</a:t>
            </a:r>
            <a:endParaRPr lang="en-US" sz="1200" dirty="0"/>
          </a:p>
          <a:p>
            <a:pPr marL="0" indent="0">
              <a:buNone/>
            </a:pPr>
            <a:endParaRPr lang="en-US" sz="1200" dirty="0"/>
          </a:p>
          <a:p>
            <a:pPr marL="0" indent="0">
              <a:buNone/>
            </a:pPr>
            <a:r>
              <a:rPr lang="en-US" sz="1200" dirty="0">
                <a:solidFill>
                  <a:srgbClr val="5B677A"/>
                </a:solidFill>
              </a:rPr>
              <a:t>import/export</a:t>
            </a:r>
            <a:endParaRPr lang="en-US" sz="1200" dirty="0"/>
          </a:p>
          <a:p>
            <a:pPr marL="0" indent="0">
              <a:buNone/>
            </a:pPr>
            <a:r>
              <a:rPr lang="en-US" sz="1200" dirty="0">
                <a:solidFill>
                  <a:srgbClr val="5B677A"/>
                </a:solidFill>
              </a:rPr>
              <a:t>carica/scarica</a:t>
            </a:r>
            <a:endParaRPr lang="en-US" sz="1200" dirty="0"/>
          </a:p>
          <a:p>
            <a:pPr marL="0" indent="0">
              <a:buNone/>
            </a:pPr>
            <a:r>
              <a:rPr lang="en-US" sz="1200" dirty="0">
                <a:solidFill>
                  <a:srgbClr val="5B677A"/>
                </a:solidFill>
              </a:rPr>
              <a:t>caldo/freddo</a:t>
            </a:r>
            <a:endParaRPr lang="en-US" sz="1200" dirty="0"/>
          </a:p>
          <a:p>
            <a:pPr marL="0" indent="0">
              <a:buNone/>
            </a:pPr>
            <a:r>
              <a:rPr lang="en-US" sz="1200" dirty="0">
                <a:solidFill>
                  <a:srgbClr val="5B677A"/>
                </a:solidFill>
              </a:rPr>
              <a:t>fuel cell/elettrolizzatore</a:t>
            </a:r>
            <a:endParaRPr lang="en-US" sz="1200" dirty="0"/>
          </a:p>
        </p:txBody>
      </p:sp>
      <p:sp>
        <p:nvSpPr>
          <p:cNvPr id="13" name="Shape 11"/>
          <p:cNvSpPr/>
          <p:nvPr/>
        </p:nvSpPr>
        <p:spPr>
          <a:xfrm>
            <a:off x="8138160" y="1463040"/>
            <a:ext cx="3429000" cy="4160520"/>
          </a:xfrm>
          <a:prstGeom prst="roundRect">
            <a:avLst>
              <a:gd name="adj" fmla="val 2133"/>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4" name="Shape 12"/>
          <p:cNvSpPr/>
          <p:nvPr/>
        </p:nvSpPr>
        <p:spPr>
          <a:xfrm>
            <a:off x="8138160" y="1463040"/>
            <a:ext cx="64008" cy="4160520"/>
          </a:xfrm>
          <a:prstGeom prst="rect">
            <a:avLst/>
          </a:prstGeom>
          <a:solidFill>
            <a:srgbClr val="16A34A"/>
          </a:solidFill>
          <a:ln w="12700">
            <a:solidFill>
              <a:srgbClr val="16A34A"/>
            </a:solidFill>
            <a:prstDash val="solid"/>
          </a:ln>
        </p:spPr>
        <p:txBody>
          <a:bodyPr/>
          <a:lstStyle/>
          <a:p>
            <a:endParaRPr lang="it-IT"/>
          </a:p>
        </p:txBody>
      </p:sp>
      <p:sp>
        <p:nvSpPr>
          <p:cNvPr id="15" name="Text 13"/>
          <p:cNvSpPr/>
          <p:nvPr/>
        </p:nvSpPr>
        <p:spPr>
          <a:xfrm>
            <a:off x="8366760" y="1645920"/>
            <a:ext cx="3017520" cy="274320"/>
          </a:xfrm>
          <a:prstGeom prst="rect">
            <a:avLst/>
          </a:prstGeom>
          <a:noFill/>
          <a:ln/>
        </p:spPr>
        <p:txBody>
          <a:bodyPr wrap="square" lIns="0" tIns="0" rIns="0" bIns="0" rtlCol="0" anchor="ctr"/>
          <a:lstStyle/>
          <a:p>
            <a:pPr marL="0" indent="0">
              <a:buNone/>
            </a:pPr>
            <a:r>
              <a:rPr lang="en-US" sz="1500" b="1" dirty="0">
                <a:solidFill>
                  <a:srgbClr val="0F172A"/>
                </a:solidFill>
              </a:rPr>
              <a:t>Funzione obiettivo</a:t>
            </a:r>
            <a:endParaRPr lang="en-US" sz="1500" dirty="0"/>
          </a:p>
        </p:txBody>
      </p:sp>
      <p:sp>
        <p:nvSpPr>
          <p:cNvPr id="16" name="Text 14"/>
          <p:cNvSpPr/>
          <p:nvPr/>
        </p:nvSpPr>
        <p:spPr>
          <a:xfrm>
            <a:off x="8366760" y="2121408"/>
            <a:ext cx="3017520" cy="3383280"/>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min costo rete</a:t>
            </a:r>
            <a:endParaRPr lang="en-US" sz="1200" dirty="0"/>
          </a:p>
          <a:p>
            <a:pPr marL="0" indent="0">
              <a:buNone/>
            </a:pPr>
            <a:r>
              <a:rPr lang="en-US" sz="1200" dirty="0">
                <a:solidFill>
                  <a:srgbClr val="5B677A"/>
                </a:solidFill>
              </a:rPr>
              <a:t>+ costo combustibile DG</a:t>
            </a:r>
            <a:endParaRPr lang="en-US" sz="1200" dirty="0"/>
          </a:p>
          <a:p>
            <a:pPr marL="0" indent="0">
              <a:buNone/>
            </a:pPr>
            <a:r>
              <a:rPr lang="en-US" sz="1200" dirty="0">
                <a:solidFill>
                  <a:srgbClr val="5B677A"/>
                </a:solidFill>
              </a:rPr>
              <a:t>− ricavi da export</a:t>
            </a:r>
            <a:endParaRPr lang="en-US" sz="1200" dirty="0"/>
          </a:p>
          <a:p>
            <a:pPr marL="0" indent="0">
              <a:buNone/>
            </a:pPr>
            <a:r>
              <a:rPr lang="en-US" sz="1200" dirty="0">
                <a:solidFill>
                  <a:srgbClr val="5B677A"/>
                </a:solidFill>
              </a:rPr>
              <a:t>+ penalità elevate</a:t>
            </a:r>
            <a:endParaRPr lang="en-US" sz="1200" dirty="0"/>
          </a:p>
          <a:p>
            <a:pPr marL="0" indent="0">
              <a:buNone/>
            </a:pPr>
            <a:endParaRPr lang="en-US" sz="1200" dirty="0"/>
          </a:p>
          <a:p>
            <a:pPr marL="0" indent="0">
              <a:buNone/>
            </a:pPr>
            <a:r>
              <a:rPr lang="en-US" sz="1200" dirty="0">
                <a:solidFill>
                  <a:srgbClr val="5B677A"/>
                </a:solidFill>
              </a:rPr>
              <a:t>soggetto ai vincoli fisici</a:t>
            </a:r>
            <a:endParaRPr lang="en-US" sz="1200" dirty="0"/>
          </a:p>
        </p:txBody>
      </p:sp>
      <p:sp>
        <p:nvSpPr>
          <p:cNvPr id="17" name="Text 15"/>
          <p:cNvSpPr/>
          <p:nvPr/>
        </p:nvSpPr>
        <p:spPr>
          <a:xfrm>
            <a:off x="2331720" y="5806440"/>
            <a:ext cx="7498080" cy="274320"/>
          </a:xfrm>
          <a:prstGeom prst="rect">
            <a:avLst/>
          </a:prstGeom>
          <a:noFill/>
          <a:ln/>
        </p:spPr>
        <p:txBody>
          <a:bodyPr wrap="square" lIns="0" tIns="0" rIns="0" bIns="0" rtlCol="0" anchor="ctr"/>
          <a:lstStyle/>
          <a:p>
            <a:pPr marL="0" indent="0" algn="ctr">
              <a:buNone/>
            </a:pPr>
            <a:r>
              <a:rPr lang="en-US" sz="1500" b="1" dirty="0">
                <a:solidFill>
                  <a:srgbClr val="5B677A"/>
                </a:solidFill>
              </a:rPr>
              <a:t>MILP = programmazione lineare mista-intera</a:t>
            </a:r>
            <a:endParaRPr lang="en-US" sz="1500" dirty="0"/>
          </a:p>
        </p:txBody>
      </p:sp>
      <p:pic>
        <p:nvPicPr>
          <p:cNvPr id="21" name="Immagine 20">
            <a:extLst>
              <a:ext uri="{FF2B5EF4-FFF2-40B4-BE49-F238E27FC236}">
                <a16:creationId xmlns:a16="http://schemas.microsoft.com/office/drawing/2014/main" id="{44448AF2-6D40-3F8E-D247-F6FB277A18BE}"/>
              </a:ext>
            </a:extLst>
          </p:cNvPr>
          <p:cNvPicPr>
            <a:picLocks noChangeAspect="1"/>
          </p:cNvPicPr>
          <p:nvPr/>
        </p:nvPicPr>
        <p:blipFill>
          <a:blip r:embed="rId3"/>
          <a:srcRect t="19732"/>
          <a:stretch>
            <a:fillRect/>
          </a:stretch>
        </p:blipFill>
        <p:spPr>
          <a:xfrm>
            <a:off x="2871" y="1353312"/>
            <a:ext cx="12186257" cy="5504501"/>
          </a:xfrm>
          <a:prstGeom prst="rect">
            <a:avLst/>
          </a:prstGeom>
        </p:spPr>
      </p:pic>
      <p:pic>
        <p:nvPicPr>
          <p:cNvPr id="23" name="Immagine 22">
            <a:extLst>
              <a:ext uri="{FF2B5EF4-FFF2-40B4-BE49-F238E27FC236}">
                <a16:creationId xmlns:a16="http://schemas.microsoft.com/office/drawing/2014/main" id="{D86CA2C2-AC20-09A6-29E7-BF5785CB2792}"/>
              </a:ext>
            </a:extLst>
          </p:cNvPr>
          <p:cNvPicPr>
            <a:picLocks noChangeAspect="1"/>
          </p:cNvPicPr>
          <p:nvPr/>
        </p:nvPicPr>
        <p:blipFill>
          <a:blip r:embed="rId4"/>
          <a:stretch>
            <a:fillRect/>
          </a:stretch>
        </p:blipFill>
        <p:spPr>
          <a:xfrm>
            <a:off x="749299" y="1463040"/>
            <a:ext cx="4975225" cy="2146935"/>
          </a:xfrm>
          <a:prstGeom prst="rect">
            <a:avLst/>
          </a:prstGeom>
        </p:spPr>
      </p:pic>
      <p:pic>
        <p:nvPicPr>
          <p:cNvPr id="24" name="Immagine 23">
            <a:extLst>
              <a:ext uri="{FF2B5EF4-FFF2-40B4-BE49-F238E27FC236}">
                <a16:creationId xmlns:a16="http://schemas.microsoft.com/office/drawing/2014/main" id="{EDFF3611-CE5E-7536-1D0A-A9891455C8AC}"/>
              </a:ext>
            </a:extLst>
          </p:cNvPr>
          <p:cNvPicPr>
            <a:picLocks noChangeAspect="1"/>
          </p:cNvPicPr>
          <p:nvPr/>
        </p:nvPicPr>
        <p:blipFill>
          <a:blip r:embed="rId4"/>
          <a:stretch>
            <a:fillRect/>
          </a:stretch>
        </p:blipFill>
        <p:spPr>
          <a:xfrm>
            <a:off x="6467476" y="1463039"/>
            <a:ext cx="4975225" cy="2146935"/>
          </a:xfrm>
          <a:prstGeom prst="rect">
            <a:avLst/>
          </a:prstGeom>
        </p:spPr>
      </p:pic>
      <p:pic>
        <p:nvPicPr>
          <p:cNvPr id="25" name="Immagine 24">
            <a:extLst>
              <a:ext uri="{FF2B5EF4-FFF2-40B4-BE49-F238E27FC236}">
                <a16:creationId xmlns:a16="http://schemas.microsoft.com/office/drawing/2014/main" id="{CFF6044A-B14F-2A62-AD70-DE4D5BC611B2}"/>
              </a:ext>
            </a:extLst>
          </p:cNvPr>
          <p:cNvPicPr>
            <a:picLocks noChangeAspect="1"/>
          </p:cNvPicPr>
          <p:nvPr/>
        </p:nvPicPr>
        <p:blipFill>
          <a:blip r:embed="rId4"/>
          <a:stretch>
            <a:fillRect/>
          </a:stretch>
        </p:blipFill>
        <p:spPr>
          <a:xfrm>
            <a:off x="405384" y="4018986"/>
            <a:ext cx="11161776" cy="2237339"/>
          </a:xfrm>
          <a:prstGeom prst="rect">
            <a:avLst/>
          </a:prstGeom>
        </p:spPr>
      </p:pic>
      <p:pic>
        <p:nvPicPr>
          <p:cNvPr id="26" name="Immagine 25">
            <a:extLst>
              <a:ext uri="{FF2B5EF4-FFF2-40B4-BE49-F238E27FC236}">
                <a16:creationId xmlns:a16="http://schemas.microsoft.com/office/drawing/2014/main" id="{CB6B4BC6-D67C-A0B2-205A-FADFF35E5A39}"/>
              </a:ext>
            </a:extLst>
          </p:cNvPr>
          <p:cNvPicPr>
            <a:picLocks noChangeAspect="1"/>
          </p:cNvPicPr>
          <p:nvPr/>
        </p:nvPicPr>
        <p:blipFill>
          <a:blip r:embed="rId4"/>
          <a:stretch>
            <a:fillRect/>
          </a:stretch>
        </p:blipFill>
        <p:spPr>
          <a:xfrm>
            <a:off x="6467475" y="4158615"/>
            <a:ext cx="4975225" cy="2019935"/>
          </a:xfrm>
          <a:prstGeom prst="rect">
            <a:avLst/>
          </a:prstGeom>
        </p:spPr>
      </p:pic>
      <p:sp>
        <p:nvSpPr>
          <p:cNvPr id="27" name="Text 5">
            <a:extLst>
              <a:ext uri="{FF2B5EF4-FFF2-40B4-BE49-F238E27FC236}">
                <a16:creationId xmlns:a16="http://schemas.microsoft.com/office/drawing/2014/main" id="{B75813F8-734F-DE57-CD04-F44BFFB485E4}"/>
              </a:ext>
            </a:extLst>
          </p:cNvPr>
          <p:cNvSpPr/>
          <p:nvPr/>
        </p:nvSpPr>
        <p:spPr>
          <a:xfrm>
            <a:off x="2145792" y="1182464"/>
            <a:ext cx="2307336" cy="254678"/>
          </a:xfrm>
          <a:prstGeom prst="rect">
            <a:avLst/>
          </a:prstGeom>
          <a:noFill/>
          <a:ln/>
        </p:spPr>
        <p:txBody>
          <a:bodyPr wrap="square" lIns="0" tIns="0" rIns="0" bIns="0" rtlCol="0" anchor="ctr"/>
          <a:lstStyle/>
          <a:p>
            <a:pPr marL="0" indent="0">
              <a:buNone/>
            </a:pPr>
            <a:r>
              <a:rPr lang="en-US" sz="1600" b="1" dirty="0" err="1">
                <a:solidFill>
                  <a:srgbClr val="0F172A"/>
                </a:solidFill>
              </a:rPr>
              <a:t>Struttura</a:t>
            </a:r>
            <a:r>
              <a:rPr lang="en-US" sz="1600" b="1" dirty="0">
                <a:solidFill>
                  <a:srgbClr val="0F172A"/>
                </a:solidFill>
              </a:rPr>
              <a:t> del </a:t>
            </a:r>
            <a:r>
              <a:rPr lang="en-US" sz="1600" b="1" dirty="0" err="1">
                <a:solidFill>
                  <a:srgbClr val="0F172A"/>
                </a:solidFill>
              </a:rPr>
              <a:t>modello</a:t>
            </a:r>
            <a:endParaRPr lang="en-US" sz="1600" dirty="0"/>
          </a:p>
        </p:txBody>
      </p:sp>
      <p:sp>
        <p:nvSpPr>
          <p:cNvPr id="28" name="Text 5">
            <a:extLst>
              <a:ext uri="{FF2B5EF4-FFF2-40B4-BE49-F238E27FC236}">
                <a16:creationId xmlns:a16="http://schemas.microsoft.com/office/drawing/2014/main" id="{0339E8C4-65AC-D33C-10B6-B0D5A4D5D819}"/>
              </a:ext>
            </a:extLst>
          </p:cNvPr>
          <p:cNvSpPr/>
          <p:nvPr/>
        </p:nvSpPr>
        <p:spPr>
          <a:xfrm>
            <a:off x="5369574" y="3907544"/>
            <a:ext cx="1943260" cy="274320"/>
          </a:xfrm>
          <a:prstGeom prst="rect">
            <a:avLst/>
          </a:prstGeom>
          <a:noFill/>
          <a:ln/>
        </p:spPr>
        <p:txBody>
          <a:bodyPr wrap="square" lIns="0" tIns="0" rIns="0" bIns="0" rtlCol="0" anchor="ctr"/>
          <a:lstStyle/>
          <a:p>
            <a:pPr marL="0" indent="0">
              <a:buNone/>
            </a:pPr>
            <a:r>
              <a:rPr lang="en-US" sz="1600" b="1" dirty="0">
                <a:solidFill>
                  <a:srgbClr val="0F172A"/>
                </a:solidFill>
              </a:rPr>
              <a:t>Vincoli </a:t>
            </a:r>
            <a:r>
              <a:rPr lang="en-US" sz="1600" b="1" dirty="0" err="1">
                <a:solidFill>
                  <a:srgbClr val="0F172A"/>
                </a:solidFill>
              </a:rPr>
              <a:t>principali</a:t>
            </a:r>
            <a:endParaRPr lang="en-US" sz="1600" dirty="0"/>
          </a:p>
        </p:txBody>
      </p:sp>
      <p:sp>
        <p:nvSpPr>
          <p:cNvPr id="30" name="Text 5">
            <a:extLst>
              <a:ext uri="{FF2B5EF4-FFF2-40B4-BE49-F238E27FC236}">
                <a16:creationId xmlns:a16="http://schemas.microsoft.com/office/drawing/2014/main" id="{88A95F23-F4CD-4BB4-A9F0-3032AA9D9E52}"/>
              </a:ext>
            </a:extLst>
          </p:cNvPr>
          <p:cNvSpPr/>
          <p:nvPr/>
        </p:nvSpPr>
        <p:spPr>
          <a:xfrm>
            <a:off x="7983457" y="1196035"/>
            <a:ext cx="1943260" cy="274320"/>
          </a:xfrm>
          <a:prstGeom prst="rect">
            <a:avLst/>
          </a:prstGeom>
          <a:noFill/>
          <a:ln/>
        </p:spPr>
        <p:txBody>
          <a:bodyPr wrap="square" lIns="0" tIns="0" rIns="0" bIns="0" rtlCol="0" anchor="ctr"/>
          <a:lstStyle/>
          <a:p>
            <a:pPr marL="0" indent="0">
              <a:buNone/>
            </a:pPr>
            <a:r>
              <a:rPr lang="en-US" sz="1600" b="1" dirty="0" err="1">
                <a:solidFill>
                  <a:srgbClr val="0F172A"/>
                </a:solidFill>
              </a:rPr>
              <a:t>Funzione</a:t>
            </a:r>
            <a:r>
              <a:rPr lang="en-US" sz="1600" b="1" dirty="0">
                <a:solidFill>
                  <a:srgbClr val="0F172A"/>
                </a:solidFill>
              </a:rPr>
              <a:t> </a:t>
            </a:r>
            <a:r>
              <a:rPr lang="en-US" sz="1600" b="1" dirty="0" err="1">
                <a:solidFill>
                  <a:srgbClr val="0F172A"/>
                </a:solidFill>
              </a:rPr>
              <a:t>Obiettivo</a:t>
            </a:r>
            <a:endParaRPr lang="en-US" sz="1600" dirty="0"/>
          </a:p>
        </p:txBody>
      </p:sp>
      <p:sp>
        <p:nvSpPr>
          <p:cNvPr id="31" name="Text 6">
            <a:extLst>
              <a:ext uri="{FF2B5EF4-FFF2-40B4-BE49-F238E27FC236}">
                <a16:creationId xmlns:a16="http://schemas.microsoft.com/office/drawing/2014/main" id="{4798D38C-E66A-9236-868A-91486D5FE31D}"/>
              </a:ext>
            </a:extLst>
          </p:cNvPr>
          <p:cNvSpPr/>
          <p:nvPr/>
        </p:nvSpPr>
        <p:spPr>
          <a:xfrm>
            <a:off x="763743" y="1463040"/>
            <a:ext cx="4957305" cy="2172653"/>
          </a:xfrm>
          <a:prstGeom prst="rect">
            <a:avLst/>
          </a:prstGeom>
          <a:noFill/>
          <a:ln/>
        </p:spPr>
        <p:txBody>
          <a:bodyPr wrap="square" lIns="381" tIns="381" rIns="381" bIns="381" rtlCol="0" anchor="t">
            <a:normAutofit/>
          </a:bodyPr>
          <a:lstStyle/>
          <a:p>
            <a:pPr marL="0" indent="0" algn="ctr">
              <a:lnSpc>
                <a:spcPct val="150000"/>
              </a:lnSpc>
              <a:buNone/>
            </a:pPr>
            <a:r>
              <a:rPr lang="en-US" sz="1400" b="1" dirty="0" err="1">
                <a:solidFill>
                  <a:srgbClr val="FF0000"/>
                </a:solidFill>
              </a:rPr>
              <a:t>Variabili</a:t>
            </a:r>
            <a:r>
              <a:rPr lang="en-US" sz="1400" b="1" dirty="0">
                <a:solidFill>
                  <a:srgbClr val="FF0000"/>
                </a:solidFill>
              </a:rPr>
              <a:t> continue:</a:t>
            </a:r>
          </a:p>
          <a:p>
            <a:pPr marL="0" indent="0" algn="ctr">
              <a:lnSpc>
                <a:spcPct val="150000"/>
              </a:lnSpc>
              <a:buNone/>
            </a:pPr>
            <a:r>
              <a:rPr lang="en-US" sz="1400" dirty="0" err="1"/>
              <a:t>Flussi</a:t>
            </a:r>
            <a:r>
              <a:rPr lang="en-US" sz="1400" dirty="0"/>
              <a:t> di Potenza, curtailment </a:t>
            </a:r>
            <a:r>
              <a:rPr lang="en-US" sz="1400" dirty="0" err="1"/>
              <a:t>fotovoltaico</a:t>
            </a:r>
            <a:endParaRPr lang="en-US" sz="1400" dirty="0"/>
          </a:p>
          <a:p>
            <a:pPr marL="0" indent="0" algn="ctr">
              <a:lnSpc>
                <a:spcPct val="150000"/>
              </a:lnSpc>
              <a:buNone/>
            </a:pPr>
            <a:r>
              <a:rPr lang="en-US" sz="1400" dirty="0"/>
              <a:t> </a:t>
            </a:r>
          </a:p>
          <a:p>
            <a:pPr marL="0" indent="0" algn="ctr">
              <a:lnSpc>
                <a:spcPct val="150000"/>
              </a:lnSpc>
              <a:buNone/>
            </a:pPr>
            <a:r>
              <a:rPr lang="en-US" sz="1400" b="1" dirty="0" err="1">
                <a:solidFill>
                  <a:srgbClr val="0070C0"/>
                </a:solidFill>
              </a:rPr>
              <a:t>Logiche</a:t>
            </a:r>
            <a:r>
              <a:rPr lang="en-US" sz="1400" b="1" dirty="0">
                <a:solidFill>
                  <a:srgbClr val="0070C0"/>
                </a:solidFill>
              </a:rPr>
              <a:t> </a:t>
            </a:r>
            <a:r>
              <a:rPr lang="en-US" sz="1400" b="1" dirty="0" err="1">
                <a:solidFill>
                  <a:srgbClr val="0070C0"/>
                </a:solidFill>
              </a:rPr>
              <a:t>binarie</a:t>
            </a:r>
            <a:r>
              <a:rPr lang="en-US" sz="1400" b="1" dirty="0">
                <a:solidFill>
                  <a:srgbClr val="0070C0"/>
                </a:solidFill>
              </a:rPr>
              <a:t>:</a:t>
            </a:r>
          </a:p>
          <a:p>
            <a:pPr marL="0" indent="0" algn="ctr">
              <a:lnSpc>
                <a:spcPct val="150000"/>
              </a:lnSpc>
              <a:buNone/>
            </a:pPr>
            <a:r>
              <a:rPr lang="en-US" sz="1400" dirty="0"/>
              <a:t>Import/esport, carica/</a:t>
            </a:r>
            <a:r>
              <a:rPr lang="en-US" sz="1400" dirty="0" err="1"/>
              <a:t>scarica</a:t>
            </a:r>
            <a:r>
              <a:rPr lang="en-US" sz="1400" dirty="0"/>
              <a:t>, fuel cell/</a:t>
            </a:r>
            <a:r>
              <a:rPr lang="en-US" sz="1400" dirty="0" err="1"/>
              <a:t>elettrolizzatore</a:t>
            </a:r>
            <a:r>
              <a:rPr lang="en-US" sz="1400" dirty="0"/>
              <a:t>, </a:t>
            </a:r>
            <a:r>
              <a:rPr lang="en-US" sz="1400" dirty="0" err="1"/>
              <a:t>raffrescamento</a:t>
            </a:r>
            <a:r>
              <a:rPr lang="en-US" sz="1400" dirty="0"/>
              <a:t>/</a:t>
            </a:r>
            <a:r>
              <a:rPr lang="en-US" sz="1400" dirty="0" err="1"/>
              <a:t>riscaldamento</a:t>
            </a:r>
            <a:r>
              <a:rPr lang="en-US" sz="1400" dirty="0"/>
              <a:t>.</a:t>
            </a:r>
          </a:p>
        </p:txBody>
      </p:sp>
      <p:sp>
        <p:nvSpPr>
          <p:cNvPr id="36" name="Text 6">
            <a:extLst>
              <a:ext uri="{FF2B5EF4-FFF2-40B4-BE49-F238E27FC236}">
                <a16:creationId xmlns:a16="http://schemas.microsoft.com/office/drawing/2014/main" id="{A2B2FC90-C7C2-8DDC-278C-BE47058C8DC9}"/>
              </a:ext>
            </a:extLst>
          </p:cNvPr>
          <p:cNvSpPr/>
          <p:nvPr/>
        </p:nvSpPr>
        <p:spPr>
          <a:xfrm>
            <a:off x="758257" y="4156901"/>
            <a:ext cx="4957305" cy="2021649"/>
          </a:xfrm>
          <a:prstGeom prst="rect">
            <a:avLst/>
          </a:prstGeom>
          <a:noFill/>
          <a:ln/>
        </p:spPr>
        <p:txBody>
          <a:bodyPr wrap="square" lIns="381" tIns="381" rIns="381" bIns="381" rtlCol="0" anchor="t">
            <a:normAutofit/>
          </a:bodyPr>
          <a:lstStyle/>
          <a:p>
            <a:pPr marL="0" indent="0">
              <a:lnSpc>
                <a:spcPct val="120000"/>
              </a:lnSpc>
              <a:buNone/>
            </a:pPr>
            <a:endParaRPr lang="en-US" sz="1200" b="1" dirty="0"/>
          </a:p>
        </p:txBody>
      </p:sp>
      <p:sp>
        <p:nvSpPr>
          <p:cNvPr id="18" name="Text 6">
            <a:extLst>
              <a:ext uri="{FF2B5EF4-FFF2-40B4-BE49-F238E27FC236}">
                <a16:creationId xmlns:a16="http://schemas.microsoft.com/office/drawing/2014/main" id="{5D842EB8-2F56-6F8C-F3FB-3D0173AFB123}"/>
              </a:ext>
            </a:extLst>
          </p:cNvPr>
          <p:cNvSpPr/>
          <p:nvPr/>
        </p:nvSpPr>
        <p:spPr>
          <a:xfrm>
            <a:off x="6496795" y="1515633"/>
            <a:ext cx="4957305" cy="2021649"/>
          </a:xfrm>
          <a:prstGeom prst="rect">
            <a:avLst/>
          </a:prstGeom>
          <a:noFill/>
          <a:ln/>
        </p:spPr>
        <p:txBody>
          <a:bodyPr wrap="square" lIns="381" tIns="381" rIns="381" bIns="381" rtlCol="0" anchor="t">
            <a:normAutofit/>
          </a:bodyPr>
          <a:lstStyle/>
          <a:p>
            <a:pPr algn="ctr">
              <a:lnSpc>
                <a:spcPct val="150000"/>
              </a:lnSpc>
            </a:pPr>
            <a:r>
              <a:rPr lang="en-US" sz="1600" i="1" dirty="0" err="1"/>
              <a:t>Funzione</a:t>
            </a:r>
            <a:r>
              <a:rPr lang="en-US" sz="1600" i="1" dirty="0"/>
              <a:t> </a:t>
            </a:r>
            <a:r>
              <a:rPr lang="en-US" sz="1600" i="1" dirty="0" err="1"/>
              <a:t>Obiettivo</a:t>
            </a:r>
            <a:r>
              <a:rPr lang="en-US" sz="1600" i="1" dirty="0"/>
              <a:t> =</a:t>
            </a:r>
          </a:p>
          <a:p>
            <a:pPr algn="ctr">
              <a:lnSpc>
                <a:spcPct val="150000"/>
              </a:lnSpc>
            </a:pPr>
            <a:r>
              <a:rPr lang="en-US" sz="1600" b="1" i="1" dirty="0">
                <a:solidFill>
                  <a:srgbClr val="0070C0"/>
                </a:solidFill>
              </a:rPr>
              <a:t>Costo </a:t>
            </a:r>
            <a:r>
              <a:rPr lang="en-US" sz="1600" b="1" i="1" dirty="0" err="1">
                <a:solidFill>
                  <a:srgbClr val="0070C0"/>
                </a:solidFill>
              </a:rPr>
              <a:t>importazione</a:t>
            </a:r>
            <a:r>
              <a:rPr lang="en-US" sz="1600" b="1" i="1" dirty="0">
                <a:solidFill>
                  <a:srgbClr val="0070C0"/>
                </a:solidFill>
              </a:rPr>
              <a:t> rete </a:t>
            </a:r>
            <a:r>
              <a:rPr lang="en-US" sz="1600" b="1" i="1" dirty="0"/>
              <a:t>− </a:t>
            </a:r>
            <a:r>
              <a:rPr lang="en-US" sz="1600" b="1" i="1" dirty="0" err="1">
                <a:solidFill>
                  <a:srgbClr val="00B050"/>
                </a:solidFill>
              </a:rPr>
              <a:t>Ricavi</a:t>
            </a:r>
            <a:r>
              <a:rPr lang="en-US" sz="1600" b="1" i="1" dirty="0">
                <a:solidFill>
                  <a:srgbClr val="00B050"/>
                </a:solidFill>
              </a:rPr>
              <a:t> da </a:t>
            </a:r>
            <a:r>
              <a:rPr lang="en-US" sz="1600" b="1" i="1" dirty="0" err="1">
                <a:solidFill>
                  <a:srgbClr val="00B050"/>
                </a:solidFill>
              </a:rPr>
              <a:t>esportazione</a:t>
            </a:r>
            <a:endParaRPr lang="en-US" sz="1600" b="1" i="1" dirty="0">
              <a:solidFill>
                <a:srgbClr val="00B050"/>
              </a:solidFill>
            </a:endParaRPr>
          </a:p>
          <a:p>
            <a:pPr algn="ctr">
              <a:lnSpc>
                <a:spcPct val="150000"/>
              </a:lnSpc>
            </a:pPr>
            <a:r>
              <a:rPr lang="en-US" sz="1600" b="1" i="1" dirty="0"/>
              <a:t>+ </a:t>
            </a:r>
            <a:r>
              <a:rPr lang="en-US" sz="1600" b="1" i="1" dirty="0">
                <a:solidFill>
                  <a:srgbClr val="FF0000"/>
                </a:solidFill>
              </a:rPr>
              <a:t>Costo </a:t>
            </a:r>
            <a:r>
              <a:rPr lang="en-US" sz="1600" b="1" i="1" dirty="0" err="1">
                <a:solidFill>
                  <a:srgbClr val="FF0000"/>
                </a:solidFill>
              </a:rPr>
              <a:t>generatore</a:t>
            </a:r>
            <a:r>
              <a:rPr lang="en-US" sz="1600" b="1" i="1" dirty="0">
                <a:solidFill>
                  <a:srgbClr val="FF0000"/>
                </a:solidFill>
              </a:rPr>
              <a:t> diesel </a:t>
            </a:r>
            <a:r>
              <a:rPr lang="en-US" sz="1600" b="1" i="1" dirty="0"/>
              <a:t>+ </a:t>
            </a:r>
            <a:r>
              <a:rPr lang="en-US" sz="1600" b="1" i="1" dirty="0" err="1">
                <a:solidFill>
                  <a:srgbClr val="7030A0"/>
                </a:solidFill>
              </a:rPr>
              <a:t>Penalità</a:t>
            </a:r>
            <a:r>
              <a:rPr lang="en-US" sz="1600" b="1" i="1" dirty="0">
                <a:solidFill>
                  <a:srgbClr val="7030A0"/>
                </a:solidFill>
              </a:rPr>
              <a:t> </a:t>
            </a:r>
            <a:r>
              <a:rPr lang="en-US" sz="1600" b="1" i="1" dirty="0" err="1">
                <a:solidFill>
                  <a:srgbClr val="7030A0"/>
                </a:solidFill>
              </a:rPr>
              <a:t>ricarica</a:t>
            </a:r>
            <a:r>
              <a:rPr lang="en-US" sz="1600" b="1" i="1" dirty="0">
                <a:solidFill>
                  <a:srgbClr val="7030A0"/>
                </a:solidFill>
              </a:rPr>
              <a:t> PEV</a:t>
            </a:r>
          </a:p>
          <a:p>
            <a:pPr algn="ctr">
              <a:lnSpc>
                <a:spcPct val="150000"/>
              </a:lnSpc>
            </a:pPr>
            <a:r>
              <a:rPr lang="en-US" sz="1600" b="1" i="1" dirty="0"/>
              <a:t>+ </a:t>
            </a:r>
            <a:r>
              <a:rPr lang="en-US" sz="1600" b="1" i="1" dirty="0" err="1">
                <a:solidFill>
                  <a:srgbClr val="7030A0"/>
                </a:solidFill>
              </a:rPr>
              <a:t>Penalità</a:t>
            </a:r>
            <a:r>
              <a:rPr lang="en-US" sz="1600" b="1" i="1" dirty="0">
                <a:solidFill>
                  <a:srgbClr val="7030A0"/>
                </a:solidFill>
              </a:rPr>
              <a:t> comfort </a:t>
            </a:r>
            <a:r>
              <a:rPr lang="en-US" sz="1600" b="1" i="1" dirty="0" err="1">
                <a:solidFill>
                  <a:srgbClr val="7030A0"/>
                </a:solidFill>
              </a:rPr>
              <a:t>termico</a:t>
            </a:r>
            <a:r>
              <a:rPr lang="en-US" sz="1600" b="1" i="1" dirty="0">
                <a:solidFill>
                  <a:srgbClr val="7030A0"/>
                </a:solidFill>
              </a:rPr>
              <a:t> </a:t>
            </a:r>
            <a:r>
              <a:rPr lang="en-US" sz="1600" b="1" i="1" dirty="0"/>
              <a:t>+ </a:t>
            </a:r>
            <a:r>
              <a:rPr lang="en-US" sz="1600" b="1" i="1" dirty="0" err="1">
                <a:solidFill>
                  <a:srgbClr val="7030A0"/>
                </a:solidFill>
              </a:rPr>
              <a:t>Regolarizzazione</a:t>
            </a:r>
            <a:r>
              <a:rPr lang="en-US" sz="1600" b="1" i="1" dirty="0">
                <a:solidFill>
                  <a:srgbClr val="7030A0"/>
                </a:solidFill>
              </a:rPr>
              <a:t> </a:t>
            </a:r>
            <a:r>
              <a:rPr lang="en-US" sz="1600" b="1" i="1" dirty="0" err="1">
                <a:solidFill>
                  <a:srgbClr val="7030A0"/>
                </a:solidFill>
              </a:rPr>
              <a:t>operativa</a:t>
            </a:r>
            <a:endParaRPr lang="en-US" sz="1600" b="1" i="1" dirty="0">
              <a:solidFill>
                <a:srgbClr val="7030A0"/>
              </a:solidFill>
            </a:endParaRPr>
          </a:p>
          <a:p>
            <a:pPr marL="0" indent="0">
              <a:lnSpc>
                <a:spcPct val="120000"/>
              </a:lnSpc>
              <a:buNone/>
            </a:pPr>
            <a:endParaRPr lang="en-US" sz="1200" b="1" i="1" dirty="0"/>
          </a:p>
        </p:txBody>
      </p:sp>
      <p:sp>
        <p:nvSpPr>
          <p:cNvPr id="19" name="Rettangolo 18">
            <a:extLst>
              <a:ext uri="{FF2B5EF4-FFF2-40B4-BE49-F238E27FC236}">
                <a16:creationId xmlns:a16="http://schemas.microsoft.com/office/drawing/2014/main" id="{7335FDD2-1311-458F-9DC8-846877C125E9}"/>
              </a:ext>
            </a:extLst>
          </p:cNvPr>
          <p:cNvSpPr/>
          <p:nvPr/>
        </p:nvSpPr>
        <p:spPr>
          <a:xfrm>
            <a:off x="749299" y="4181864"/>
            <a:ext cx="10693401" cy="2279896"/>
          </a:xfrm>
          <a:prstGeom prst="rec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0" name="Text 6">
            <a:extLst>
              <a:ext uri="{FF2B5EF4-FFF2-40B4-BE49-F238E27FC236}">
                <a16:creationId xmlns:a16="http://schemas.microsoft.com/office/drawing/2014/main" id="{2AFBD880-6622-EC5B-F09B-5C920CDC3C69}"/>
              </a:ext>
            </a:extLst>
          </p:cNvPr>
          <p:cNvSpPr/>
          <p:nvPr/>
        </p:nvSpPr>
        <p:spPr>
          <a:xfrm>
            <a:off x="1048003" y="4431757"/>
            <a:ext cx="4321571" cy="2172653"/>
          </a:xfrm>
          <a:prstGeom prst="rect">
            <a:avLst/>
          </a:prstGeom>
          <a:noFill/>
          <a:ln/>
        </p:spPr>
        <p:txBody>
          <a:bodyPr wrap="square" lIns="381" tIns="381" rIns="381" bIns="381" rtlCol="0" anchor="t">
            <a:normAutofit/>
          </a:bodyPr>
          <a:lstStyle/>
          <a:p>
            <a:pPr marL="285750" indent="-285750">
              <a:lnSpc>
                <a:spcPct val="150000"/>
              </a:lnSpc>
              <a:buFont typeface="Arial" panose="020B0604020202020204" pitchFamily="34" charset="0"/>
              <a:buChar char="•"/>
            </a:pPr>
            <a:r>
              <a:rPr lang="en-US" sz="1400" b="1" dirty="0" err="1"/>
              <a:t>Bilanciare</a:t>
            </a:r>
            <a:r>
              <a:rPr lang="en-US" sz="1400" b="1" dirty="0"/>
              <a:t> </a:t>
            </a:r>
            <a:r>
              <a:rPr lang="en-US" sz="1400" b="1" dirty="0" err="1"/>
              <a:t>produzione</a:t>
            </a:r>
            <a:r>
              <a:rPr lang="en-US" sz="1400" b="1" dirty="0"/>
              <a:t> e </a:t>
            </a:r>
            <a:r>
              <a:rPr lang="en-US" sz="1400" b="1" dirty="0" err="1"/>
              <a:t>consumi</a:t>
            </a:r>
            <a:r>
              <a:rPr lang="en-US" sz="1400" b="1" dirty="0"/>
              <a:t> a ogni ora</a:t>
            </a:r>
          </a:p>
          <a:p>
            <a:pPr marL="285750" indent="-285750">
              <a:lnSpc>
                <a:spcPct val="150000"/>
              </a:lnSpc>
              <a:buFont typeface="Arial" panose="020B0604020202020204" pitchFamily="34" charset="0"/>
              <a:buChar char="•"/>
            </a:pPr>
            <a:r>
              <a:rPr lang="en-US" sz="1400" b="1" dirty="0" err="1"/>
              <a:t>Mantenere</a:t>
            </a:r>
            <a:r>
              <a:rPr lang="en-US" sz="1400" b="1" dirty="0"/>
              <a:t> la </a:t>
            </a:r>
            <a:r>
              <a:rPr lang="en-US" sz="1400" b="1" dirty="0" err="1"/>
              <a:t>batteria</a:t>
            </a:r>
            <a:r>
              <a:rPr lang="en-US" sz="1400" b="1" dirty="0"/>
              <a:t> </a:t>
            </a:r>
            <a:r>
              <a:rPr lang="en-US" sz="1400" b="1" dirty="0" err="1"/>
              <a:t>tra</a:t>
            </a:r>
            <a:r>
              <a:rPr lang="en-US" sz="1400" b="1" dirty="0"/>
              <a:t> 10% e 90%</a:t>
            </a:r>
          </a:p>
          <a:p>
            <a:pPr marL="285750" indent="-285750">
              <a:lnSpc>
                <a:spcPct val="150000"/>
              </a:lnSpc>
              <a:buFont typeface="Arial" panose="020B0604020202020204" pitchFamily="34" charset="0"/>
              <a:buChar char="•"/>
            </a:pPr>
            <a:r>
              <a:rPr lang="en-US" sz="1400" b="1" dirty="0" err="1"/>
              <a:t>Limitare</a:t>
            </a:r>
            <a:r>
              <a:rPr lang="en-US" sz="1400" b="1" dirty="0"/>
              <a:t> </a:t>
            </a:r>
            <a:r>
              <a:rPr lang="en-US" sz="1400" b="1" dirty="0" err="1"/>
              <a:t>potenza</a:t>
            </a:r>
            <a:r>
              <a:rPr lang="en-US" sz="1400" b="1" dirty="0"/>
              <a:t> carica/</a:t>
            </a:r>
            <a:r>
              <a:rPr lang="en-US" sz="1400" b="1" dirty="0" err="1"/>
              <a:t>scarica</a:t>
            </a:r>
            <a:r>
              <a:rPr lang="en-US" sz="1400" b="1" dirty="0"/>
              <a:t> </a:t>
            </a:r>
            <a:r>
              <a:rPr lang="en-US" sz="1400" b="1" dirty="0" err="1"/>
              <a:t>Batteria</a:t>
            </a:r>
            <a:r>
              <a:rPr lang="en-US" sz="1400" b="1" dirty="0"/>
              <a:t> a 140 kW</a:t>
            </a:r>
          </a:p>
          <a:p>
            <a:pPr marL="285750" indent="-285750">
              <a:lnSpc>
                <a:spcPct val="150000"/>
              </a:lnSpc>
              <a:buFont typeface="Arial" panose="020B0604020202020204" pitchFamily="34" charset="0"/>
              <a:buChar char="•"/>
            </a:pPr>
            <a:r>
              <a:rPr lang="en-US" sz="1400" b="1" dirty="0" err="1"/>
              <a:t>Mantenere</a:t>
            </a:r>
            <a:r>
              <a:rPr lang="en-US" sz="1400" b="1" dirty="0"/>
              <a:t> </a:t>
            </a:r>
            <a:r>
              <a:rPr lang="en-US" sz="1400" b="1" dirty="0" err="1"/>
              <a:t>l’idrogeno</a:t>
            </a:r>
            <a:r>
              <a:rPr lang="en-US" sz="1400" b="1" dirty="0"/>
              <a:t> </a:t>
            </a:r>
            <a:r>
              <a:rPr lang="en-US" sz="1400" b="1" dirty="0" err="1"/>
              <a:t>tra</a:t>
            </a:r>
            <a:r>
              <a:rPr lang="en-US" sz="1400" b="1" dirty="0"/>
              <a:t> 10% e 90%</a:t>
            </a:r>
          </a:p>
          <a:p>
            <a:pPr marL="285750" indent="-285750">
              <a:lnSpc>
                <a:spcPct val="150000"/>
              </a:lnSpc>
              <a:buFont typeface="Arial" panose="020B0604020202020204" pitchFamily="34" charset="0"/>
              <a:buChar char="•"/>
            </a:pPr>
            <a:r>
              <a:rPr lang="en-US" sz="1400" b="1" dirty="0" err="1"/>
              <a:t>Limitare</a:t>
            </a:r>
            <a:r>
              <a:rPr lang="en-US" sz="1400" b="1" dirty="0"/>
              <a:t> fuel cell ed </a:t>
            </a:r>
            <a:r>
              <a:rPr lang="en-US" sz="1400" b="1" dirty="0" err="1"/>
              <a:t>elettrolizzatore</a:t>
            </a:r>
            <a:r>
              <a:rPr lang="en-US" sz="1400" b="1" dirty="0"/>
              <a:t> a 65.65 kW</a:t>
            </a:r>
          </a:p>
          <a:p>
            <a:pPr>
              <a:lnSpc>
                <a:spcPct val="150000"/>
              </a:lnSpc>
            </a:pPr>
            <a:endParaRPr lang="en-US" sz="1400" b="1" dirty="0"/>
          </a:p>
          <a:p>
            <a:pPr algn="ctr">
              <a:lnSpc>
                <a:spcPct val="150000"/>
              </a:lnSpc>
            </a:pPr>
            <a:endParaRPr lang="en-US" sz="1400" dirty="0"/>
          </a:p>
        </p:txBody>
      </p:sp>
      <p:sp>
        <p:nvSpPr>
          <p:cNvPr id="22" name="Text 6">
            <a:extLst>
              <a:ext uri="{FF2B5EF4-FFF2-40B4-BE49-F238E27FC236}">
                <a16:creationId xmlns:a16="http://schemas.microsoft.com/office/drawing/2014/main" id="{BD2BC56A-2C77-CF6F-7DFB-FB3BDF34AEF1}"/>
              </a:ext>
            </a:extLst>
          </p:cNvPr>
          <p:cNvSpPr/>
          <p:nvPr/>
        </p:nvSpPr>
        <p:spPr>
          <a:xfrm>
            <a:off x="6662423" y="4431756"/>
            <a:ext cx="4780451" cy="2172653"/>
          </a:xfrm>
          <a:prstGeom prst="rect">
            <a:avLst/>
          </a:prstGeom>
          <a:noFill/>
          <a:ln/>
        </p:spPr>
        <p:txBody>
          <a:bodyPr wrap="square" lIns="381" tIns="381" rIns="381" bIns="381" rtlCol="0" anchor="t">
            <a:normAutofit/>
          </a:bodyPr>
          <a:lstStyle/>
          <a:p>
            <a:pPr marL="285750" indent="-285750">
              <a:lnSpc>
                <a:spcPct val="150000"/>
              </a:lnSpc>
              <a:buFont typeface="Arial" panose="020B0604020202020204" pitchFamily="34" charset="0"/>
              <a:buChar char="•"/>
            </a:pPr>
            <a:r>
              <a:rPr lang="en-US" sz="1400" b="1" dirty="0" err="1"/>
              <a:t>Usare</a:t>
            </a:r>
            <a:r>
              <a:rPr lang="en-US" sz="1400" b="1" dirty="0"/>
              <a:t> il </a:t>
            </a:r>
            <a:r>
              <a:rPr lang="en-US" sz="1400" b="1" dirty="0" err="1"/>
              <a:t>generatore</a:t>
            </a:r>
            <a:r>
              <a:rPr lang="en-US" sz="1400" b="1" dirty="0"/>
              <a:t> diesel </a:t>
            </a:r>
            <a:r>
              <a:rPr lang="en-US" sz="1400" b="1" dirty="0" err="1"/>
              <a:t>tra</a:t>
            </a:r>
            <a:r>
              <a:rPr lang="en-US" sz="1400" b="1" dirty="0"/>
              <a:t> 40 e 120 kW solo se </a:t>
            </a:r>
            <a:r>
              <a:rPr lang="en-US" sz="1400" b="1" dirty="0" err="1"/>
              <a:t>acceso</a:t>
            </a:r>
            <a:endParaRPr lang="en-US" sz="1400" b="1" dirty="0"/>
          </a:p>
          <a:p>
            <a:pPr marL="285750" indent="-285750">
              <a:lnSpc>
                <a:spcPct val="150000"/>
              </a:lnSpc>
              <a:buFont typeface="Arial" panose="020B0604020202020204" pitchFamily="34" charset="0"/>
              <a:buChar char="•"/>
            </a:pPr>
            <a:r>
              <a:rPr lang="en-US" sz="1400" b="1" dirty="0" err="1"/>
              <a:t>Limitare</a:t>
            </a:r>
            <a:r>
              <a:rPr lang="en-US" sz="1400" b="1" dirty="0"/>
              <a:t> </a:t>
            </a:r>
            <a:r>
              <a:rPr lang="en-US" sz="1400" b="1" dirty="0" err="1"/>
              <a:t>riscaldamento</a:t>
            </a:r>
            <a:r>
              <a:rPr lang="en-US" sz="1400" b="1" dirty="0"/>
              <a:t> e </a:t>
            </a:r>
            <a:r>
              <a:rPr lang="en-US" sz="1400" b="1" dirty="0" err="1"/>
              <a:t>raffrescamento</a:t>
            </a:r>
            <a:r>
              <a:rPr lang="en-US" sz="1400" b="1" dirty="0"/>
              <a:t> a 12 kW</a:t>
            </a:r>
          </a:p>
          <a:p>
            <a:pPr marL="285750" indent="-285750">
              <a:lnSpc>
                <a:spcPct val="150000"/>
              </a:lnSpc>
              <a:buFont typeface="Arial" panose="020B0604020202020204" pitchFamily="34" charset="0"/>
              <a:buChar char="•"/>
            </a:pPr>
            <a:r>
              <a:rPr lang="en-US" sz="1400" b="1" dirty="0" err="1"/>
              <a:t>Mantenere</a:t>
            </a:r>
            <a:r>
              <a:rPr lang="en-US" sz="1400" b="1" dirty="0"/>
              <a:t> la </a:t>
            </a:r>
            <a:r>
              <a:rPr lang="en-US" sz="1400" b="1" dirty="0" err="1"/>
              <a:t>temperatura</a:t>
            </a:r>
            <a:r>
              <a:rPr lang="en-US" sz="1400" b="1" dirty="0"/>
              <a:t> interna </a:t>
            </a:r>
            <a:r>
              <a:rPr lang="en-US" sz="1400" b="1" dirty="0" err="1"/>
              <a:t>entro</a:t>
            </a:r>
            <a:r>
              <a:rPr lang="en-US" sz="1400" b="1" dirty="0"/>
              <a:t> ±2°C dal setpoint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Scenari simulati</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chemeClr val="tx1">
                    <a:lumMod val="65000"/>
                    <a:lumOff val="35000"/>
                  </a:schemeClr>
                </a:solidFill>
              </a:rPr>
              <a:t>48 ore: stagione × costo combustibile</a:t>
            </a:r>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526382" y="1691997"/>
            <a:ext cx="2689258" cy="1565975"/>
          </a:xfrm>
          <a:prstGeom prst="roundRect">
            <a:avLst>
              <a:gd name="adj" fmla="val 3019"/>
            </a:avLst>
          </a:prstGeom>
          <a:solidFill>
            <a:srgbClr val="FFFFFF"/>
          </a:solidFill>
          <a:ln w="15240">
            <a:solidFill>
              <a:srgbClr val="CAD5E3"/>
            </a:solidFill>
            <a:prstDash val="solid"/>
          </a:ln>
        </p:spPr>
        <p:txBody>
          <a:bodyPr/>
          <a:lstStyle/>
          <a:p>
            <a:endParaRPr lang="it-IT"/>
          </a:p>
        </p:txBody>
      </p:sp>
      <p:sp>
        <p:nvSpPr>
          <p:cNvPr id="6" name="Text 4"/>
          <p:cNvSpPr/>
          <p:nvPr/>
        </p:nvSpPr>
        <p:spPr>
          <a:xfrm>
            <a:off x="695459" y="1726518"/>
            <a:ext cx="2283332" cy="405641"/>
          </a:xfrm>
          <a:prstGeom prst="rect">
            <a:avLst/>
          </a:prstGeom>
          <a:noFill/>
          <a:ln/>
        </p:spPr>
        <p:txBody>
          <a:bodyPr wrap="square" lIns="0" tIns="0" rIns="0" bIns="0" rtlCol="0" anchor="ctr"/>
          <a:lstStyle/>
          <a:p>
            <a:pPr marL="0" indent="0" algn="ctr">
              <a:buNone/>
            </a:pPr>
            <a:r>
              <a:rPr lang="en-US" sz="3400" b="1" dirty="0">
                <a:solidFill>
                  <a:srgbClr val="16A34A"/>
                </a:solidFill>
              </a:rPr>
              <a:t>A</a:t>
            </a:r>
            <a:endParaRPr lang="en-US" sz="3400" dirty="0"/>
          </a:p>
        </p:txBody>
      </p:sp>
      <p:sp>
        <p:nvSpPr>
          <p:cNvPr id="7" name="Text 5"/>
          <p:cNvSpPr/>
          <p:nvPr/>
        </p:nvSpPr>
        <p:spPr>
          <a:xfrm>
            <a:off x="695459" y="2225946"/>
            <a:ext cx="2283332" cy="243385"/>
          </a:xfrm>
          <a:prstGeom prst="rect">
            <a:avLst/>
          </a:prstGeom>
          <a:noFill/>
          <a:ln/>
        </p:spPr>
        <p:txBody>
          <a:bodyPr wrap="square" lIns="0" tIns="0" rIns="0" bIns="0" rtlCol="0" anchor="ctr"/>
          <a:lstStyle/>
          <a:p>
            <a:pPr marL="0" indent="0" algn="ctr">
              <a:buNone/>
            </a:pPr>
            <a:r>
              <a:rPr lang="en-US" sz="1700" b="1" dirty="0">
                <a:solidFill>
                  <a:srgbClr val="0F172A"/>
                </a:solidFill>
              </a:rPr>
              <a:t>Estate</a:t>
            </a:r>
            <a:endParaRPr lang="en-US" sz="1700" dirty="0"/>
          </a:p>
        </p:txBody>
      </p:sp>
      <p:sp>
        <p:nvSpPr>
          <p:cNvPr id="8" name="Text 6"/>
          <p:cNvSpPr/>
          <p:nvPr/>
        </p:nvSpPr>
        <p:spPr>
          <a:xfrm>
            <a:off x="695459" y="2554792"/>
            <a:ext cx="2283332" cy="243385"/>
          </a:xfrm>
          <a:prstGeom prst="rect">
            <a:avLst/>
          </a:prstGeom>
          <a:noFill/>
          <a:ln/>
        </p:spPr>
        <p:txBody>
          <a:bodyPr wrap="square" lIns="0" tIns="0" rIns="0" bIns="0" rtlCol="0" anchor="ctr"/>
          <a:lstStyle/>
          <a:p>
            <a:pPr marL="0" indent="0" algn="ctr">
              <a:buNone/>
            </a:pPr>
            <a:r>
              <a:rPr lang="en-US" sz="1500" dirty="0">
                <a:solidFill>
                  <a:srgbClr val="5B677A"/>
                </a:solidFill>
              </a:rPr>
              <a:t>0,15 €/kWh</a:t>
            </a:r>
            <a:endParaRPr lang="en-US" sz="1500" dirty="0"/>
          </a:p>
        </p:txBody>
      </p:sp>
      <p:sp>
        <p:nvSpPr>
          <p:cNvPr id="9" name="Text 7"/>
          <p:cNvSpPr/>
          <p:nvPr/>
        </p:nvSpPr>
        <p:spPr>
          <a:xfrm>
            <a:off x="729345" y="2897575"/>
            <a:ext cx="2283332" cy="243385"/>
          </a:xfrm>
          <a:prstGeom prst="rect">
            <a:avLst/>
          </a:prstGeom>
          <a:noFill/>
          <a:ln/>
        </p:spPr>
        <p:txBody>
          <a:bodyPr wrap="square" lIns="0" tIns="0" rIns="0" bIns="0" rtlCol="0" anchor="ctr"/>
          <a:lstStyle/>
          <a:p>
            <a:pPr marL="0" indent="0" algn="ctr">
              <a:buNone/>
            </a:pPr>
            <a:r>
              <a:rPr lang="en-US" sz="1150" dirty="0">
                <a:solidFill>
                  <a:srgbClr val="5B677A"/>
                </a:solidFill>
              </a:rPr>
              <a:t>Combustibile basso</a:t>
            </a:r>
            <a:endParaRPr lang="en-US" sz="1150" dirty="0"/>
          </a:p>
        </p:txBody>
      </p:sp>
      <p:sp>
        <p:nvSpPr>
          <p:cNvPr id="10" name="Shape 8"/>
          <p:cNvSpPr/>
          <p:nvPr/>
        </p:nvSpPr>
        <p:spPr>
          <a:xfrm>
            <a:off x="3406742" y="1691997"/>
            <a:ext cx="2689258" cy="1565976"/>
          </a:xfrm>
          <a:prstGeom prst="roundRect">
            <a:avLst>
              <a:gd name="adj" fmla="val 3019"/>
            </a:avLst>
          </a:prstGeom>
          <a:solidFill>
            <a:srgbClr val="FFFFFF"/>
          </a:solidFill>
          <a:ln w="15240">
            <a:solidFill>
              <a:srgbClr val="CAD5E3"/>
            </a:solidFill>
            <a:prstDash val="solid"/>
          </a:ln>
        </p:spPr>
        <p:txBody>
          <a:bodyPr/>
          <a:lstStyle/>
          <a:p>
            <a:endParaRPr lang="it-IT"/>
          </a:p>
        </p:txBody>
      </p:sp>
      <p:sp>
        <p:nvSpPr>
          <p:cNvPr id="11" name="Text 9"/>
          <p:cNvSpPr/>
          <p:nvPr/>
        </p:nvSpPr>
        <p:spPr>
          <a:xfrm>
            <a:off x="3575819" y="1735387"/>
            <a:ext cx="2283332" cy="405641"/>
          </a:xfrm>
          <a:prstGeom prst="rect">
            <a:avLst/>
          </a:prstGeom>
          <a:noFill/>
          <a:ln/>
        </p:spPr>
        <p:txBody>
          <a:bodyPr wrap="square" lIns="0" tIns="0" rIns="0" bIns="0" rtlCol="0" anchor="ctr"/>
          <a:lstStyle/>
          <a:p>
            <a:pPr marL="0" indent="0" algn="ctr">
              <a:buNone/>
            </a:pPr>
            <a:r>
              <a:rPr lang="en-US" sz="3400" b="1" dirty="0">
                <a:solidFill>
                  <a:srgbClr val="F97316"/>
                </a:solidFill>
              </a:rPr>
              <a:t>B</a:t>
            </a:r>
            <a:endParaRPr lang="en-US" sz="3400" dirty="0"/>
          </a:p>
        </p:txBody>
      </p:sp>
      <p:sp>
        <p:nvSpPr>
          <p:cNvPr id="12" name="Text 10"/>
          <p:cNvSpPr/>
          <p:nvPr/>
        </p:nvSpPr>
        <p:spPr>
          <a:xfrm>
            <a:off x="3575819" y="2225945"/>
            <a:ext cx="2283332" cy="243385"/>
          </a:xfrm>
          <a:prstGeom prst="rect">
            <a:avLst/>
          </a:prstGeom>
          <a:noFill/>
          <a:ln/>
        </p:spPr>
        <p:txBody>
          <a:bodyPr wrap="square" lIns="0" tIns="0" rIns="0" bIns="0" rtlCol="0" anchor="ctr"/>
          <a:lstStyle/>
          <a:p>
            <a:pPr marL="0" indent="0" algn="ctr">
              <a:buNone/>
            </a:pPr>
            <a:r>
              <a:rPr lang="en-US" sz="1700" b="1" dirty="0">
                <a:solidFill>
                  <a:srgbClr val="0F172A"/>
                </a:solidFill>
              </a:rPr>
              <a:t>Estate</a:t>
            </a:r>
            <a:endParaRPr lang="en-US" sz="1700" dirty="0"/>
          </a:p>
        </p:txBody>
      </p:sp>
      <p:sp>
        <p:nvSpPr>
          <p:cNvPr id="13" name="Text 11"/>
          <p:cNvSpPr/>
          <p:nvPr/>
        </p:nvSpPr>
        <p:spPr>
          <a:xfrm>
            <a:off x="3575819" y="2555274"/>
            <a:ext cx="2283332" cy="243385"/>
          </a:xfrm>
          <a:prstGeom prst="rect">
            <a:avLst/>
          </a:prstGeom>
          <a:noFill/>
          <a:ln/>
        </p:spPr>
        <p:txBody>
          <a:bodyPr wrap="square" lIns="0" tIns="0" rIns="0" bIns="0" rtlCol="0" anchor="ctr"/>
          <a:lstStyle/>
          <a:p>
            <a:pPr marL="0" indent="0" algn="ctr">
              <a:buNone/>
            </a:pPr>
            <a:r>
              <a:rPr lang="en-US" sz="1500" dirty="0">
                <a:solidFill>
                  <a:srgbClr val="5B677A"/>
                </a:solidFill>
              </a:rPr>
              <a:t>0,45 €/kWh</a:t>
            </a:r>
            <a:endParaRPr lang="en-US" sz="1500" dirty="0"/>
          </a:p>
        </p:txBody>
      </p:sp>
      <p:sp>
        <p:nvSpPr>
          <p:cNvPr id="14" name="Text 12"/>
          <p:cNvSpPr/>
          <p:nvPr/>
        </p:nvSpPr>
        <p:spPr>
          <a:xfrm>
            <a:off x="3609705" y="2884603"/>
            <a:ext cx="2283332" cy="243385"/>
          </a:xfrm>
          <a:prstGeom prst="rect">
            <a:avLst/>
          </a:prstGeom>
          <a:noFill/>
          <a:ln/>
        </p:spPr>
        <p:txBody>
          <a:bodyPr wrap="square" lIns="0" tIns="0" rIns="0" bIns="0" rtlCol="0" anchor="ctr"/>
          <a:lstStyle/>
          <a:p>
            <a:pPr marL="0" indent="0" algn="ctr">
              <a:buNone/>
            </a:pPr>
            <a:r>
              <a:rPr lang="en-US" sz="1150" dirty="0">
                <a:solidFill>
                  <a:srgbClr val="5B677A"/>
                </a:solidFill>
              </a:rPr>
              <a:t>Combustibile alto</a:t>
            </a:r>
            <a:endParaRPr lang="en-US" sz="1150" dirty="0"/>
          </a:p>
        </p:txBody>
      </p:sp>
      <p:sp>
        <p:nvSpPr>
          <p:cNvPr id="15" name="Shape 13"/>
          <p:cNvSpPr/>
          <p:nvPr/>
        </p:nvSpPr>
        <p:spPr>
          <a:xfrm>
            <a:off x="6287102" y="1691996"/>
            <a:ext cx="2689258" cy="1565977"/>
          </a:xfrm>
          <a:prstGeom prst="roundRect">
            <a:avLst>
              <a:gd name="adj" fmla="val 3019"/>
            </a:avLst>
          </a:prstGeom>
          <a:solidFill>
            <a:srgbClr val="FFFFFF"/>
          </a:solidFill>
          <a:ln w="15240">
            <a:solidFill>
              <a:srgbClr val="CAD5E3"/>
            </a:solidFill>
            <a:prstDash val="solid"/>
          </a:ln>
        </p:spPr>
        <p:txBody>
          <a:bodyPr/>
          <a:lstStyle/>
          <a:p>
            <a:endParaRPr lang="it-IT"/>
          </a:p>
        </p:txBody>
      </p:sp>
      <p:sp>
        <p:nvSpPr>
          <p:cNvPr id="16" name="Text 14"/>
          <p:cNvSpPr/>
          <p:nvPr/>
        </p:nvSpPr>
        <p:spPr>
          <a:xfrm>
            <a:off x="6456179" y="1781768"/>
            <a:ext cx="2283332" cy="405641"/>
          </a:xfrm>
          <a:prstGeom prst="rect">
            <a:avLst/>
          </a:prstGeom>
          <a:noFill/>
          <a:ln/>
        </p:spPr>
        <p:txBody>
          <a:bodyPr wrap="square" lIns="0" tIns="0" rIns="0" bIns="0" rtlCol="0" anchor="ctr"/>
          <a:lstStyle/>
          <a:p>
            <a:pPr marL="0" indent="0" algn="ctr">
              <a:buNone/>
            </a:pPr>
            <a:r>
              <a:rPr lang="en-US" sz="3400" b="1" dirty="0">
                <a:solidFill>
                  <a:srgbClr val="16A34A"/>
                </a:solidFill>
              </a:rPr>
              <a:t>C</a:t>
            </a:r>
            <a:endParaRPr lang="en-US" sz="3400" dirty="0"/>
          </a:p>
        </p:txBody>
      </p:sp>
      <p:sp>
        <p:nvSpPr>
          <p:cNvPr id="17" name="Text 15"/>
          <p:cNvSpPr/>
          <p:nvPr/>
        </p:nvSpPr>
        <p:spPr>
          <a:xfrm>
            <a:off x="6490065" y="2204543"/>
            <a:ext cx="2283332" cy="243385"/>
          </a:xfrm>
          <a:prstGeom prst="rect">
            <a:avLst/>
          </a:prstGeom>
          <a:noFill/>
          <a:ln/>
        </p:spPr>
        <p:txBody>
          <a:bodyPr wrap="square" lIns="0" tIns="0" rIns="0" bIns="0" rtlCol="0" anchor="ctr"/>
          <a:lstStyle/>
          <a:p>
            <a:pPr marL="0" indent="0" algn="ctr">
              <a:buNone/>
            </a:pPr>
            <a:r>
              <a:rPr lang="en-US" sz="1700" b="1" dirty="0">
                <a:solidFill>
                  <a:srgbClr val="0F172A"/>
                </a:solidFill>
              </a:rPr>
              <a:t>Inverno</a:t>
            </a:r>
            <a:endParaRPr lang="en-US" sz="1700" dirty="0"/>
          </a:p>
        </p:txBody>
      </p:sp>
      <p:sp>
        <p:nvSpPr>
          <p:cNvPr id="18" name="Text 16"/>
          <p:cNvSpPr/>
          <p:nvPr/>
        </p:nvSpPr>
        <p:spPr>
          <a:xfrm>
            <a:off x="6456179" y="2555274"/>
            <a:ext cx="2283332" cy="243385"/>
          </a:xfrm>
          <a:prstGeom prst="rect">
            <a:avLst/>
          </a:prstGeom>
          <a:noFill/>
          <a:ln/>
        </p:spPr>
        <p:txBody>
          <a:bodyPr wrap="square" lIns="0" tIns="0" rIns="0" bIns="0" rtlCol="0" anchor="ctr"/>
          <a:lstStyle/>
          <a:p>
            <a:pPr marL="0" indent="0" algn="ctr">
              <a:buNone/>
            </a:pPr>
            <a:r>
              <a:rPr lang="en-US" sz="1500" dirty="0">
                <a:solidFill>
                  <a:srgbClr val="5B677A"/>
                </a:solidFill>
              </a:rPr>
              <a:t>0,15 €/kWh</a:t>
            </a:r>
            <a:endParaRPr lang="en-US" sz="1500" dirty="0"/>
          </a:p>
        </p:txBody>
      </p:sp>
      <p:sp>
        <p:nvSpPr>
          <p:cNvPr id="19" name="Text 17"/>
          <p:cNvSpPr/>
          <p:nvPr/>
        </p:nvSpPr>
        <p:spPr>
          <a:xfrm>
            <a:off x="6456179" y="2880777"/>
            <a:ext cx="2283332" cy="243385"/>
          </a:xfrm>
          <a:prstGeom prst="rect">
            <a:avLst/>
          </a:prstGeom>
          <a:noFill/>
          <a:ln/>
        </p:spPr>
        <p:txBody>
          <a:bodyPr wrap="square" lIns="0" tIns="0" rIns="0" bIns="0" rtlCol="0" anchor="ctr"/>
          <a:lstStyle/>
          <a:p>
            <a:pPr marL="0" indent="0" algn="ctr">
              <a:buNone/>
            </a:pPr>
            <a:r>
              <a:rPr lang="en-US" sz="1150" dirty="0">
                <a:solidFill>
                  <a:srgbClr val="5B677A"/>
                </a:solidFill>
              </a:rPr>
              <a:t>Combustibile basso</a:t>
            </a:r>
            <a:endParaRPr lang="en-US" sz="1150" dirty="0"/>
          </a:p>
        </p:txBody>
      </p:sp>
      <p:sp>
        <p:nvSpPr>
          <p:cNvPr id="20" name="Shape 18"/>
          <p:cNvSpPr/>
          <p:nvPr/>
        </p:nvSpPr>
        <p:spPr>
          <a:xfrm>
            <a:off x="9167462" y="1691996"/>
            <a:ext cx="2689258" cy="1565977"/>
          </a:xfrm>
          <a:prstGeom prst="roundRect">
            <a:avLst>
              <a:gd name="adj" fmla="val 3019"/>
            </a:avLst>
          </a:prstGeom>
          <a:solidFill>
            <a:srgbClr val="FFFFFF"/>
          </a:solidFill>
          <a:ln w="15240">
            <a:solidFill>
              <a:srgbClr val="CAD5E3"/>
            </a:solidFill>
            <a:prstDash val="solid"/>
          </a:ln>
        </p:spPr>
        <p:txBody>
          <a:bodyPr/>
          <a:lstStyle/>
          <a:p>
            <a:endParaRPr lang="it-IT"/>
          </a:p>
        </p:txBody>
      </p:sp>
      <p:sp>
        <p:nvSpPr>
          <p:cNvPr id="21" name="Text 19"/>
          <p:cNvSpPr/>
          <p:nvPr/>
        </p:nvSpPr>
        <p:spPr>
          <a:xfrm>
            <a:off x="9336539" y="1820304"/>
            <a:ext cx="2283332" cy="405641"/>
          </a:xfrm>
          <a:prstGeom prst="rect">
            <a:avLst/>
          </a:prstGeom>
          <a:noFill/>
          <a:ln/>
        </p:spPr>
        <p:txBody>
          <a:bodyPr wrap="square" lIns="0" tIns="0" rIns="0" bIns="0" rtlCol="0" anchor="ctr"/>
          <a:lstStyle/>
          <a:p>
            <a:pPr marL="0" indent="0" algn="ctr">
              <a:buNone/>
            </a:pPr>
            <a:r>
              <a:rPr lang="en-US" sz="3400" b="1" dirty="0">
                <a:solidFill>
                  <a:srgbClr val="F97316"/>
                </a:solidFill>
              </a:rPr>
              <a:t>D</a:t>
            </a:r>
            <a:endParaRPr lang="en-US" sz="3400" dirty="0"/>
          </a:p>
        </p:txBody>
      </p:sp>
      <p:sp>
        <p:nvSpPr>
          <p:cNvPr id="22" name="Text 20"/>
          <p:cNvSpPr/>
          <p:nvPr/>
        </p:nvSpPr>
        <p:spPr>
          <a:xfrm>
            <a:off x="9370425" y="2247868"/>
            <a:ext cx="2283332" cy="243385"/>
          </a:xfrm>
          <a:prstGeom prst="rect">
            <a:avLst/>
          </a:prstGeom>
          <a:noFill/>
          <a:ln/>
        </p:spPr>
        <p:txBody>
          <a:bodyPr wrap="square" lIns="0" tIns="0" rIns="0" bIns="0" rtlCol="0" anchor="ctr"/>
          <a:lstStyle/>
          <a:p>
            <a:pPr marL="0" indent="0" algn="ctr">
              <a:buNone/>
            </a:pPr>
            <a:r>
              <a:rPr lang="en-US" sz="1700" b="1" dirty="0">
                <a:solidFill>
                  <a:srgbClr val="0F172A"/>
                </a:solidFill>
              </a:rPr>
              <a:t>Inverno</a:t>
            </a:r>
            <a:endParaRPr lang="en-US" sz="1700" dirty="0"/>
          </a:p>
        </p:txBody>
      </p:sp>
      <p:sp>
        <p:nvSpPr>
          <p:cNvPr id="23" name="Text 21"/>
          <p:cNvSpPr/>
          <p:nvPr/>
        </p:nvSpPr>
        <p:spPr>
          <a:xfrm>
            <a:off x="9370425" y="2552981"/>
            <a:ext cx="2283332" cy="243385"/>
          </a:xfrm>
          <a:prstGeom prst="rect">
            <a:avLst/>
          </a:prstGeom>
          <a:noFill/>
          <a:ln/>
        </p:spPr>
        <p:txBody>
          <a:bodyPr wrap="square" lIns="0" tIns="0" rIns="0" bIns="0" rtlCol="0" anchor="ctr"/>
          <a:lstStyle/>
          <a:p>
            <a:pPr marL="0" indent="0" algn="ctr">
              <a:buNone/>
            </a:pPr>
            <a:r>
              <a:rPr lang="en-US" sz="1500" dirty="0">
                <a:solidFill>
                  <a:srgbClr val="5B677A"/>
                </a:solidFill>
              </a:rPr>
              <a:t>0,45 €/kWh</a:t>
            </a:r>
            <a:endParaRPr lang="en-US" sz="1500" dirty="0"/>
          </a:p>
        </p:txBody>
      </p:sp>
      <p:sp>
        <p:nvSpPr>
          <p:cNvPr id="24" name="Text 22"/>
          <p:cNvSpPr/>
          <p:nvPr/>
        </p:nvSpPr>
        <p:spPr>
          <a:xfrm>
            <a:off x="9336539" y="2880777"/>
            <a:ext cx="2283332" cy="243385"/>
          </a:xfrm>
          <a:prstGeom prst="rect">
            <a:avLst/>
          </a:prstGeom>
          <a:noFill/>
          <a:ln/>
        </p:spPr>
        <p:txBody>
          <a:bodyPr wrap="square" lIns="0" tIns="0" rIns="0" bIns="0" rtlCol="0" anchor="ctr"/>
          <a:lstStyle/>
          <a:p>
            <a:pPr marL="0" indent="0" algn="ctr">
              <a:buNone/>
            </a:pPr>
            <a:r>
              <a:rPr lang="en-US" sz="1150" dirty="0">
                <a:solidFill>
                  <a:srgbClr val="5B677A"/>
                </a:solidFill>
              </a:rPr>
              <a:t>Combustibile alto</a:t>
            </a:r>
            <a:endParaRPr lang="en-US" sz="1150" dirty="0"/>
          </a:p>
        </p:txBody>
      </p:sp>
      <p:sp>
        <p:nvSpPr>
          <p:cNvPr id="26" name="Text 1">
            <a:extLst>
              <a:ext uri="{FF2B5EF4-FFF2-40B4-BE49-F238E27FC236}">
                <a16:creationId xmlns:a16="http://schemas.microsoft.com/office/drawing/2014/main" id="{7823CDFA-79ED-CEEF-3601-73BF4AD636FB}"/>
              </a:ext>
            </a:extLst>
          </p:cNvPr>
          <p:cNvSpPr/>
          <p:nvPr/>
        </p:nvSpPr>
        <p:spPr>
          <a:xfrm>
            <a:off x="594360" y="1118238"/>
            <a:ext cx="10972800" cy="564133"/>
          </a:xfrm>
          <a:prstGeom prst="rect">
            <a:avLst/>
          </a:prstGeom>
          <a:noFill/>
          <a:ln/>
        </p:spPr>
        <p:txBody>
          <a:bodyPr wrap="square" lIns="0" tIns="0" rIns="0" bIns="0" rtlCol="0" anchor="ctr"/>
          <a:lstStyle/>
          <a:p>
            <a:r>
              <a:rPr lang="en-US" sz="1500" dirty="0">
                <a:solidFill>
                  <a:schemeClr val="tx1">
                    <a:lumMod val="65000"/>
                    <a:lumOff val="35000"/>
                  </a:schemeClr>
                </a:solidFill>
              </a:rPr>
              <a:t>Input </a:t>
            </a:r>
            <a:r>
              <a:rPr lang="en-US" sz="1500" dirty="0" err="1">
                <a:solidFill>
                  <a:schemeClr val="tx1">
                    <a:lumMod val="65000"/>
                    <a:lumOff val="35000"/>
                  </a:schemeClr>
                </a:solidFill>
              </a:rPr>
              <a:t>modello</a:t>
            </a:r>
            <a:r>
              <a:rPr lang="en-US" sz="1500" dirty="0">
                <a:solidFill>
                  <a:schemeClr val="tx1">
                    <a:lumMod val="65000"/>
                    <a:lumOff val="35000"/>
                  </a:schemeClr>
                </a:solidFill>
              </a:rPr>
              <a:t>:  </a:t>
            </a:r>
            <a:r>
              <a:rPr lang="it-IT" sz="1500" dirty="0">
                <a:solidFill>
                  <a:schemeClr val="tx1">
                    <a:lumMod val="65000"/>
                    <a:lumOff val="35000"/>
                  </a:schemeClr>
                </a:solidFill>
              </a:rPr>
              <a:t>temperatura esterna irradianza + profilo fotovoltaico + carico uffici + PUN</a:t>
            </a:r>
            <a:endParaRPr lang="en-US" sz="1500" dirty="0">
              <a:solidFill>
                <a:schemeClr val="tx1">
                  <a:lumMod val="65000"/>
                  <a:lumOff val="35000"/>
                </a:schemeClr>
              </a:solidFill>
            </a:endParaRPr>
          </a:p>
        </p:txBody>
      </p:sp>
      <p:pic>
        <p:nvPicPr>
          <p:cNvPr id="27" name="Immagine 26">
            <a:extLst>
              <a:ext uri="{FF2B5EF4-FFF2-40B4-BE49-F238E27FC236}">
                <a16:creationId xmlns:a16="http://schemas.microsoft.com/office/drawing/2014/main" id="{0471E9C0-18BD-724C-D515-742DE3757342}"/>
              </a:ext>
            </a:extLst>
          </p:cNvPr>
          <p:cNvPicPr>
            <a:picLocks noChangeAspect="1"/>
          </p:cNvPicPr>
          <p:nvPr/>
        </p:nvPicPr>
        <p:blipFill>
          <a:blip r:embed="rId3"/>
          <a:stretch>
            <a:fillRect/>
          </a:stretch>
        </p:blipFill>
        <p:spPr>
          <a:xfrm>
            <a:off x="215894" y="3351759"/>
            <a:ext cx="5831586" cy="3281635"/>
          </a:xfrm>
          <a:prstGeom prst="rect">
            <a:avLst/>
          </a:prstGeom>
        </p:spPr>
      </p:pic>
      <p:pic>
        <p:nvPicPr>
          <p:cNvPr id="28" name="Immagine 27">
            <a:extLst>
              <a:ext uri="{FF2B5EF4-FFF2-40B4-BE49-F238E27FC236}">
                <a16:creationId xmlns:a16="http://schemas.microsoft.com/office/drawing/2014/main" id="{062B6739-3B59-2AC6-63B9-A931702CEEF6}"/>
              </a:ext>
            </a:extLst>
          </p:cNvPr>
          <p:cNvPicPr>
            <a:picLocks noChangeAspect="1"/>
          </p:cNvPicPr>
          <p:nvPr/>
        </p:nvPicPr>
        <p:blipFill>
          <a:blip r:embed="rId4"/>
          <a:stretch>
            <a:fillRect/>
          </a:stretch>
        </p:blipFill>
        <p:spPr>
          <a:xfrm>
            <a:off x="6047480" y="3301362"/>
            <a:ext cx="6093462" cy="34290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Confronto tra scenari</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Il costo del combustibile cambia la strategia</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Text 3"/>
          <p:cNvSpPr/>
          <p:nvPr/>
        </p:nvSpPr>
        <p:spPr>
          <a:xfrm>
            <a:off x="868680" y="1180338"/>
            <a:ext cx="4663440" cy="228600"/>
          </a:xfrm>
          <a:prstGeom prst="rect">
            <a:avLst/>
          </a:prstGeom>
          <a:noFill/>
          <a:ln/>
        </p:spPr>
        <p:txBody>
          <a:bodyPr wrap="square" lIns="0" tIns="0" rIns="0" bIns="0" rtlCol="0" anchor="ctr"/>
          <a:lstStyle/>
          <a:p>
            <a:pPr marL="0" indent="0" algn="ctr">
              <a:buNone/>
            </a:pPr>
            <a:r>
              <a:rPr lang="en-US" sz="1500" b="1" dirty="0">
                <a:solidFill>
                  <a:srgbClr val="0F172A"/>
                </a:solidFill>
              </a:rPr>
              <a:t>Costo totale [€]</a:t>
            </a:r>
            <a:endParaRPr lang="en-US" sz="1500" dirty="0"/>
          </a:p>
        </p:txBody>
      </p:sp>
      <p:sp>
        <p:nvSpPr>
          <p:cNvPr id="6" name="Shape 4"/>
          <p:cNvSpPr/>
          <p:nvPr/>
        </p:nvSpPr>
        <p:spPr>
          <a:xfrm>
            <a:off x="594360" y="1482090"/>
            <a:ext cx="5394960" cy="2057400"/>
          </a:xfrm>
          <a:prstGeom prst="rect">
            <a:avLst/>
          </a:prstGeom>
          <a:solidFill>
            <a:srgbClr val="FFFFFF"/>
          </a:solidFill>
          <a:ln w="10160">
            <a:solidFill>
              <a:srgbClr val="CAD5E3"/>
            </a:solidFill>
            <a:prstDash val="solid"/>
          </a:ln>
        </p:spPr>
        <p:txBody>
          <a:bodyPr/>
          <a:lstStyle/>
          <a:p>
            <a:endParaRPr lang="it-IT"/>
          </a:p>
        </p:txBody>
      </p:sp>
      <p:sp>
        <p:nvSpPr>
          <p:cNvPr id="7" name="Shape 5"/>
          <p:cNvSpPr/>
          <p:nvPr/>
        </p:nvSpPr>
        <p:spPr>
          <a:xfrm>
            <a:off x="914400" y="3036570"/>
            <a:ext cx="4892040" cy="0"/>
          </a:xfrm>
          <a:prstGeom prst="line">
            <a:avLst/>
          </a:prstGeom>
          <a:noFill/>
          <a:ln w="12700">
            <a:solidFill>
              <a:srgbClr val="CBD5E1"/>
            </a:solidFill>
            <a:prstDash val="solid"/>
          </a:ln>
        </p:spPr>
        <p:txBody>
          <a:bodyPr/>
          <a:lstStyle/>
          <a:p>
            <a:endParaRPr lang="it-IT"/>
          </a:p>
        </p:txBody>
      </p:sp>
      <p:sp>
        <p:nvSpPr>
          <p:cNvPr id="8" name="Shape 6"/>
          <p:cNvSpPr/>
          <p:nvPr/>
        </p:nvSpPr>
        <p:spPr>
          <a:xfrm>
            <a:off x="850392" y="2445296"/>
            <a:ext cx="1028700" cy="591274"/>
          </a:xfrm>
          <a:prstGeom prst="rect">
            <a:avLst/>
          </a:prstGeom>
          <a:solidFill>
            <a:srgbClr val="0F172A"/>
          </a:solidFill>
          <a:ln w="12700">
            <a:solidFill>
              <a:srgbClr val="0F172A"/>
            </a:solidFill>
            <a:prstDash val="solid"/>
          </a:ln>
        </p:spPr>
        <p:txBody>
          <a:bodyPr/>
          <a:lstStyle/>
          <a:p>
            <a:endParaRPr lang="it-IT"/>
          </a:p>
        </p:txBody>
      </p:sp>
      <p:sp>
        <p:nvSpPr>
          <p:cNvPr id="9" name="Text 7"/>
          <p:cNvSpPr/>
          <p:nvPr/>
        </p:nvSpPr>
        <p:spPr>
          <a:xfrm>
            <a:off x="804672" y="2170976"/>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3695</a:t>
            </a:r>
            <a:endParaRPr lang="en-US" sz="850" dirty="0"/>
          </a:p>
        </p:txBody>
      </p:sp>
      <p:sp>
        <p:nvSpPr>
          <p:cNvPr id="10" name="Text 8"/>
          <p:cNvSpPr/>
          <p:nvPr/>
        </p:nvSpPr>
        <p:spPr>
          <a:xfrm>
            <a:off x="786384"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A</a:t>
            </a:r>
            <a:endParaRPr lang="en-US" sz="820" dirty="0"/>
          </a:p>
          <a:p>
            <a:pPr marL="0" indent="0" algn="ctr">
              <a:buNone/>
            </a:pPr>
            <a:r>
              <a:rPr lang="en-US" sz="820" dirty="0">
                <a:solidFill>
                  <a:srgbClr val="5B677A"/>
                </a:solidFill>
              </a:rPr>
              <a:t>estate</a:t>
            </a:r>
            <a:endParaRPr lang="en-US" sz="820" dirty="0"/>
          </a:p>
        </p:txBody>
      </p:sp>
      <p:sp>
        <p:nvSpPr>
          <p:cNvPr id="11" name="Shape 9"/>
          <p:cNvSpPr/>
          <p:nvPr/>
        </p:nvSpPr>
        <p:spPr>
          <a:xfrm>
            <a:off x="2135124" y="2153420"/>
            <a:ext cx="1028700" cy="883150"/>
          </a:xfrm>
          <a:prstGeom prst="rect">
            <a:avLst/>
          </a:prstGeom>
          <a:solidFill>
            <a:srgbClr val="0F172A"/>
          </a:solidFill>
          <a:ln w="12700">
            <a:solidFill>
              <a:srgbClr val="0F172A"/>
            </a:solidFill>
            <a:prstDash val="solid"/>
          </a:ln>
        </p:spPr>
        <p:txBody>
          <a:bodyPr/>
          <a:lstStyle/>
          <a:p>
            <a:endParaRPr lang="it-IT"/>
          </a:p>
        </p:txBody>
      </p:sp>
      <p:sp>
        <p:nvSpPr>
          <p:cNvPr id="12" name="Text 10"/>
          <p:cNvSpPr/>
          <p:nvPr/>
        </p:nvSpPr>
        <p:spPr>
          <a:xfrm>
            <a:off x="2089404" y="1879100"/>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5519</a:t>
            </a:r>
            <a:endParaRPr lang="en-US" sz="850" dirty="0"/>
          </a:p>
        </p:txBody>
      </p:sp>
      <p:sp>
        <p:nvSpPr>
          <p:cNvPr id="13" name="Text 11"/>
          <p:cNvSpPr/>
          <p:nvPr/>
        </p:nvSpPr>
        <p:spPr>
          <a:xfrm>
            <a:off x="2071116"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B</a:t>
            </a:r>
            <a:endParaRPr lang="en-US" sz="820" dirty="0"/>
          </a:p>
          <a:p>
            <a:pPr marL="0" indent="0" algn="ctr">
              <a:buNone/>
            </a:pPr>
            <a:r>
              <a:rPr lang="en-US" sz="820" dirty="0">
                <a:solidFill>
                  <a:srgbClr val="5B677A"/>
                </a:solidFill>
              </a:rPr>
              <a:t>estate</a:t>
            </a:r>
            <a:endParaRPr lang="en-US" sz="820" dirty="0"/>
          </a:p>
        </p:txBody>
      </p:sp>
      <p:sp>
        <p:nvSpPr>
          <p:cNvPr id="14" name="Shape 12"/>
          <p:cNvSpPr/>
          <p:nvPr/>
        </p:nvSpPr>
        <p:spPr>
          <a:xfrm>
            <a:off x="3419856" y="2555070"/>
            <a:ext cx="1028700" cy="481500"/>
          </a:xfrm>
          <a:prstGeom prst="rect">
            <a:avLst/>
          </a:prstGeom>
          <a:solidFill>
            <a:srgbClr val="0F172A"/>
          </a:solidFill>
          <a:ln w="12700">
            <a:solidFill>
              <a:srgbClr val="0F172A"/>
            </a:solidFill>
            <a:prstDash val="solid"/>
          </a:ln>
        </p:spPr>
        <p:txBody>
          <a:bodyPr/>
          <a:lstStyle/>
          <a:p>
            <a:endParaRPr lang="it-IT"/>
          </a:p>
        </p:txBody>
      </p:sp>
      <p:sp>
        <p:nvSpPr>
          <p:cNvPr id="15" name="Text 13"/>
          <p:cNvSpPr/>
          <p:nvPr/>
        </p:nvSpPr>
        <p:spPr>
          <a:xfrm>
            <a:off x="3374136" y="2280750"/>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3009</a:t>
            </a:r>
            <a:endParaRPr lang="en-US" sz="850" dirty="0"/>
          </a:p>
        </p:txBody>
      </p:sp>
      <p:sp>
        <p:nvSpPr>
          <p:cNvPr id="16" name="Text 14"/>
          <p:cNvSpPr/>
          <p:nvPr/>
        </p:nvSpPr>
        <p:spPr>
          <a:xfrm>
            <a:off x="3355848"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C</a:t>
            </a:r>
            <a:endParaRPr lang="en-US" sz="820" dirty="0"/>
          </a:p>
          <a:p>
            <a:pPr marL="0" indent="0" algn="ctr">
              <a:buNone/>
            </a:pPr>
            <a:r>
              <a:rPr lang="en-US" sz="820" dirty="0">
                <a:solidFill>
                  <a:srgbClr val="5B677A"/>
                </a:solidFill>
              </a:rPr>
              <a:t>inverno</a:t>
            </a:r>
            <a:endParaRPr lang="en-US" sz="820" dirty="0"/>
          </a:p>
        </p:txBody>
      </p:sp>
      <p:sp>
        <p:nvSpPr>
          <p:cNvPr id="17" name="Shape 15"/>
          <p:cNvSpPr/>
          <p:nvPr/>
        </p:nvSpPr>
        <p:spPr>
          <a:xfrm>
            <a:off x="4704588" y="2283036"/>
            <a:ext cx="1028700" cy="753534"/>
          </a:xfrm>
          <a:prstGeom prst="rect">
            <a:avLst/>
          </a:prstGeom>
          <a:solidFill>
            <a:srgbClr val="0F172A"/>
          </a:solidFill>
          <a:ln w="12700">
            <a:solidFill>
              <a:srgbClr val="0F172A"/>
            </a:solidFill>
            <a:prstDash val="solid"/>
          </a:ln>
        </p:spPr>
        <p:txBody>
          <a:bodyPr/>
          <a:lstStyle/>
          <a:p>
            <a:endParaRPr lang="it-IT"/>
          </a:p>
        </p:txBody>
      </p:sp>
      <p:sp>
        <p:nvSpPr>
          <p:cNvPr id="18" name="Text 16"/>
          <p:cNvSpPr/>
          <p:nvPr/>
        </p:nvSpPr>
        <p:spPr>
          <a:xfrm>
            <a:off x="4658868" y="2008716"/>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4709</a:t>
            </a:r>
            <a:endParaRPr lang="en-US" sz="850" dirty="0"/>
          </a:p>
        </p:txBody>
      </p:sp>
      <p:sp>
        <p:nvSpPr>
          <p:cNvPr id="19" name="Text 17"/>
          <p:cNvSpPr/>
          <p:nvPr/>
        </p:nvSpPr>
        <p:spPr>
          <a:xfrm>
            <a:off x="4640580"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D</a:t>
            </a:r>
            <a:endParaRPr lang="en-US" sz="820" dirty="0"/>
          </a:p>
          <a:p>
            <a:pPr marL="0" indent="0" algn="ctr">
              <a:buNone/>
            </a:pPr>
            <a:r>
              <a:rPr lang="en-US" sz="820" dirty="0">
                <a:solidFill>
                  <a:srgbClr val="5B677A"/>
                </a:solidFill>
              </a:rPr>
              <a:t>inverno</a:t>
            </a:r>
            <a:endParaRPr lang="en-US" sz="820" dirty="0"/>
          </a:p>
        </p:txBody>
      </p:sp>
      <p:sp>
        <p:nvSpPr>
          <p:cNvPr id="20" name="Text 18"/>
          <p:cNvSpPr/>
          <p:nvPr/>
        </p:nvSpPr>
        <p:spPr>
          <a:xfrm>
            <a:off x="6629400" y="1180338"/>
            <a:ext cx="4663440" cy="228600"/>
          </a:xfrm>
          <a:prstGeom prst="rect">
            <a:avLst/>
          </a:prstGeom>
          <a:noFill/>
          <a:ln/>
        </p:spPr>
        <p:txBody>
          <a:bodyPr wrap="square" lIns="0" tIns="0" rIns="0" bIns="0" rtlCol="0" anchor="ctr"/>
          <a:lstStyle/>
          <a:p>
            <a:pPr marL="0" indent="0" algn="ctr">
              <a:buNone/>
            </a:pPr>
            <a:r>
              <a:rPr lang="en-US" sz="1500" b="1" dirty="0">
                <a:solidFill>
                  <a:srgbClr val="0F172A"/>
                </a:solidFill>
              </a:rPr>
              <a:t>Energia importata [kWh]</a:t>
            </a:r>
            <a:endParaRPr lang="en-US" sz="1500" dirty="0"/>
          </a:p>
        </p:txBody>
      </p:sp>
      <p:sp>
        <p:nvSpPr>
          <p:cNvPr id="21" name="Shape 19"/>
          <p:cNvSpPr/>
          <p:nvPr/>
        </p:nvSpPr>
        <p:spPr>
          <a:xfrm>
            <a:off x="6217920" y="1482090"/>
            <a:ext cx="5394960" cy="2057400"/>
          </a:xfrm>
          <a:prstGeom prst="rect">
            <a:avLst/>
          </a:prstGeom>
          <a:solidFill>
            <a:srgbClr val="FFFFFF"/>
          </a:solidFill>
          <a:ln w="10160">
            <a:solidFill>
              <a:srgbClr val="CAD5E3"/>
            </a:solidFill>
            <a:prstDash val="solid"/>
          </a:ln>
        </p:spPr>
        <p:txBody>
          <a:bodyPr/>
          <a:lstStyle/>
          <a:p>
            <a:endParaRPr lang="it-IT"/>
          </a:p>
        </p:txBody>
      </p:sp>
      <p:sp>
        <p:nvSpPr>
          <p:cNvPr id="22" name="Shape 20"/>
          <p:cNvSpPr/>
          <p:nvPr/>
        </p:nvSpPr>
        <p:spPr>
          <a:xfrm>
            <a:off x="6537960" y="3036570"/>
            <a:ext cx="4892040" cy="0"/>
          </a:xfrm>
          <a:prstGeom prst="line">
            <a:avLst/>
          </a:prstGeom>
          <a:noFill/>
          <a:ln w="12700">
            <a:solidFill>
              <a:srgbClr val="CBD5E1"/>
            </a:solidFill>
            <a:prstDash val="solid"/>
          </a:ln>
        </p:spPr>
        <p:txBody>
          <a:bodyPr/>
          <a:lstStyle/>
          <a:p>
            <a:endParaRPr lang="it-IT"/>
          </a:p>
        </p:txBody>
      </p:sp>
      <p:sp>
        <p:nvSpPr>
          <p:cNvPr id="23" name="Shape 21"/>
          <p:cNvSpPr/>
          <p:nvPr/>
        </p:nvSpPr>
        <p:spPr>
          <a:xfrm>
            <a:off x="6473952" y="2606262"/>
            <a:ext cx="1028700" cy="430308"/>
          </a:xfrm>
          <a:prstGeom prst="rect">
            <a:avLst/>
          </a:prstGeom>
          <a:solidFill>
            <a:srgbClr val="2563EB"/>
          </a:solidFill>
          <a:ln w="12700">
            <a:solidFill>
              <a:srgbClr val="2563EB"/>
            </a:solidFill>
            <a:prstDash val="solid"/>
          </a:ln>
        </p:spPr>
        <p:txBody>
          <a:bodyPr/>
          <a:lstStyle/>
          <a:p>
            <a:endParaRPr lang="it-IT"/>
          </a:p>
        </p:txBody>
      </p:sp>
      <p:sp>
        <p:nvSpPr>
          <p:cNvPr id="24" name="Text 22"/>
          <p:cNvSpPr/>
          <p:nvPr/>
        </p:nvSpPr>
        <p:spPr>
          <a:xfrm>
            <a:off x="6428232" y="2331942"/>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4930</a:t>
            </a:r>
            <a:endParaRPr lang="en-US" sz="850" dirty="0"/>
          </a:p>
        </p:txBody>
      </p:sp>
      <p:sp>
        <p:nvSpPr>
          <p:cNvPr id="25" name="Text 23"/>
          <p:cNvSpPr/>
          <p:nvPr/>
        </p:nvSpPr>
        <p:spPr>
          <a:xfrm>
            <a:off x="6409944"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A</a:t>
            </a:r>
            <a:endParaRPr lang="en-US" sz="820" dirty="0"/>
          </a:p>
          <a:p>
            <a:pPr marL="0" indent="0" algn="ctr">
              <a:buNone/>
            </a:pPr>
            <a:r>
              <a:rPr lang="en-US" sz="820" dirty="0">
                <a:solidFill>
                  <a:srgbClr val="5B677A"/>
                </a:solidFill>
              </a:rPr>
              <a:t>estate</a:t>
            </a:r>
            <a:endParaRPr lang="en-US" sz="820" dirty="0"/>
          </a:p>
        </p:txBody>
      </p:sp>
      <p:sp>
        <p:nvSpPr>
          <p:cNvPr id="26" name="Shape 24"/>
          <p:cNvSpPr/>
          <p:nvPr/>
        </p:nvSpPr>
        <p:spPr>
          <a:xfrm>
            <a:off x="7758684" y="2104555"/>
            <a:ext cx="1028700" cy="932015"/>
          </a:xfrm>
          <a:prstGeom prst="rect">
            <a:avLst/>
          </a:prstGeom>
          <a:solidFill>
            <a:srgbClr val="2563EB"/>
          </a:solidFill>
          <a:ln w="12700">
            <a:solidFill>
              <a:srgbClr val="2563EB"/>
            </a:solidFill>
            <a:prstDash val="solid"/>
          </a:ln>
        </p:spPr>
        <p:txBody>
          <a:bodyPr/>
          <a:lstStyle/>
          <a:p>
            <a:endParaRPr lang="it-IT"/>
          </a:p>
        </p:txBody>
      </p:sp>
      <p:sp>
        <p:nvSpPr>
          <p:cNvPr id="27" name="Text 25"/>
          <p:cNvSpPr/>
          <p:nvPr/>
        </p:nvSpPr>
        <p:spPr>
          <a:xfrm>
            <a:off x="7712964" y="1830235"/>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10678</a:t>
            </a:r>
            <a:endParaRPr lang="en-US" sz="850" dirty="0"/>
          </a:p>
        </p:txBody>
      </p:sp>
      <p:sp>
        <p:nvSpPr>
          <p:cNvPr id="28" name="Text 26"/>
          <p:cNvSpPr/>
          <p:nvPr/>
        </p:nvSpPr>
        <p:spPr>
          <a:xfrm>
            <a:off x="7694676"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B</a:t>
            </a:r>
            <a:endParaRPr lang="en-US" sz="820" dirty="0"/>
          </a:p>
          <a:p>
            <a:pPr marL="0" indent="0" algn="ctr">
              <a:buNone/>
            </a:pPr>
            <a:r>
              <a:rPr lang="en-US" sz="820" dirty="0">
                <a:solidFill>
                  <a:srgbClr val="5B677A"/>
                </a:solidFill>
              </a:rPr>
              <a:t>estate</a:t>
            </a:r>
            <a:endParaRPr lang="en-US" sz="820" dirty="0"/>
          </a:p>
        </p:txBody>
      </p:sp>
      <p:sp>
        <p:nvSpPr>
          <p:cNvPr id="29" name="Shape 27"/>
          <p:cNvSpPr/>
          <p:nvPr/>
        </p:nvSpPr>
        <p:spPr>
          <a:xfrm>
            <a:off x="9043416" y="2707162"/>
            <a:ext cx="1028700" cy="329408"/>
          </a:xfrm>
          <a:prstGeom prst="rect">
            <a:avLst/>
          </a:prstGeom>
          <a:solidFill>
            <a:srgbClr val="2563EB"/>
          </a:solidFill>
          <a:ln w="12700">
            <a:solidFill>
              <a:srgbClr val="2563EB"/>
            </a:solidFill>
            <a:prstDash val="solid"/>
          </a:ln>
        </p:spPr>
        <p:txBody>
          <a:bodyPr/>
          <a:lstStyle/>
          <a:p>
            <a:endParaRPr lang="it-IT"/>
          </a:p>
        </p:txBody>
      </p:sp>
      <p:sp>
        <p:nvSpPr>
          <p:cNvPr id="30" name="Text 28"/>
          <p:cNvSpPr/>
          <p:nvPr/>
        </p:nvSpPr>
        <p:spPr>
          <a:xfrm>
            <a:off x="8997696" y="2432842"/>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3774</a:t>
            </a:r>
            <a:endParaRPr lang="en-US" sz="850" dirty="0"/>
          </a:p>
        </p:txBody>
      </p:sp>
      <p:sp>
        <p:nvSpPr>
          <p:cNvPr id="31" name="Text 29"/>
          <p:cNvSpPr/>
          <p:nvPr/>
        </p:nvSpPr>
        <p:spPr>
          <a:xfrm>
            <a:off x="8979408"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C</a:t>
            </a:r>
            <a:endParaRPr lang="en-US" sz="820" dirty="0"/>
          </a:p>
          <a:p>
            <a:pPr marL="0" indent="0" algn="ctr">
              <a:buNone/>
            </a:pPr>
            <a:r>
              <a:rPr lang="en-US" sz="820" dirty="0">
                <a:solidFill>
                  <a:srgbClr val="5B677A"/>
                </a:solidFill>
              </a:rPr>
              <a:t>inverno</a:t>
            </a:r>
            <a:endParaRPr lang="en-US" sz="820" dirty="0"/>
          </a:p>
        </p:txBody>
      </p:sp>
      <p:sp>
        <p:nvSpPr>
          <p:cNvPr id="32" name="Shape 30"/>
          <p:cNvSpPr/>
          <p:nvPr/>
        </p:nvSpPr>
        <p:spPr>
          <a:xfrm>
            <a:off x="10328148" y="2204582"/>
            <a:ext cx="1028700" cy="831988"/>
          </a:xfrm>
          <a:prstGeom prst="rect">
            <a:avLst/>
          </a:prstGeom>
          <a:solidFill>
            <a:srgbClr val="2563EB"/>
          </a:solidFill>
          <a:ln w="12700">
            <a:solidFill>
              <a:srgbClr val="2563EB"/>
            </a:solidFill>
            <a:prstDash val="solid"/>
          </a:ln>
        </p:spPr>
        <p:txBody>
          <a:bodyPr/>
          <a:lstStyle/>
          <a:p>
            <a:endParaRPr lang="it-IT"/>
          </a:p>
        </p:txBody>
      </p:sp>
      <p:sp>
        <p:nvSpPr>
          <p:cNvPr id="33" name="Text 31"/>
          <p:cNvSpPr/>
          <p:nvPr/>
        </p:nvSpPr>
        <p:spPr>
          <a:xfrm>
            <a:off x="10282428" y="1930262"/>
            <a:ext cx="1120140" cy="182880"/>
          </a:xfrm>
          <a:prstGeom prst="rect">
            <a:avLst/>
          </a:prstGeom>
          <a:noFill/>
          <a:ln/>
        </p:spPr>
        <p:txBody>
          <a:bodyPr wrap="square" lIns="0" tIns="0" rIns="0" bIns="0" rtlCol="0" anchor="ctr"/>
          <a:lstStyle/>
          <a:p>
            <a:pPr marL="0" indent="0" algn="ctr">
              <a:buNone/>
            </a:pPr>
            <a:r>
              <a:rPr lang="en-US" sz="850" b="1" dirty="0">
                <a:solidFill>
                  <a:srgbClr val="0F172A"/>
                </a:solidFill>
              </a:rPr>
              <a:t>9532</a:t>
            </a:r>
            <a:endParaRPr lang="en-US" sz="850" dirty="0"/>
          </a:p>
        </p:txBody>
      </p:sp>
      <p:sp>
        <p:nvSpPr>
          <p:cNvPr id="34" name="Text 32"/>
          <p:cNvSpPr/>
          <p:nvPr/>
        </p:nvSpPr>
        <p:spPr>
          <a:xfrm>
            <a:off x="10264140" y="3155442"/>
            <a:ext cx="1156716" cy="228600"/>
          </a:xfrm>
          <a:prstGeom prst="rect">
            <a:avLst/>
          </a:prstGeom>
          <a:noFill/>
          <a:ln/>
        </p:spPr>
        <p:txBody>
          <a:bodyPr wrap="square" lIns="0" tIns="0" rIns="0" bIns="0" rtlCol="0" anchor="ctr">
            <a:normAutofit lnSpcReduction="10000"/>
          </a:bodyPr>
          <a:lstStyle/>
          <a:p>
            <a:pPr marL="0" indent="0" algn="ctr">
              <a:buNone/>
            </a:pPr>
            <a:r>
              <a:rPr lang="en-US" sz="820" dirty="0">
                <a:solidFill>
                  <a:srgbClr val="5B677A"/>
                </a:solidFill>
              </a:rPr>
              <a:t>D</a:t>
            </a:r>
            <a:endParaRPr lang="en-US" sz="820" dirty="0"/>
          </a:p>
          <a:p>
            <a:pPr marL="0" indent="0" algn="ctr">
              <a:buNone/>
            </a:pPr>
            <a:r>
              <a:rPr lang="en-US" sz="820" dirty="0">
                <a:solidFill>
                  <a:srgbClr val="5B677A"/>
                </a:solidFill>
              </a:rPr>
              <a:t>inverno</a:t>
            </a:r>
            <a:endParaRPr lang="en-US" sz="820" dirty="0"/>
          </a:p>
        </p:txBody>
      </p:sp>
      <p:sp>
        <p:nvSpPr>
          <p:cNvPr id="41" name="Shape 39"/>
          <p:cNvSpPr/>
          <p:nvPr/>
        </p:nvSpPr>
        <p:spPr>
          <a:xfrm>
            <a:off x="1325880" y="5717286"/>
            <a:ext cx="9784080" cy="672083"/>
          </a:xfrm>
          <a:prstGeom prst="roundRect">
            <a:avLst>
              <a:gd name="adj" fmla="val 8421"/>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r>
              <a:rPr lang="it-IT" dirty="0"/>
              <a:t>Il modello sta prendendo decisioni coerenti dal punto di vista economico: sposta la fornitura verso la risorsa meno costosa, rispettando i vincoli operativi.</a:t>
            </a:r>
            <a:endParaRPr lang="en-US" sz="1200" dirty="0"/>
          </a:p>
        </p:txBody>
      </p:sp>
      <p:sp>
        <p:nvSpPr>
          <p:cNvPr id="42" name="Shape 40"/>
          <p:cNvSpPr/>
          <p:nvPr/>
        </p:nvSpPr>
        <p:spPr>
          <a:xfrm>
            <a:off x="1325880" y="5717286"/>
            <a:ext cx="64008" cy="672083"/>
          </a:xfrm>
          <a:prstGeom prst="rect">
            <a:avLst/>
          </a:prstGeom>
          <a:solidFill>
            <a:srgbClr val="2563EB"/>
          </a:solidFill>
          <a:ln w="12700">
            <a:solidFill>
              <a:srgbClr val="2563EB"/>
            </a:solidFill>
            <a:prstDash val="solid"/>
          </a:ln>
        </p:spPr>
        <p:txBody>
          <a:bodyPr/>
          <a:lstStyle/>
          <a:p>
            <a:endParaRPr lang="it-IT"/>
          </a:p>
        </p:txBody>
      </p:sp>
      <p:sp>
        <p:nvSpPr>
          <p:cNvPr id="45" name="Shape 3">
            <a:extLst>
              <a:ext uri="{FF2B5EF4-FFF2-40B4-BE49-F238E27FC236}">
                <a16:creationId xmlns:a16="http://schemas.microsoft.com/office/drawing/2014/main" id="{DE991793-F3C0-574E-7DCF-09B858F49F17}"/>
              </a:ext>
            </a:extLst>
          </p:cNvPr>
          <p:cNvSpPr/>
          <p:nvPr/>
        </p:nvSpPr>
        <p:spPr>
          <a:xfrm>
            <a:off x="530352" y="3658361"/>
            <a:ext cx="2651760" cy="1913504"/>
          </a:xfrm>
          <a:prstGeom prst="roundRect">
            <a:avLst>
              <a:gd name="adj" fmla="val 2712"/>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46" name="Shape 4">
            <a:extLst>
              <a:ext uri="{FF2B5EF4-FFF2-40B4-BE49-F238E27FC236}">
                <a16:creationId xmlns:a16="http://schemas.microsoft.com/office/drawing/2014/main" id="{A46595AE-6A00-0852-2E20-10E463E31823}"/>
              </a:ext>
            </a:extLst>
          </p:cNvPr>
          <p:cNvSpPr/>
          <p:nvPr/>
        </p:nvSpPr>
        <p:spPr>
          <a:xfrm>
            <a:off x="530352" y="3658361"/>
            <a:ext cx="62923" cy="1913504"/>
          </a:xfrm>
          <a:prstGeom prst="rect">
            <a:avLst/>
          </a:prstGeom>
          <a:solidFill>
            <a:srgbClr val="16A34A"/>
          </a:solidFill>
          <a:ln w="12700">
            <a:solidFill>
              <a:srgbClr val="16A34A"/>
            </a:solidFill>
            <a:prstDash val="solid"/>
          </a:ln>
        </p:spPr>
        <p:txBody>
          <a:bodyPr/>
          <a:lstStyle/>
          <a:p>
            <a:endParaRPr lang="it-IT"/>
          </a:p>
        </p:txBody>
      </p:sp>
      <p:sp>
        <p:nvSpPr>
          <p:cNvPr id="47" name="Text 5">
            <a:extLst>
              <a:ext uri="{FF2B5EF4-FFF2-40B4-BE49-F238E27FC236}">
                <a16:creationId xmlns:a16="http://schemas.microsoft.com/office/drawing/2014/main" id="{11CCF13F-A61D-0A86-ABB4-B31D4BE863B4}"/>
              </a:ext>
            </a:extLst>
          </p:cNvPr>
          <p:cNvSpPr/>
          <p:nvPr/>
        </p:nvSpPr>
        <p:spPr>
          <a:xfrm>
            <a:off x="758952" y="3841240"/>
            <a:ext cx="2247254" cy="136679"/>
          </a:xfrm>
          <a:prstGeom prst="rect">
            <a:avLst/>
          </a:prstGeom>
          <a:noFill/>
          <a:ln/>
        </p:spPr>
        <p:txBody>
          <a:bodyPr wrap="square" lIns="0" tIns="0" rIns="0" bIns="0" rtlCol="0" anchor="ctr"/>
          <a:lstStyle/>
          <a:p>
            <a:pPr marL="0" indent="0">
              <a:buNone/>
            </a:pPr>
            <a:r>
              <a:rPr lang="en-US" sz="1500" b="1" dirty="0">
                <a:solidFill>
                  <a:srgbClr val="0F172A"/>
                </a:solidFill>
              </a:rPr>
              <a:t>A — estate, fuel basso</a:t>
            </a:r>
            <a:endParaRPr lang="en-US" sz="1500" dirty="0"/>
          </a:p>
        </p:txBody>
      </p:sp>
      <p:sp>
        <p:nvSpPr>
          <p:cNvPr id="48" name="Text 6">
            <a:extLst>
              <a:ext uri="{FF2B5EF4-FFF2-40B4-BE49-F238E27FC236}">
                <a16:creationId xmlns:a16="http://schemas.microsoft.com/office/drawing/2014/main" id="{2A121310-C624-1084-3CD6-A70A2854EC65}"/>
              </a:ext>
            </a:extLst>
          </p:cNvPr>
          <p:cNvSpPr/>
          <p:nvPr/>
        </p:nvSpPr>
        <p:spPr>
          <a:xfrm>
            <a:off x="758952" y="4316728"/>
            <a:ext cx="2247254" cy="1526248"/>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Il generatore distribuito viene usato molto.</a:t>
            </a:r>
            <a:endParaRPr lang="en-US" sz="1200" dirty="0"/>
          </a:p>
          <a:p>
            <a:pPr marL="0" indent="0">
              <a:buNone/>
            </a:pPr>
            <a:r>
              <a:rPr lang="en-US" sz="1200" dirty="0">
                <a:solidFill>
                  <a:srgbClr val="5B677A"/>
                </a:solidFill>
              </a:rPr>
              <a:t>Importazione dalla rete più contenuta.</a:t>
            </a:r>
            <a:endParaRPr lang="en-US" sz="1200" dirty="0"/>
          </a:p>
          <a:p>
            <a:pPr marL="0" indent="0">
              <a:buNone/>
            </a:pPr>
            <a:r>
              <a:rPr lang="en-US" sz="1200" dirty="0">
                <a:solidFill>
                  <a:srgbClr val="5B677A"/>
                </a:solidFill>
              </a:rPr>
              <a:t>Costo finale: 3695 €.</a:t>
            </a:r>
            <a:endParaRPr lang="en-US" sz="1200" dirty="0"/>
          </a:p>
        </p:txBody>
      </p:sp>
      <p:sp>
        <p:nvSpPr>
          <p:cNvPr id="49" name="Shape 7">
            <a:extLst>
              <a:ext uri="{FF2B5EF4-FFF2-40B4-BE49-F238E27FC236}">
                <a16:creationId xmlns:a16="http://schemas.microsoft.com/office/drawing/2014/main" id="{BB09D6EE-B029-1E44-0994-10F635B898D4}"/>
              </a:ext>
            </a:extLst>
          </p:cNvPr>
          <p:cNvSpPr/>
          <p:nvPr/>
        </p:nvSpPr>
        <p:spPr>
          <a:xfrm>
            <a:off x="3364992" y="3658361"/>
            <a:ext cx="2651760" cy="1913504"/>
          </a:xfrm>
          <a:prstGeom prst="roundRect">
            <a:avLst>
              <a:gd name="adj" fmla="val 2712"/>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50" name="Shape 8">
            <a:extLst>
              <a:ext uri="{FF2B5EF4-FFF2-40B4-BE49-F238E27FC236}">
                <a16:creationId xmlns:a16="http://schemas.microsoft.com/office/drawing/2014/main" id="{839AE954-9BDD-F896-4866-9E5C306DC2B9}"/>
              </a:ext>
            </a:extLst>
          </p:cNvPr>
          <p:cNvSpPr/>
          <p:nvPr/>
        </p:nvSpPr>
        <p:spPr>
          <a:xfrm>
            <a:off x="3364992" y="3658361"/>
            <a:ext cx="62923" cy="1913504"/>
          </a:xfrm>
          <a:prstGeom prst="rect">
            <a:avLst/>
          </a:prstGeom>
          <a:solidFill>
            <a:srgbClr val="F97316"/>
          </a:solidFill>
          <a:ln w="12700">
            <a:solidFill>
              <a:srgbClr val="F97316"/>
            </a:solidFill>
            <a:prstDash val="solid"/>
          </a:ln>
        </p:spPr>
        <p:txBody>
          <a:bodyPr/>
          <a:lstStyle/>
          <a:p>
            <a:endParaRPr lang="it-IT"/>
          </a:p>
        </p:txBody>
      </p:sp>
      <p:sp>
        <p:nvSpPr>
          <p:cNvPr id="51" name="Text 9">
            <a:extLst>
              <a:ext uri="{FF2B5EF4-FFF2-40B4-BE49-F238E27FC236}">
                <a16:creationId xmlns:a16="http://schemas.microsoft.com/office/drawing/2014/main" id="{F5E6A5CF-1991-4B1E-58CE-79EB9B2564A6}"/>
              </a:ext>
            </a:extLst>
          </p:cNvPr>
          <p:cNvSpPr/>
          <p:nvPr/>
        </p:nvSpPr>
        <p:spPr>
          <a:xfrm>
            <a:off x="3593592" y="3841240"/>
            <a:ext cx="2247254" cy="136679"/>
          </a:xfrm>
          <a:prstGeom prst="rect">
            <a:avLst/>
          </a:prstGeom>
          <a:noFill/>
          <a:ln/>
        </p:spPr>
        <p:txBody>
          <a:bodyPr wrap="square" lIns="0" tIns="0" rIns="0" bIns="0" rtlCol="0" anchor="ctr"/>
          <a:lstStyle/>
          <a:p>
            <a:pPr marL="0" indent="0">
              <a:buNone/>
            </a:pPr>
            <a:r>
              <a:rPr lang="en-US" sz="1500" b="1" dirty="0">
                <a:solidFill>
                  <a:srgbClr val="0F172A"/>
                </a:solidFill>
              </a:rPr>
              <a:t>B — estate, fuel alto</a:t>
            </a:r>
            <a:endParaRPr lang="en-US" sz="1500" dirty="0"/>
          </a:p>
        </p:txBody>
      </p:sp>
      <p:sp>
        <p:nvSpPr>
          <p:cNvPr id="52" name="Text 10">
            <a:extLst>
              <a:ext uri="{FF2B5EF4-FFF2-40B4-BE49-F238E27FC236}">
                <a16:creationId xmlns:a16="http://schemas.microsoft.com/office/drawing/2014/main" id="{A1265B5C-4F80-785F-AF60-A7935291CF20}"/>
              </a:ext>
            </a:extLst>
          </p:cNvPr>
          <p:cNvSpPr/>
          <p:nvPr/>
        </p:nvSpPr>
        <p:spPr>
          <a:xfrm>
            <a:off x="3593592" y="4316728"/>
            <a:ext cx="2247254" cy="1526248"/>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Il generatore viene quasi evitato.</a:t>
            </a:r>
            <a:endParaRPr lang="en-US" sz="1200" dirty="0"/>
          </a:p>
          <a:p>
            <a:pPr marL="0" indent="0">
              <a:buNone/>
            </a:pPr>
            <a:r>
              <a:rPr lang="en-US" sz="1200" dirty="0">
                <a:solidFill>
                  <a:srgbClr val="5B677A"/>
                </a:solidFill>
              </a:rPr>
              <a:t>La rete diventa la risorsa principale.</a:t>
            </a:r>
            <a:endParaRPr lang="en-US" sz="1200" dirty="0"/>
          </a:p>
          <a:p>
            <a:pPr marL="0" indent="0">
              <a:buNone/>
            </a:pPr>
            <a:r>
              <a:rPr lang="en-US" sz="1200" dirty="0">
                <a:solidFill>
                  <a:srgbClr val="5B677A"/>
                </a:solidFill>
              </a:rPr>
              <a:t>Costo finale: 5519 €.</a:t>
            </a:r>
            <a:endParaRPr lang="en-US" sz="1200" dirty="0"/>
          </a:p>
        </p:txBody>
      </p:sp>
      <p:sp>
        <p:nvSpPr>
          <p:cNvPr id="53" name="Shape 11">
            <a:extLst>
              <a:ext uri="{FF2B5EF4-FFF2-40B4-BE49-F238E27FC236}">
                <a16:creationId xmlns:a16="http://schemas.microsoft.com/office/drawing/2014/main" id="{7E02D868-5F57-BAC3-A7F9-798F798A9328}"/>
              </a:ext>
            </a:extLst>
          </p:cNvPr>
          <p:cNvSpPr/>
          <p:nvPr/>
        </p:nvSpPr>
        <p:spPr>
          <a:xfrm>
            <a:off x="6199632" y="3658361"/>
            <a:ext cx="2651760" cy="1913504"/>
          </a:xfrm>
          <a:prstGeom prst="roundRect">
            <a:avLst>
              <a:gd name="adj" fmla="val 2712"/>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54" name="Shape 12">
            <a:extLst>
              <a:ext uri="{FF2B5EF4-FFF2-40B4-BE49-F238E27FC236}">
                <a16:creationId xmlns:a16="http://schemas.microsoft.com/office/drawing/2014/main" id="{C684D8CF-606D-0643-6889-A5D6E7C3CD8D}"/>
              </a:ext>
            </a:extLst>
          </p:cNvPr>
          <p:cNvSpPr/>
          <p:nvPr/>
        </p:nvSpPr>
        <p:spPr>
          <a:xfrm>
            <a:off x="6199632" y="3658361"/>
            <a:ext cx="62923" cy="1913504"/>
          </a:xfrm>
          <a:prstGeom prst="rect">
            <a:avLst/>
          </a:prstGeom>
          <a:solidFill>
            <a:srgbClr val="16A34A"/>
          </a:solidFill>
          <a:ln w="12700">
            <a:solidFill>
              <a:srgbClr val="16A34A"/>
            </a:solidFill>
            <a:prstDash val="solid"/>
          </a:ln>
        </p:spPr>
        <p:txBody>
          <a:bodyPr/>
          <a:lstStyle/>
          <a:p>
            <a:endParaRPr lang="it-IT"/>
          </a:p>
        </p:txBody>
      </p:sp>
      <p:sp>
        <p:nvSpPr>
          <p:cNvPr id="55" name="Text 13">
            <a:extLst>
              <a:ext uri="{FF2B5EF4-FFF2-40B4-BE49-F238E27FC236}">
                <a16:creationId xmlns:a16="http://schemas.microsoft.com/office/drawing/2014/main" id="{47C4CE00-63CF-17F9-ED1B-A778E87815DF}"/>
              </a:ext>
            </a:extLst>
          </p:cNvPr>
          <p:cNvSpPr/>
          <p:nvPr/>
        </p:nvSpPr>
        <p:spPr>
          <a:xfrm>
            <a:off x="6428232" y="3841240"/>
            <a:ext cx="2247254" cy="136679"/>
          </a:xfrm>
          <a:prstGeom prst="rect">
            <a:avLst/>
          </a:prstGeom>
          <a:noFill/>
          <a:ln/>
        </p:spPr>
        <p:txBody>
          <a:bodyPr wrap="square" lIns="0" tIns="0" rIns="0" bIns="0" rtlCol="0" anchor="ctr"/>
          <a:lstStyle/>
          <a:p>
            <a:pPr marL="0" indent="0">
              <a:buNone/>
            </a:pPr>
            <a:r>
              <a:rPr lang="en-US" sz="1500" b="1" dirty="0">
                <a:solidFill>
                  <a:srgbClr val="0F172A"/>
                </a:solidFill>
              </a:rPr>
              <a:t>C — inverno, fuel basso</a:t>
            </a:r>
            <a:endParaRPr lang="en-US" sz="1500" dirty="0"/>
          </a:p>
        </p:txBody>
      </p:sp>
      <p:sp>
        <p:nvSpPr>
          <p:cNvPr id="56" name="Text 14">
            <a:extLst>
              <a:ext uri="{FF2B5EF4-FFF2-40B4-BE49-F238E27FC236}">
                <a16:creationId xmlns:a16="http://schemas.microsoft.com/office/drawing/2014/main" id="{D9D6CDC2-4BEA-564C-1EC8-F52E52DE8735}"/>
              </a:ext>
            </a:extLst>
          </p:cNvPr>
          <p:cNvSpPr/>
          <p:nvPr/>
        </p:nvSpPr>
        <p:spPr>
          <a:xfrm>
            <a:off x="6428232" y="4316728"/>
            <a:ext cx="2247254" cy="1526248"/>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È lo scenario più conveniente.</a:t>
            </a:r>
            <a:endParaRPr lang="en-US" sz="1200" dirty="0"/>
          </a:p>
          <a:p>
            <a:pPr marL="0" indent="0">
              <a:buNone/>
            </a:pPr>
            <a:r>
              <a:rPr lang="en-US" sz="1200" dirty="0">
                <a:solidFill>
                  <a:srgbClr val="5B677A"/>
                </a:solidFill>
              </a:rPr>
              <a:t>DG usato e import ridotto.</a:t>
            </a:r>
            <a:endParaRPr lang="en-US" sz="1200" dirty="0"/>
          </a:p>
          <a:p>
            <a:pPr marL="0" indent="0">
              <a:buNone/>
            </a:pPr>
            <a:r>
              <a:rPr lang="en-US" sz="1200" dirty="0">
                <a:solidFill>
                  <a:srgbClr val="5B677A"/>
                </a:solidFill>
              </a:rPr>
              <a:t>Costo finale: 3009 €.</a:t>
            </a:r>
            <a:endParaRPr lang="en-US" sz="1200" dirty="0"/>
          </a:p>
        </p:txBody>
      </p:sp>
      <p:sp>
        <p:nvSpPr>
          <p:cNvPr id="57" name="Shape 15">
            <a:extLst>
              <a:ext uri="{FF2B5EF4-FFF2-40B4-BE49-F238E27FC236}">
                <a16:creationId xmlns:a16="http://schemas.microsoft.com/office/drawing/2014/main" id="{1E00096C-0C05-CFEF-A08D-854350AFA7BC}"/>
              </a:ext>
            </a:extLst>
          </p:cNvPr>
          <p:cNvSpPr/>
          <p:nvPr/>
        </p:nvSpPr>
        <p:spPr>
          <a:xfrm>
            <a:off x="9034272" y="3658361"/>
            <a:ext cx="2651760" cy="1913504"/>
          </a:xfrm>
          <a:prstGeom prst="roundRect">
            <a:avLst>
              <a:gd name="adj" fmla="val 2712"/>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58" name="Shape 16">
            <a:extLst>
              <a:ext uri="{FF2B5EF4-FFF2-40B4-BE49-F238E27FC236}">
                <a16:creationId xmlns:a16="http://schemas.microsoft.com/office/drawing/2014/main" id="{49E19C84-A5BA-E3BA-9508-F817D0BDC754}"/>
              </a:ext>
            </a:extLst>
          </p:cNvPr>
          <p:cNvSpPr/>
          <p:nvPr/>
        </p:nvSpPr>
        <p:spPr>
          <a:xfrm>
            <a:off x="9034272" y="3658361"/>
            <a:ext cx="62923" cy="1913504"/>
          </a:xfrm>
          <a:prstGeom prst="rect">
            <a:avLst/>
          </a:prstGeom>
          <a:solidFill>
            <a:srgbClr val="F97316"/>
          </a:solidFill>
          <a:ln w="12700">
            <a:solidFill>
              <a:srgbClr val="F97316"/>
            </a:solidFill>
            <a:prstDash val="solid"/>
          </a:ln>
        </p:spPr>
        <p:txBody>
          <a:bodyPr/>
          <a:lstStyle/>
          <a:p>
            <a:endParaRPr lang="it-IT"/>
          </a:p>
        </p:txBody>
      </p:sp>
      <p:sp>
        <p:nvSpPr>
          <p:cNvPr id="59" name="Text 17">
            <a:extLst>
              <a:ext uri="{FF2B5EF4-FFF2-40B4-BE49-F238E27FC236}">
                <a16:creationId xmlns:a16="http://schemas.microsoft.com/office/drawing/2014/main" id="{E2E6DEEF-A948-FEA5-370D-76C181DD59CA}"/>
              </a:ext>
            </a:extLst>
          </p:cNvPr>
          <p:cNvSpPr/>
          <p:nvPr/>
        </p:nvSpPr>
        <p:spPr>
          <a:xfrm>
            <a:off x="9262872" y="3841240"/>
            <a:ext cx="2247254" cy="136679"/>
          </a:xfrm>
          <a:prstGeom prst="rect">
            <a:avLst/>
          </a:prstGeom>
          <a:noFill/>
          <a:ln/>
        </p:spPr>
        <p:txBody>
          <a:bodyPr wrap="square" lIns="0" tIns="0" rIns="0" bIns="0" rtlCol="0" anchor="ctr"/>
          <a:lstStyle/>
          <a:p>
            <a:pPr marL="0" indent="0">
              <a:buNone/>
            </a:pPr>
            <a:r>
              <a:rPr lang="en-US" sz="1500" b="1" dirty="0">
                <a:solidFill>
                  <a:srgbClr val="0F172A"/>
                </a:solidFill>
              </a:rPr>
              <a:t>D — inverno, fuel alto</a:t>
            </a:r>
            <a:endParaRPr lang="en-US" sz="1500" dirty="0"/>
          </a:p>
        </p:txBody>
      </p:sp>
      <p:sp>
        <p:nvSpPr>
          <p:cNvPr id="60" name="Text 18">
            <a:extLst>
              <a:ext uri="{FF2B5EF4-FFF2-40B4-BE49-F238E27FC236}">
                <a16:creationId xmlns:a16="http://schemas.microsoft.com/office/drawing/2014/main" id="{E64E2139-0192-AD02-27FE-DBFD37D58FA3}"/>
              </a:ext>
            </a:extLst>
          </p:cNvPr>
          <p:cNvSpPr/>
          <p:nvPr/>
        </p:nvSpPr>
        <p:spPr>
          <a:xfrm>
            <a:off x="9262872" y="4316728"/>
            <a:ext cx="2247254" cy="1526248"/>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Maggiore dipendenza dalla rete.</a:t>
            </a:r>
            <a:endParaRPr lang="en-US" sz="1200" dirty="0"/>
          </a:p>
          <a:p>
            <a:pPr marL="0" indent="0">
              <a:buNone/>
            </a:pPr>
            <a:r>
              <a:rPr lang="en-US" sz="1200" dirty="0">
                <a:solidFill>
                  <a:srgbClr val="5B677A"/>
                </a:solidFill>
              </a:rPr>
              <a:t>DG quasi nullo.</a:t>
            </a:r>
            <a:endParaRPr lang="en-US" sz="1200" dirty="0"/>
          </a:p>
          <a:p>
            <a:pPr marL="0" indent="0">
              <a:buNone/>
            </a:pPr>
            <a:r>
              <a:rPr lang="en-US" sz="1200" dirty="0">
                <a:solidFill>
                  <a:srgbClr val="5B677A"/>
                </a:solidFill>
              </a:rPr>
              <a:t>Costo finale: 4709 €.</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5"/>
          <p:cNvSpPr/>
          <p:nvPr/>
        </p:nvSpPr>
        <p:spPr>
          <a:xfrm>
            <a:off x="9048818" y="1299210"/>
            <a:ext cx="2719070" cy="1259835"/>
          </a:xfrm>
          <a:prstGeom prst="roundRect">
            <a:avLst>
              <a:gd name="adj" fmla="val 280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Costo cumulativo</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L’effetto economico si accumula nel tempo</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407738" y="1299210"/>
            <a:ext cx="2719070" cy="1259835"/>
          </a:xfrm>
          <a:prstGeom prst="roundRect">
            <a:avLst>
              <a:gd name="adj" fmla="val 280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6" name="Shape 4"/>
          <p:cNvSpPr/>
          <p:nvPr/>
        </p:nvSpPr>
        <p:spPr>
          <a:xfrm>
            <a:off x="407738" y="1299210"/>
            <a:ext cx="66784" cy="1259835"/>
          </a:xfrm>
          <a:prstGeom prst="rect">
            <a:avLst/>
          </a:prstGeom>
          <a:solidFill>
            <a:srgbClr val="16A34A"/>
          </a:solidFill>
          <a:ln w="12700">
            <a:solidFill>
              <a:srgbClr val="16A34A"/>
            </a:solidFill>
            <a:prstDash val="solid"/>
          </a:ln>
        </p:spPr>
        <p:txBody>
          <a:bodyPr/>
          <a:lstStyle/>
          <a:p>
            <a:endParaRPr lang="it-IT"/>
          </a:p>
        </p:txBody>
      </p:sp>
      <p:sp>
        <p:nvSpPr>
          <p:cNvPr id="7" name="Text 5"/>
          <p:cNvSpPr/>
          <p:nvPr/>
        </p:nvSpPr>
        <p:spPr>
          <a:xfrm>
            <a:off x="636337" y="1482090"/>
            <a:ext cx="2289743" cy="106465"/>
          </a:xfrm>
          <a:prstGeom prst="rect">
            <a:avLst/>
          </a:prstGeom>
          <a:noFill/>
          <a:ln/>
        </p:spPr>
        <p:txBody>
          <a:bodyPr wrap="square" lIns="0" tIns="0" rIns="0" bIns="0" rtlCol="0" anchor="ctr"/>
          <a:lstStyle/>
          <a:p>
            <a:pPr marL="0" indent="0">
              <a:buNone/>
            </a:pPr>
            <a:r>
              <a:rPr lang="en-US" sz="1500" b="1" dirty="0">
                <a:solidFill>
                  <a:srgbClr val="0F172A"/>
                </a:solidFill>
              </a:rPr>
              <a:t>Scenario C</a:t>
            </a:r>
            <a:endParaRPr lang="en-US" sz="1500" dirty="0"/>
          </a:p>
        </p:txBody>
      </p:sp>
      <p:sp>
        <p:nvSpPr>
          <p:cNvPr id="8" name="Text 6"/>
          <p:cNvSpPr/>
          <p:nvPr/>
        </p:nvSpPr>
        <p:spPr>
          <a:xfrm>
            <a:off x="658495" y="1716988"/>
            <a:ext cx="2289743" cy="958185"/>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Costo finale più basso</a:t>
            </a:r>
            <a:endParaRPr lang="en-US" sz="1200" dirty="0"/>
          </a:p>
          <a:p>
            <a:pPr marL="0" indent="0">
              <a:buNone/>
            </a:pPr>
            <a:r>
              <a:rPr lang="en-US" sz="1200" dirty="0">
                <a:solidFill>
                  <a:srgbClr val="5B677A"/>
                </a:solidFill>
              </a:rPr>
              <a:t>3009 €</a:t>
            </a:r>
            <a:endParaRPr lang="en-US" sz="1200" dirty="0"/>
          </a:p>
          <a:p>
            <a:pPr marL="0" indent="0">
              <a:buNone/>
            </a:pPr>
            <a:endParaRPr lang="en-US" sz="1200" dirty="0"/>
          </a:p>
          <a:p>
            <a:pPr marL="0" indent="0">
              <a:buNone/>
            </a:pPr>
            <a:r>
              <a:rPr lang="en-US" sz="1200" dirty="0">
                <a:solidFill>
                  <a:srgbClr val="5B677A"/>
                </a:solidFill>
              </a:rPr>
              <a:t>Inverno + combustibile basso</a:t>
            </a:r>
            <a:endParaRPr lang="en-US" sz="1200" dirty="0"/>
          </a:p>
        </p:txBody>
      </p:sp>
      <p:sp>
        <p:nvSpPr>
          <p:cNvPr id="9" name="Shape 7"/>
          <p:cNvSpPr/>
          <p:nvPr/>
        </p:nvSpPr>
        <p:spPr>
          <a:xfrm>
            <a:off x="3288098" y="1299210"/>
            <a:ext cx="2719070" cy="1259835"/>
          </a:xfrm>
          <a:prstGeom prst="roundRect">
            <a:avLst>
              <a:gd name="adj" fmla="val 280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0" name="Shape 8"/>
          <p:cNvSpPr/>
          <p:nvPr/>
        </p:nvSpPr>
        <p:spPr>
          <a:xfrm>
            <a:off x="3288098" y="1299210"/>
            <a:ext cx="66784" cy="1259835"/>
          </a:xfrm>
          <a:prstGeom prst="rect">
            <a:avLst/>
          </a:prstGeom>
          <a:solidFill>
            <a:srgbClr val="2563EB"/>
          </a:solidFill>
          <a:ln w="12700">
            <a:solidFill>
              <a:srgbClr val="2563EB"/>
            </a:solidFill>
            <a:prstDash val="solid"/>
          </a:ln>
        </p:spPr>
        <p:txBody>
          <a:bodyPr/>
          <a:lstStyle/>
          <a:p>
            <a:endParaRPr lang="it-IT"/>
          </a:p>
        </p:txBody>
      </p:sp>
      <p:sp>
        <p:nvSpPr>
          <p:cNvPr id="11" name="Text 9"/>
          <p:cNvSpPr/>
          <p:nvPr/>
        </p:nvSpPr>
        <p:spPr>
          <a:xfrm>
            <a:off x="3516697" y="1482090"/>
            <a:ext cx="2289743" cy="106465"/>
          </a:xfrm>
          <a:prstGeom prst="rect">
            <a:avLst/>
          </a:prstGeom>
          <a:noFill/>
          <a:ln/>
        </p:spPr>
        <p:txBody>
          <a:bodyPr wrap="square" lIns="0" tIns="0" rIns="0" bIns="0" rtlCol="0" anchor="ctr"/>
          <a:lstStyle/>
          <a:p>
            <a:pPr marL="0" indent="0">
              <a:buNone/>
            </a:pPr>
            <a:r>
              <a:rPr lang="en-US" sz="1500" b="1" dirty="0">
                <a:solidFill>
                  <a:srgbClr val="0F172A"/>
                </a:solidFill>
              </a:rPr>
              <a:t>Scenario A</a:t>
            </a:r>
            <a:endParaRPr lang="en-US" sz="1500" dirty="0"/>
          </a:p>
        </p:txBody>
      </p:sp>
      <p:sp>
        <p:nvSpPr>
          <p:cNvPr id="12" name="Text 10"/>
          <p:cNvSpPr/>
          <p:nvPr/>
        </p:nvSpPr>
        <p:spPr>
          <a:xfrm>
            <a:off x="3502761" y="1718103"/>
            <a:ext cx="2289743" cy="958185"/>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Secondo migliore</a:t>
            </a:r>
            <a:endParaRPr lang="en-US" sz="1200" dirty="0"/>
          </a:p>
          <a:p>
            <a:pPr marL="0" indent="0">
              <a:buNone/>
            </a:pPr>
            <a:r>
              <a:rPr lang="en-US" sz="1200" dirty="0">
                <a:solidFill>
                  <a:srgbClr val="5B677A"/>
                </a:solidFill>
              </a:rPr>
              <a:t>3695 €</a:t>
            </a:r>
            <a:endParaRPr lang="en-US" sz="1200" dirty="0"/>
          </a:p>
          <a:p>
            <a:pPr marL="0" indent="0">
              <a:buNone/>
            </a:pPr>
            <a:endParaRPr lang="en-US" sz="1200" dirty="0"/>
          </a:p>
          <a:p>
            <a:pPr marL="0" indent="0">
              <a:buNone/>
            </a:pPr>
            <a:r>
              <a:rPr lang="en-US" sz="1200" dirty="0">
                <a:solidFill>
                  <a:srgbClr val="5B677A"/>
                </a:solidFill>
              </a:rPr>
              <a:t>Estate + combustibile basso</a:t>
            </a:r>
            <a:endParaRPr lang="en-US" sz="1200" dirty="0"/>
          </a:p>
        </p:txBody>
      </p:sp>
      <p:sp>
        <p:nvSpPr>
          <p:cNvPr id="13" name="Shape 11"/>
          <p:cNvSpPr/>
          <p:nvPr/>
        </p:nvSpPr>
        <p:spPr>
          <a:xfrm>
            <a:off x="6168458" y="1299210"/>
            <a:ext cx="2719070" cy="1259835"/>
          </a:xfrm>
          <a:prstGeom prst="roundRect">
            <a:avLst>
              <a:gd name="adj" fmla="val 280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5" name="Text 13"/>
          <p:cNvSpPr/>
          <p:nvPr/>
        </p:nvSpPr>
        <p:spPr>
          <a:xfrm>
            <a:off x="6397057" y="1482090"/>
            <a:ext cx="2289743" cy="106465"/>
          </a:xfrm>
          <a:prstGeom prst="rect">
            <a:avLst/>
          </a:prstGeom>
          <a:noFill/>
          <a:ln/>
        </p:spPr>
        <p:txBody>
          <a:bodyPr wrap="square" lIns="0" tIns="0" rIns="0" bIns="0" rtlCol="0" anchor="ctr"/>
          <a:lstStyle/>
          <a:p>
            <a:pPr marL="0" indent="0">
              <a:buNone/>
            </a:pPr>
            <a:r>
              <a:rPr lang="en-US" sz="1500" b="1" dirty="0">
                <a:solidFill>
                  <a:srgbClr val="0F172A"/>
                </a:solidFill>
              </a:rPr>
              <a:t>Scenario D</a:t>
            </a:r>
            <a:endParaRPr lang="en-US" sz="1500" dirty="0"/>
          </a:p>
        </p:txBody>
      </p:sp>
      <p:sp>
        <p:nvSpPr>
          <p:cNvPr id="14" name="Shape 12"/>
          <p:cNvSpPr/>
          <p:nvPr/>
        </p:nvSpPr>
        <p:spPr>
          <a:xfrm>
            <a:off x="9045643" y="1299210"/>
            <a:ext cx="66784" cy="1259835"/>
          </a:xfrm>
          <a:prstGeom prst="rect">
            <a:avLst/>
          </a:prstGeom>
          <a:solidFill>
            <a:srgbClr val="F97316"/>
          </a:solidFill>
          <a:ln w="12700">
            <a:solidFill>
              <a:srgbClr val="F97316"/>
            </a:solidFill>
            <a:prstDash val="solid"/>
          </a:ln>
        </p:spPr>
        <p:txBody>
          <a:bodyPr/>
          <a:lstStyle/>
          <a:p>
            <a:endParaRPr lang="it-IT"/>
          </a:p>
        </p:txBody>
      </p:sp>
      <p:sp>
        <p:nvSpPr>
          <p:cNvPr id="16" name="Text 14"/>
          <p:cNvSpPr/>
          <p:nvPr/>
        </p:nvSpPr>
        <p:spPr>
          <a:xfrm>
            <a:off x="6383121" y="1716989"/>
            <a:ext cx="2289743" cy="958185"/>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Costo intermedio-alto</a:t>
            </a:r>
            <a:endParaRPr lang="en-US" sz="1200" dirty="0"/>
          </a:p>
          <a:p>
            <a:pPr marL="0" indent="0">
              <a:buNone/>
            </a:pPr>
            <a:r>
              <a:rPr lang="en-US" sz="1200" dirty="0">
                <a:solidFill>
                  <a:srgbClr val="5B677A"/>
                </a:solidFill>
              </a:rPr>
              <a:t>4709 €</a:t>
            </a:r>
            <a:endParaRPr lang="en-US" sz="1200" dirty="0"/>
          </a:p>
          <a:p>
            <a:pPr marL="0" indent="0">
              <a:buNone/>
            </a:pPr>
            <a:endParaRPr lang="en-US" sz="1200" dirty="0"/>
          </a:p>
          <a:p>
            <a:pPr marL="0" indent="0">
              <a:buNone/>
            </a:pPr>
            <a:r>
              <a:rPr lang="en-US" sz="1200" dirty="0">
                <a:solidFill>
                  <a:srgbClr val="5B677A"/>
                </a:solidFill>
              </a:rPr>
              <a:t>Inverno + combustibile alto</a:t>
            </a:r>
            <a:endParaRPr lang="en-US" sz="1200" dirty="0"/>
          </a:p>
        </p:txBody>
      </p:sp>
      <p:sp>
        <p:nvSpPr>
          <p:cNvPr id="18" name="Shape 16"/>
          <p:cNvSpPr/>
          <p:nvPr/>
        </p:nvSpPr>
        <p:spPr>
          <a:xfrm>
            <a:off x="6165863" y="1299210"/>
            <a:ext cx="66784" cy="1259835"/>
          </a:xfrm>
          <a:prstGeom prst="rect">
            <a:avLst/>
          </a:prstGeom>
          <a:solidFill>
            <a:srgbClr val="EF4444"/>
          </a:solidFill>
          <a:ln w="12700">
            <a:solidFill>
              <a:srgbClr val="EF4444"/>
            </a:solidFill>
            <a:prstDash val="solid"/>
          </a:ln>
        </p:spPr>
        <p:txBody>
          <a:bodyPr/>
          <a:lstStyle/>
          <a:p>
            <a:endParaRPr lang="it-IT" dirty="0"/>
          </a:p>
        </p:txBody>
      </p:sp>
      <p:sp>
        <p:nvSpPr>
          <p:cNvPr id="19" name="Text 17"/>
          <p:cNvSpPr/>
          <p:nvPr/>
        </p:nvSpPr>
        <p:spPr>
          <a:xfrm>
            <a:off x="9277417" y="1482090"/>
            <a:ext cx="2289743" cy="106465"/>
          </a:xfrm>
          <a:prstGeom prst="rect">
            <a:avLst/>
          </a:prstGeom>
          <a:noFill/>
          <a:ln/>
        </p:spPr>
        <p:txBody>
          <a:bodyPr wrap="square" lIns="0" tIns="0" rIns="0" bIns="0" rtlCol="0" anchor="ctr"/>
          <a:lstStyle/>
          <a:p>
            <a:pPr marL="0" indent="0">
              <a:buNone/>
            </a:pPr>
            <a:r>
              <a:rPr lang="en-US" sz="1500" b="1" dirty="0">
                <a:solidFill>
                  <a:srgbClr val="0F172A"/>
                </a:solidFill>
              </a:rPr>
              <a:t>Scenario B</a:t>
            </a:r>
            <a:endParaRPr lang="en-US" sz="1500" dirty="0"/>
          </a:p>
        </p:txBody>
      </p:sp>
      <p:sp>
        <p:nvSpPr>
          <p:cNvPr id="20" name="Text 18"/>
          <p:cNvSpPr/>
          <p:nvPr/>
        </p:nvSpPr>
        <p:spPr>
          <a:xfrm>
            <a:off x="9263481" y="1716990"/>
            <a:ext cx="2289743" cy="958185"/>
          </a:xfrm>
          <a:prstGeom prst="rect">
            <a:avLst/>
          </a:prstGeom>
          <a:noFill/>
          <a:ln/>
        </p:spPr>
        <p:txBody>
          <a:bodyPr wrap="square" lIns="381" tIns="381" rIns="381" bIns="381" rtlCol="0" anchor="t">
            <a:normAutofit/>
          </a:bodyPr>
          <a:lstStyle/>
          <a:p>
            <a:pPr marL="0" indent="0">
              <a:buNone/>
            </a:pPr>
            <a:r>
              <a:rPr lang="en-US" sz="1200" dirty="0">
                <a:solidFill>
                  <a:srgbClr val="5B677A"/>
                </a:solidFill>
              </a:rPr>
              <a:t>Costo peggiore</a:t>
            </a:r>
            <a:endParaRPr lang="en-US" sz="1200" dirty="0"/>
          </a:p>
          <a:p>
            <a:pPr marL="0" indent="0">
              <a:buNone/>
            </a:pPr>
            <a:r>
              <a:rPr lang="en-US" sz="1200" dirty="0">
                <a:solidFill>
                  <a:srgbClr val="5B677A"/>
                </a:solidFill>
              </a:rPr>
              <a:t>5519 €</a:t>
            </a:r>
            <a:endParaRPr lang="en-US" sz="1200" dirty="0"/>
          </a:p>
          <a:p>
            <a:pPr marL="0" indent="0">
              <a:buNone/>
            </a:pPr>
            <a:endParaRPr lang="en-US" sz="1200" dirty="0"/>
          </a:p>
          <a:p>
            <a:pPr marL="0" indent="0">
              <a:buNone/>
            </a:pPr>
            <a:r>
              <a:rPr lang="en-US" sz="1200" dirty="0">
                <a:solidFill>
                  <a:srgbClr val="5B677A"/>
                </a:solidFill>
              </a:rPr>
              <a:t>Estate + combustibile alto</a:t>
            </a:r>
            <a:endParaRPr lang="en-US" sz="1200" dirty="0"/>
          </a:p>
        </p:txBody>
      </p:sp>
      <p:sp>
        <p:nvSpPr>
          <p:cNvPr id="21" name="Text 19"/>
          <p:cNvSpPr/>
          <p:nvPr/>
        </p:nvSpPr>
        <p:spPr>
          <a:xfrm>
            <a:off x="673735" y="5959593"/>
            <a:ext cx="10844530" cy="449069"/>
          </a:xfrm>
          <a:prstGeom prst="rect">
            <a:avLst/>
          </a:prstGeom>
          <a:noFill/>
          <a:ln/>
        </p:spPr>
        <p:txBody>
          <a:bodyPr wrap="square" lIns="0" tIns="0" rIns="0" bIns="0" rtlCol="0" anchor="ctr"/>
          <a:lstStyle/>
          <a:p>
            <a:pPr algn="ctr"/>
            <a:r>
              <a:rPr lang="en-US" sz="1700" dirty="0">
                <a:solidFill>
                  <a:srgbClr val="0F172A"/>
                </a:solidFill>
                <a:latin typeface="Aptos (Corpo)"/>
              </a:rPr>
              <a:t>A parità di stagione, il combustibile alto mantiene la curva cumulativa sopra quella con combustibile basso. </a:t>
            </a:r>
            <a:r>
              <a:rPr lang="it-IT" dirty="0">
                <a:latin typeface="Aptos (Corpo)"/>
              </a:rPr>
              <a:t>il costo aumenta nelle ore in cui il sistema deve importare più energia oppure usare risorse costose</a:t>
            </a:r>
            <a:endParaRPr lang="en-US" sz="1700" dirty="0">
              <a:latin typeface="Aptos (Corpo)"/>
            </a:endParaRPr>
          </a:p>
        </p:txBody>
      </p:sp>
      <p:pic>
        <p:nvPicPr>
          <p:cNvPr id="22" name="Immagine 21" descr="03_cumulative_cost_comparison.png">
            <a:extLst>
              <a:ext uri="{FF2B5EF4-FFF2-40B4-BE49-F238E27FC236}">
                <a16:creationId xmlns:a16="http://schemas.microsoft.com/office/drawing/2014/main" id="{08A61E4B-6185-7370-4818-4867D638AB99}"/>
              </a:ext>
            </a:extLst>
          </p:cNvPr>
          <p:cNvPicPr>
            <a:picLocks noChangeAspect="1"/>
          </p:cNvPicPr>
          <p:nvPr/>
        </p:nvPicPr>
        <p:blipFill>
          <a:blip r:embed="rId3"/>
          <a:stretch>
            <a:fillRect/>
          </a:stretch>
        </p:blipFill>
        <p:spPr>
          <a:xfrm>
            <a:off x="3059310" y="2559045"/>
            <a:ext cx="6042900" cy="34005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Stati e vincoli operativi</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Il costo viene minimizzato senza sacrificare comfort e ricarica</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22" name="Text 20"/>
          <p:cNvSpPr/>
          <p:nvPr/>
        </p:nvSpPr>
        <p:spPr>
          <a:xfrm>
            <a:off x="4709160" y="5522976"/>
            <a:ext cx="2743200" cy="164592"/>
          </a:xfrm>
          <a:prstGeom prst="rect">
            <a:avLst/>
          </a:prstGeom>
          <a:noFill/>
          <a:ln/>
        </p:spPr>
        <p:txBody>
          <a:bodyPr wrap="square" lIns="0" tIns="0" rIns="0" bIns="0" rtlCol="0" anchor="ctr"/>
          <a:lstStyle/>
          <a:p>
            <a:pPr marL="0" indent="0" algn="ctr">
              <a:buNone/>
            </a:pPr>
            <a:r>
              <a:rPr lang="en-US" sz="900" b="1" dirty="0">
                <a:solidFill>
                  <a:srgbClr val="FFFFFF"/>
                </a:solidFill>
              </a:rPr>
              <a:t>Vincoli rispettati</a:t>
            </a:r>
            <a:endParaRPr lang="en-US" sz="900" dirty="0"/>
          </a:p>
        </p:txBody>
      </p:sp>
      <p:pic>
        <p:nvPicPr>
          <p:cNvPr id="24" name="Immagine 23">
            <a:extLst>
              <a:ext uri="{FF2B5EF4-FFF2-40B4-BE49-F238E27FC236}">
                <a16:creationId xmlns:a16="http://schemas.microsoft.com/office/drawing/2014/main" id="{B28961BD-0D4C-D06B-CDF1-15BB3384BEAF}"/>
              </a:ext>
            </a:extLst>
          </p:cNvPr>
          <p:cNvPicPr>
            <a:picLocks noChangeAspect="1"/>
          </p:cNvPicPr>
          <p:nvPr/>
        </p:nvPicPr>
        <p:blipFill>
          <a:blip r:embed="rId3"/>
          <a:stretch>
            <a:fillRect/>
          </a:stretch>
        </p:blipFill>
        <p:spPr>
          <a:xfrm>
            <a:off x="170758" y="1816931"/>
            <a:ext cx="5942902" cy="3344276"/>
          </a:xfrm>
          <a:prstGeom prst="rect">
            <a:avLst/>
          </a:prstGeom>
        </p:spPr>
      </p:pic>
      <p:pic>
        <p:nvPicPr>
          <p:cNvPr id="26" name="Immagine 25">
            <a:extLst>
              <a:ext uri="{FF2B5EF4-FFF2-40B4-BE49-F238E27FC236}">
                <a16:creationId xmlns:a16="http://schemas.microsoft.com/office/drawing/2014/main" id="{8F2EC908-7B2B-0C75-1DA6-933D2FB6CAA3}"/>
              </a:ext>
            </a:extLst>
          </p:cNvPr>
          <p:cNvPicPr>
            <a:picLocks noChangeAspect="1"/>
          </p:cNvPicPr>
          <p:nvPr/>
        </p:nvPicPr>
        <p:blipFill>
          <a:blip r:embed="rId4"/>
          <a:stretch>
            <a:fillRect/>
          </a:stretch>
        </p:blipFill>
        <p:spPr>
          <a:xfrm>
            <a:off x="6076325" y="1786292"/>
            <a:ext cx="6007899" cy="33808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7AFB8-2247-9D1B-D8A7-BA12D47007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7FBFF8-AFEE-5CD7-33D8-B6791AC3A67B}"/>
              </a:ext>
            </a:extLst>
          </p:cNvPr>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Stati e vincoli operativi</a:t>
            </a:r>
            <a:endParaRPr lang="en-US" sz="2800" dirty="0"/>
          </a:p>
        </p:txBody>
      </p:sp>
      <p:sp>
        <p:nvSpPr>
          <p:cNvPr id="3" name="Text 1">
            <a:extLst>
              <a:ext uri="{FF2B5EF4-FFF2-40B4-BE49-F238E27FC236}">
                <a16:creationId xmlns:a16="http://schemas.microsoft.com/office/drawing/2014/main" id="{CFBE5D45-76A6-8320-2A70-5170156D2044}"/>
              </a:ext>
            </a:extLst>
          </p:cNvPr>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Il costo viene minimizzato senza sacrificare comfort e ricarica</a:t>
            </a:r>
            <a:endParaRPr lang="en-US" sz="1250" dirty="0"/>
          </a:p>
        </p:txBody>
      </p:sp>
      <p:sp>
        <p:nvSpPr>
          <p:cNvPr id="4" name="Shape 2">
            <a:extLst>
              <a:ext uri="{FF2B5EF4-FFF2-40B4-BE49-F238E27FC236}">
                <a16:creationId xmlns:a16="http://schemas.microsoft.com/office/drawing/2014/main" id="{1AB2196D-794B-F8C9-A075-786429A7341D}"/>
              </a:ext>
            </a:extLst>
          </p:cNvPr>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22" name="Text 20">
            <a:extLst>
              <a:ext uri="{FF2B5EF4-FFF2-40B4-BE49-F238E27FC236}">
                <a16:creationId xmlns:a16="http://schemas.microsoft.com/office/drawing/2014/main" id="{F6BECC71-56F3-4B56-256D-3118A0FC2D20}"/>
              </a:ext>
            </a:extLst>
          </p:cNvPr>
          <p:cNvSpPr/>
          <p:nvPr/>
        </p:nvSpPr>
        <p:spPr>
          <a:xfrm>
            <a:off x="4709160" y="5522976"/>
            <a:ext cx="2743200" cy="164592"/>
          </a:xfrm>
          <a:prstGeom prst="rect">
            <a:avLst/>
          </a:prstGeom>
          <a:noFill/>
          <a:ln/>
        </p:spPr>
        <p:txBody>
          <a:bodyPr wrap="square" lIns="0" tIns="0" rIns="0" bIns="0" rtlCol="0" anchor="ctr"/>
          <a:lstStyle/>
          <a:p>
            <a:pPr marL="0" indent="0" algn="ctr">
              <a:buNone/>
            </a:pPr>
            <a:r>
              <a:rPr lang="en-US" sz="900" b="1" dirty="0">
                <a:solidFill>
                  <a:srgbClr val="FFFFFF"/>
                </a:solidFill>
              </a:rPr>
              <a:t>Vincoli rispettati</a:t>
            </a:r>
            <a:endParaRPr lang="en-US" sz="900" dirty="0"/>
          </a:p>
        </p:txBody>
      </p:sp>
      <p:pic>
        <p:nvPicPr>
          <p:cNvPr id="24" name="Immagine 23">
            <a:extLst>
              <a:ext uri="{FF2B5EF4-FFF2-40B4-BE49-F238E27FC236}">
                <a16:creationId xmlns:a16="http://schemas.microsoft.com/office/drawing/2014/main" id="{DA5A83AD-22DD-8474-C71B-BF5FA45FF422}"/>
              </a:ext>
            </a:extLst>
          </p:cNvPr>
          <p:cNvPicPr>
            <a:picLocks noChangeAspect="1"/>
          </p:cNvPicPr>
          <p:nvPr/>
        </p:nvPicPr>
        <p:blipFill>
          <a:blip r:embed="rId3"/>
          <a:stretch>
            <a:fillRect/>
          </a:stretch>
        </p:blipFill>
        <p:spPr>
          <a:xfrm>
            <a:off x="170758" y="1886371"/>
            <a:ext cx="5819503" cy="3274835"/>
          </a:xfrm>
          <a:prstGeom prst="rect">
            <a:avLst/>
          </a:prstGeom>
        </p:spPr>
      </p:pic>
      <p:pic>
        <p:nvPicPr>
          <p:cNvPr id="26" name="Immagine 25">
            <a:extLst>
              <a:ext uri="{FF2B5EF4-FFF2-40B4-BE49-F238E27FC236}">
                <a16:creationId xmlns:a16="http://schemas.microsoft.com/office/drawing/2014/main" id="{DAC948DA-DFBA-0A1E-B2FE-A555DF988451}"/>
              </a:ext>
            </a:extLst>
          </p:cNvPr>
          <p:cNvPicPr>
            <a:picLocks noChangeAspect="1"/>
          </p:cNvPicPr>
          <p:nvPr/>
        </p:nvPicPr>
        <p:blipFill>
          <a:blip r:embed="rId4"/>
          <a:stretch>
            <a:fillRect/>
          </a:stretch>
        </p:blipFill>
        <p:spPr>
          <a:xfrm>
            <a:off x="6141322" y="1816930"/>
            <a:ext cx="5942902" cy="3344276"/>
          </a:xfrm>
          <a:prstGeom prst="rect">
            <a:avLst/>
          </a:prstGeom>
        </p:spPr>
      </p:pic>
      <p:pic>
        <p:nvPicPr>
          <p:cNvPr id="6" name="Immagine 5">
            <a:extLst>
              <a:ext uri="{FF2B5EF4-FFF2-40B4-BE49-F238E27FC236}">
                <a16:creationId xmlns:a16="http://schemas.microsoft.com/office/drawing/2014/main" id="{01C9538E-98CD-EA37-C8FF-F9C7CE41D3ED}"/>
              </a:ext>
            </a:extLst>
          </p:cNvPr>
          <p:cNvPicPr>
            <a:picLocks noChangeAspect="1"/>
          </p:cNvPicPr>
          <p:nvPr/>
        </p:nvPicPr>
        <p:blipFill>
          <a:blip r:embed="rId5"/>
          <a:stretch>
            <a:fillRect/>
          </a:stretch>
        </p:blipFill>
        <p:spPr>
          <a:xfrm>
            <a:off x="63709" y="1741124"/>
            <a:ext cx="6077613" cy="3420082"/>
          </a:xfrm>
          <a:prstGeom prst="rect">
            <a:avLst/>
          </a:prstGeom>
        </p:spPr>
      </p:pic>
      <p:pic>
        <p:nvPicPr>
          <p:cNvPr id="8" name="Immagine 7">
            <a:extLst>
              <a:ext uri="{FF2B5EF4-FFF2-40B4-BE49-F238E27FC236}">
                <a16:creationId xmlns:a16="http://schemas.microsoft.com/office/drawing/2014/main" id="{607D87C0-7EBB-859C-E1F3-1BA5A31CE2EA}"/>
              </a:ext>
            </a:extLst>
          </p:cNvPr>
          <p:cNvPicPr>
            <a:picLocks noChangeAspect="1"/>
          </p:cNvPicPr>
          <p:nvPr/>
        </p:nvPicPr>
        <p:blipFill>
          <a:blip r:embed="rId6"/>
          <a:stretch>
            <a:fillRect/>
          </a:stretch>
        </p:blipFill>
        <p:spPr>
          <a:xfrm>
            <a:off x="6050679" y="1756862"/>
            <a:ext cx="5942901" cy="3344276"/>
          </a:xfrm>
          <a:prstGeom prst="rect">
            <a:avLst/>
          </a:prstGeom>
        </p:spPr>
      </p:pic>
    </p:spTree>
    <p:extLst>
      <p:ext uri="{BB962C8B-B14F-4D97-AF65-F5344CB8AC3E}">
        <p14:creationId xmlns:p14="http://schemas.microsoft.com/office/powerpoint/2010/main" val="1235778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Risultato economico</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Il costo è dominato da rete e combustibile del DG</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6" name="Text 4"/>
          <p:cNvSpPr/>
          <p:nvPr/>
        </p:nvSpPr>
        <p:spPr>
          <a:xfrm>
            <a:off x="1143000" y="1764792"/>
            <a:ext cx="9875520" cy="274320"/>
          </a:xfrm>
          <a:prstGeom prst="rect">
            <a:avLst/>
          </a:prstGeom>
          <a:noFill/>
          <a:ln/>
        </p:spPr>
        <p:txBody>
          <a:bodyPr wrap="square" lIns="0" tIns="0" rIns="0" bIns="0" rtlCol="0" anchor="ctr"/>
          <a:lstStyle/>
          <a:p>
            <a:pPr marL="0" indent="0" algn="ctr">
              <a:buNone/>
            </a:pPr>
            <a:r>
              <a:rPr lang="en-US" sz="1800" b="1" dirty="0">
                <a:solidFill>
                  <a:srgbClr val="FFFFFF"/>
                </a:solidFill>
              </a:rPr>
              <a:t>Costo netto = costo import + costo fuel DG − ricavi export + penalità</a:t>
            </a:r>
            <a:endParaRPr lang="en-US" sz="1800" dirty="0"/>
          </a:p>
        </p:txBody>
      </p:sp>
      <p:pic>
        <p:nvPicPr>
          <p:cNvPr id="20" name="Immagine 19">
            <a:extLst>
              <a:ext uri="{FF2B5EF4-FFF2-40B4-BE49-F238E27FC236}">
                <a16:creationId xmlns:a16="http://schemas.microsoft.com/office/drawing/2014/main" id="{D017B922-15E5-AB90-30BE-BBF98C8BF1F6}"/>
              </a:ext>
            </a:extLst>
          </p:cNvPr>
          <p:cNvPicPr>
            <a:picLocks noChangeAspect="1"/>
          </p:cNvPicPr>
          <p:nvPr/>
        </p:nvPicPr>
        <p:blipFill>
          <a:blip r:embed="rId3"/>
          <a:stretch>
            <a:fillRect/>
          </a:stretch>
        </p:blipFill>
        <p:spPr>
          <a:xfrm>
            <a:off x="69530" y="1982025"/>
            <a:ext cx="6111576" cy="3439195"/>
          </a:xfrm>
          <a:prstGeom prst="rect">
            <a:avLst/>
          </a:prstGeom>
        </p:spPr>
      </p:pic>
      <p:pic>
        <p:nvPicPr>
          <p:cNvPr id="22" name="Immagine 21">
            <a:extLst>
              <a:ext uri="{FF2B5EF4-FFF2-40B4-BE49-F238E27FC236}">
                <a16:creationId xmlns:a16="http://schemas.microsoft.com/office/drawing/2014/main" id="{C44A2438-5A79-7653-11DE-ACDE50634654}"/>
              </a:ext>
            </a:extLst>
          </p:cNvPr>
          <p:cNvPicPr>
            <a:picLocks noChangeAspect="1"/>
          </p:cNvPicPr>
          <p:nvPr/>
        </p:nvPicPr>
        <p:blipFill>
          <a:blip r:embed="rId4"/>
          <a:stretch>
            <a:fillRect/>
          </a:stretch>
        </p:blipFill>
        <p:spPr>
          <a:xfrm>
            <a:off x="6146723" y="2039112"/>
            <a:ext cx="5975747" cy="33627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4E6C-386B-6AD3-31DE-6D035187CE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01F638-CB51-EE87-6DC1-80FD29194C86}"/>
              </a:ext>
            </a:extLst>
          </p:cNvPr>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Risultato economico</a:t>
            </a:r>
            <a:endParaRPr lang="en-US" sz="2800" dirty="0"/>
          </a:p>
        </p:txBody>
      </p:sp>
      <p:sp>
        <p:nvSpPr>
          <p:cNvPr id="3" name="Text 1">
            <a:extLst>
              <a:ext uri="{FF2B5EF4-FFF2-40B4-BE49-F238E27FC236}">
                <a16:creationId xmlns:a16="http://schemas.microsoft.com/office/drawing/2014/main" id="{70CA80B6-4419-63EE-9150-55483479392D}"/>
              </a:ext>
            </a:extLst>
          </p:cNvPr>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Il costo è dominato da rete e combustibile del DG</a:t>
            </a:r>
            <a:endParaRPr lang="en-US" sz="1250" dirty="0"/>
          </a:p>
        </p:txBody>
      </p:sp>
      <p:sp>
        <p:nvSpPr>
          <p:cNvPr id="4" name="Shape 2">
            <a:extLst>
              <a:ext uri="{FF2B5EF4-FFF2-40B4-BE49-F238E27FC236}">
                <a16:creationId xmlns:a16="http://schemas.microsoft.com/office/drawing/2014/main" id="{B17C5CAE-8970-5CA1-3848-703D69700787}"/>
              </a:ext>
            </a:extLst>
          </p:cNvPr>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6" name="Text 4">
            <a:extLst>
              <a:ext uri="{FF2B5EF4-FFF2-40B4-BE49-F238E27FC236}">
                <a16:creationId xmlns:a16="http://schemas.microsoft.com/office/drawing/2014/main" id="{3E59B1E7-5865-C891-820A-2BF872E68C90}"/>
              </a:ext>
            </a:extLst>
          </p:cNvPr>
          <p:cNvSpPr/>
          <p:nvPr/>
        </p:nvSpPr>
        <p:spPr>
          <a:xfrm>
            <a:off x="1143000" y="1764792"/>
            <a:ext cx="9875520" cy="274320"/>
          </a:xfrm>
          <a:prstGeom prst="rect">
            <a:avLst/>
          </a:prstGeom>
          <a:noFill/>
          <a:ln/>
        </p:spPr>
        <p:txBody>
          <a:bodyPr wrap="square" lIns="0" tIns="0" rIns="0" bIns="0" rtlCol="0" anchor="ctr"/>
          <a:lstStyle/>
          <a:p>
            <a:pPr marL="0" indent="0" algn="ctr">
              <a:buNone/>
            </a:pPr>
            <a:r>
              <a:rPr lang="en-US" sz="1800" b="1" dirty="0">
                <a:solidFill>
                  <a:srgbClr val="FFFFFF"/>
                </a:solidFill>
              </a:rPr>
              <a:t>Costo netto = costo import + costo fuel DG − ricavi export + penalità</a:t>
            </a:r>
            <a:endParaRPr lang="en-US" sz="1800" dirty="0"/>
          </a:p>
        </p:txBody>
      </p:sp>
      <p:pic>
        <p:nvPicPr>
          <p:cNvPr id="20" name="Immagine 19">
            <a:extLst>
              <a:ext uri="{FF2B5EF4-FFF2-40B4-BE49-F238E27FC236}">
                <a16:creationId xmlns:a16="http://schemas.microsoft.com/office/drawing/2014/main" id="{9E3E4A14-5A3F-263A-DD4C-62ABBF57BA3D}"/>
              </a:ext>
            </a:extLst>
          </p:cNvPr>
          <p:cNvPicPr>
            <a:picLocks noChangeAspect="1"/>
          </p:cNvPicPr>
          <p:nvPr/>
        </p:nvPicPr>
        <p:blipFill>
          <a:blip r:embed="rId3"/>
          <a:stretch>
            <a:fillRect/>
          </a:stretch>
        </p:blipFill>
        <p:spPr>
          <a:xfrm>
            <a:off x="69530" y="1982025"/>
            <a:ext cx="6111576" cy="3439195"/>
          </a:xfrm>
          <a:prstGeom prst="rect">
            <a:avLst/>
          </a:prstGeom>
        </p:spPr>
      </p:pic>
      <p:pic>
        <p:nvPicPr>
          <p:cNvPr id="7" name="Immagine 6">
            <a:extLst>
              <a:ext uri="{FF2B5EF4-FFF2-40B4-BE49-F238E27FC236}">
                <a16:creationId xmlns:a16="http://schemas.microsoft.com/office/drawing/2014/main" id="{7DFE5CB3-9A1C-5209-F09D-675FF702A635}"/>
              </a:ext>
            </a:extLst>
          </p:cNvPr>
          <p:cNvPicPr>
            <a:picLocks noChangeAspect="1"/>
          </p:cNvPicPr>
          <p:nvPr/>
        </p:nvPicPr>
        <p:blipFill>
          <a:blip r:embed="rId4"/>
          <a:stretch>
            <a:fillRect/>
          </a:stretch>
        </p:blipFill>
        <p:spPr>
          <a:xfrm>
            <a:off x="0" y="1963864"/>
            <a:ext cx="6143851" cy="3457356"/>
          </a:xfrm>
          <a:prstGeom prst="rect">
            <a:avLst/>
          </a:prstGeom>
        </p:spPr>
      </p:pic>
      <p:pic>
        <p:nvPicPr>
          <p:cNvPr id="9" name="Immagine 8">
            <a:extLst>
              <a:ext uri="{FF2B5EF4-FFF2-40B4-BE49-F238E27FC236}">
                <a16:creationId xmlns:a16="http://schemas.microsoft.com/office/drawing/2014/main" id="{3F537740-B07C-91C3-1655-259B049B7EBC}"/>
              </a:ext>
            </a:extLst>
          </p:cNvPr>
          <p:cNvPicPr>
            <a:picLocks noChangeAspect="1"/>
          </p:cNvPicPr>
          <p:nvPr/>
        </p:nvPicPr>
        <p:blipFill>
          <a:blip r:embed="rId5"/>
          <a:stretch>
            <a:fillRect/>
          </a:stretch>
        </p:blipFill>
        <p:spPr>
          <a:xfrm>
            <a:off x="6143851" y="1963864"/>
            <a:ext cx="6093128" cy="3428813"/>
          </a:xfrm>
          <a:prstGeom prst="rect">
            <a:avLst/>
          </a:prstGeom>
        </p:spPr>
      </p:pic>
    </p:spTree>
    <p:extLst>
      <p:ext uri="{BB962C8B-B14F-4D97-AF65-F5344CB8AC3E}">
        <p14:creationId xmlns:p14="http://schemas.microsoft.com/office/powerpoint/2010/main" val="4103757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KPI finali</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Risultati chiave dei quattro scenari</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640080" y="1417320"/>
            <a:ext cx="1143000" cy="502920"/>
          </a:xfrm>
          <a:prstGeom prst="rect">
            <a:avLst/>
          </a:prstGeom>
          <a:solidFill>
            <a:srgbClr val="0F172A"/>
          </a:solidFill>
          <a:ln w="6350">
            <a:solidFill>
              <a:srgbClr val="FFFFFF"/>
            </a:solidFill>
            <a:prstDash val="solid"/>
          </a:ln>
        </p:spPr>
        <p:txBody>
          <a:bodyPr/>
          <a:lstStyle/>
          <a:p>
            <a:endParaRPr lang="it-IT" sz="1400"/>
          </a:p>
        </p:txBody>
      </p:sp>
      <p:sp>
        <p:nvSpPr>
          <p:cNvPr id="6" name="Text 4"/>
          <p:cNvSpPr/>
          <p:nvPr/>
        </p:nvSpPr>
        <p:spPr>
          <a:xfrm>
            <a:off x="667512" y="1572768"/>
            <a:ext cx="1088136" cy="182880"/>
          </a:xfrm>
          <a:prstGeom prst="rect">
            <a:avLst/>
          </a:prstGeom>
          <a:noFill/>
          <a:ln/>
        </p:spPr>
        <p:txBody>
          <a:bodyPr wrap="square" lIns="0" tIns="0" rIns="0" bIns="0" rtlCol="0" anchor="ctr"/>
          <a:lstStyle/>
          <a:p>
            <a:pPr marL="0" indent="0" algn="ctr">
              <a:buNone/>
            </a:pPr>
            <a:r>
              <a:rPr lang="en-US" sz="1400" b="1" dirty="0">
                <a:solidFill>
                  <a:srgbClr val="FFFFFF"/>
                </a:solidFill>
              </a:rPr>
              <a:t>Scenario</a:t>
            </a:r>
            <a:endParaRPr lang="en-US" sz="1400" dirty="0"/>
          </a:p>
        </p:txBody>
      </p:sp>
      <p:sp>
        <p:nvSpPr>
          <p:cNvPr id="7" name="Shape 5"/>
          <p:cNvSpPr/>
          <p:nvPr/>
        </p:nvSpPr>
        <p:spPr>
          <a:xfrm>
            <a:off x="1783080" y="1417320"/>
            <a:ext cx="1417320" cy="502920"/>
          </a:xfrm>
          <a:prstGeom prst="rect">
            <a:avLst/>
          </a:prstGeom>
          <a:solidFill>
            <a:srgbClr val="0F172A"/>
          </a:solidFill>
          <a:ln w="6350">
            <a:solidFill>
              <a:srgbClr val="FFFFFF"/>
            </a:solidFill>
            <a:prstDash val="solid"/>
          </a:ln>
        </p:spPr>
        <p:txBody>
          <a:bodyPr/>
          <a:lstStyle/>
          <a:p>
            <a:endParaRPr lang="it-IT" sz="1400"/>
          </a:p>
        </p:txBody>
      </p:sp>
      <p:sp>
        <p:nvSpPr>
          <p:cNvPr id="8" name="Text 6"/>
          <p:cNvSpPr/>
          <p:nvPr/>
        </p:nvSpPr>
        <p:spPr>
          <a:xfrm>
            <a:off x="1810512" y="1572768"/>
            <a:ext cx="1362456" cy="182880"/>
          </a:xfrm>
          <a:prstGeom prst="rect">
            <a:avLst/>
          </a:prstGeom>
          <a:noFill/>
          <a:ln/>
        </p:spPr>
        <p:txBody>
          <a:bodyPr wrap="square" lIns="0" tIns="0" rIns="0" bIns="0" rtlCol="0" anchor="ctr"/>
          <a:lstStyle/>
          <a:p>
            <a:pPr marL="0" indent="0" algn="ctr">
              <a:buNone/>
            </a:pPr>
            <a:r>
              <a:rPr lang="en-US" sz="1400" b="1" dirty="0">
                <a:solidFill>
                  <a:srgbClr val="FFFFFF"/>
                </a:solidFill>
              </a:rPr>
              <a:t>Costo [€]</a:t>
            </a:r>
            <a:endParaRPr lang="en-US" sz="1400" dirty="0"/>
          </a:p>
        </p:txBody>
      </p:sp>
      <p:sp>
        <p:nvSpPr>
          <p:cNvPr id="9" name="Shape 7"/>
          <p:cNvSpPr/>
          <p:nvPr/>
        </p:nvSpPr>
        <p:spPr>
          <a:xfrm>
            <a:off x="3200400" y="1417320"/>
            <a:ext cx="1737360" cy="502920"/>
          </a:xfrm>
          <a:prstGeom prst="rect">
            <a:avLst/>
          </a:prstGeom>
          <a:solidFill>
            <a:srgbClr val="0F172A"/>
          </a:solidFill>
          <a:ln w="6350">
            <a:solidFill>
              <a:srgbClr val="FFFFFF"/>
            </a:solidFill>
            <a:prstDash val="solid"/>
          </a:ln>
        </p:spPr>
        <p:txBody>
          <a:bodyPr/>
          <a:lstStyle/>
          <a:p>
            <a:endParaRPr lang="it-IT" sz="1400"/>
          </a:p>
        </p:txBody>
      </p:sp>
      <p:sp>
        <p:nvSpPr>
          <p:cNvPr id="10" name="Text 8"/>
          <p:cNvSpPr/>
          <p:nvPr/>
        </p:nvSpPr>
        <p:spPr>
          <a:xfrm>
            <a:off x="3227832" y="1572768"/>
            <a:ext cx="1682496" cy="182880"/>
          </a:xfrm>
          <a:prstGeom prst="rect">
            <a:avLst/>
          </a:prstGeom>
          <a:noFill/>
          <a:ln/>
        </p:spPr>
        <p:txBody>
          <a:bodyPr wrap="square" lIns="0" tIns="0" rIns="0" bIns="0" rtlCol="0" anchor="ctr"/>
          <a:lstStyle/>
          <a:p>
            <a:pPr marL="0" indent="0" algn="ctr">
              <a:buNone/>
            </a:pPr>
            <a:r>
              <a:rPr lang="en-US" sz="1400" b="1" dirty="0">
                <a:solidFill>
                  <a:srgbClr val="FFFFFF"/>
                </a:solidFill>
              </a:rPr>
              <a:t>Import [kWh]</a:t>
            </a:r>
            <a:endParaRPr lang="en-US" sz="1400" dirty="0"/>
          </a:p>
        </p:txBody>
      </p:sp>
      <p:sp>
        <p:nvSpPr>
          <p:cNvPr id="11" name="Shape 9"/>
          <p:cNvSpPr/>
          <p:nvPr/>
        </p:nvSpPr>
        <p:spPr>
          <a:xfrm>
            <a:off x="4937760" y="1417320"/>
            <a:ext cx="1417320" cy="502920"/>
          </a:xfrm>
          <a:prstGeom prst="rect">
            <a:avLst/>
          </a:prstGeom>
          <a:solidFill>
            <a:srgbClr val="0F172A"/>
          </a:solidFill>
          <a:ln w="6350">
            <a:solidFill>
              <a:srgbClr val="FFFFFF"/>
            </a:solidFill>
            <a:prstDash val="solid"/>
          </a:ln>
        </p:spPr>
        <p:txBody>
          <a:bodyPr/>
          <a:lstStyle/>
          <a:p>
            <a:endParaRPr lang="it-IT" sz="1400"/>
          </a:p>
        </p:txBody>
      </p:sp>
      <p:sp>
        <p:nvSpPr>
          <p:cNvPr id="12" name="Text 10"/>
          <p:cNvSpPr/>
          <p:nvPr/>
        </p:nvSpPr>
        <p:spPr>
          <a:xfrm>
            <a:off x="4965192" y="1572768"/>
            <a:ext cx="1362456" cy="182880"/>
          </a:xfrm>
          <a:prstGeom prst="rect">
            <a:avLst/>
          </a:prstGeom>
          <a:noFill/>
          <a:ln/>
        </p:spPr>
        <p:txBody>
          <a:bodyPr wrap="square" lIns="0" tIns="0" rIns="0" bIns="0" rtlCol="0" anchor="ctr"/>
          <a:lstStyle/>
          <a:p>
            <a:pPr marL="0" indent="0" algn="ctr">
              <a:buNone/>
            </a:pPr>
            <a:r>
              <a:rPr lang="en-US" sz="1400" b="1" dirty="0">
                <a:solidFill>
                  <a:srgbClr val="FFFFFF"/>
                </a:solidFill>
              </a:rPr>
              <a:t>DG [kWh]</a:t>
            </a:r>
            <a:endParaRPr lang="en-US" sz="1400" dirty="0"/>
          </a:p>
        </p:txBody>
      </p:sp>
      <p:sp>
        <p:nvSpPr>
          <p:cNvPr id="13" name="Shape 11"/>
          <p:cNvSpPr/>
          <p:nvPr/>
        </p:nvSpPr>
        <p:spPr>
          <a:xfrm>
            <a:off x="6355080" y="1417320"/>
            <a:ext cx="1325880" cy="502920"/>
          </a:xfrm>
          <a:prstGeom prst="rect">
            <a:avLst/>
          </a:prstGeom>
          <a:solidFill>
            <a:srgbClr val="0F172A"/>
          </a:solidFill>
          <a:ln w="6350">
            <a:solidFill>
              <a:srgbClr val="FFFFFF"/>
            </a:solidFill>
            <a:prstDash val="solid"/>
          </a:ln>
        </p:spPr>
        <p:txBody>
          <a:bodyPr/>
          <a:lstStyle/>
          <a:p>
            <a:endParaRPr lang="it-IT" sz="1400"/>
          </a:p>
        </p:txBody>
      </p:sp>
      <p:sp>
        <p:nvSpPr>
          <p:cNvPr id="14" name="Text 12"/>
          <p:cNvSpPr/>
          <p:nvPr/>
        </p:nvSpPr>
        <p:spPr>
          <a:xfrm>
            <a:off x="6382512" y="1572768"/>
            <a:ext cx="1271016" cy="182880"/>
          </a:xfrm>
          <a:prstGeom prst="rect">
            <a:avLst/>
          </a:prstGeom>
          <a:noFill/>
          <a:ln/>
        </p:spPr>
        <p:txBody>
          <a:bodyPr wrap="square" lIns="0" tIns="0" rIns="0" bIns="0" rtlCol="0" anchor="ctr"/>
          <a:lstStyle/>
          <a:p>
            <a:pPr marL="0" indent="0" algn="ctr">
              <a:buNone/>
            </a:pPr>
            <a:r>
              <a:rPr lang="en-US" sz="1400" b="1" dirty="0">
                <a:solidFill>
                  <a:srgbClr val="FFFFFF"/>
                </a:solidFill>
              </a:rPr>
              <a:t>Export</a:t>
            </a:r>
            <a:endParaRPr lang="en-US" sz="1400" dirty="0"/>
          </a:p>
        </p:txBody>
      </p:sp>
      <p:sp>
        <p:nvSpPr>
          <p:cNvPr id="15" name="Shape 13"/>
          <p:cNvSpPr/>
          <p:nvPr/>
        </p:nvSpPr>
        <p:spPr>
          <a:xfrm>
            <a:off x="7680960" y="1417320"/>
            <a:ext cx="1325880" cy="502920"/>
          </a:xfrm>
          <a:prstGeom prst="rect">
            <a:avLst/>
          </a:prstGeom>
          <a:solidFill>
            <a:srgbClr val="0F172A"/>
          </a:solidFill>
          <a:ln w="6350">
            <a:solidFill>
              <a:srgbClr val="FFFFFF"/>
            </a:solidFill>
            <a:prstDash val="solid"/>
          </a:ln>
        </p:spPr>
        <p:txBody>
          <a:bodyPr/>
          <a:lstStyle/>
          <a:p>
            <a:endParaRPr lang="it-IT" sz="1400"/>
          </a:p>
        </p:txBody>
      </p:sp>
      <p:sp>
        <p:nvSpPr>
          <p:cNvPr id="16" name="Text 14"/>
          <p:cNvSpPr/>
          <p:nvPr/>
        </p:nvSpPr>
        <p:spPr>
          <a:xfrm>
            <a:off x="7708392" y="1572768"/>
            <a:ext cx="1271016" cy="182880"/>
          </a:xfrm>
          <a:prstGeom prst="rect">
            <a:avLst/>
          </a:prstGeom>
          <a:noFill/>
          <a:ln/>
        </p:spPr>
        <p:txBody>
          <a:bodyPr wrap="square" lIns="0" tIns="0" rIns="0" bIns="0" rtlCol="0" anchor="ctr"/>
          <a:lstStyle/>
          <a:p>
            <a:pPr marL="0" indent="0" algn="ctr">
              <a:buNone/>
            </a:pPr>
            <a:r>
              <a:rPr lang="en-US" sz="1400" b="1" dirty="0">
                <a:solidFill>
                  <a:srgbClr val="FFFFFF"/>
                </a:solidFill>
              </a:rPr>
              <a:t>SoC BESS</a:t>
            </a:r>
            <a:endParaRPr lang="en-US" sz="1400" dirty="0"/>
          </a:p>
        </p:txBody>
      </p:sp>
      <p:sp>
        <p:nvSpPr>
          <p:cNvPr id="17" name="Shape 15"/>
          <p:cNvSpPr/>
          <p:nvPr/>
        </p:nvSpPr>
        <p:spPr>
          <a:xfrm>
            <a:off x="9006840" y="1417320"/>
            <a:ext cx="1325880" cy="502920"/>
          </a:xfrm>
          <a:prstGeom prst="rect">
            <a:avLst/>
          </a:prstGeom>
          <a:solidFill>
            <a:srgbClr val="0F172A"/>
          </a:solidFill>
          <a:ln w="6350">
            <a:solidFill>
              <a:srgbClr val="FFFFFF"/>
            </a:solidFill>
            <a:prstDash val="solid"/>
          </a:ln>
        </p:spPr>
        <p:txBody>
          <a:bodyPr/>
          <a:lstStyle/>
          <a:p>
            <a:endParaRPr lang="it-IT" sz="1400"/>
          </a:p>
        </p:txBody>
      </p:sp>
      <p:sp>
        <p:nvSpPr>
          <p:cNvPr id="18" name="Text 16"/>
          <p:cNvSpPr/>
          <p:nvPr/>
        </p:nvSpPr>
        <p:spPr>
          <a:xfrm>
            <a:off x="9034272" y="1572768"/>
            <a:ext cx="1271016" cy="182880"/>
          </a:xfrm>
          <a:prstGeom prst="rect">
            <a:avLst/>
          </a:prstGeom>
          <a:noFill/>
          <a:ln/>
        </p:spPr>
        <p:txBody>
          <a:bodyPr wrap="square" lIns="0" tIns="0" rIns="0" bIns="0" rtlCol="0" anchor="ctr"/>
          <a:lstStyle/>
          <a:p>
            <a:pPr marL="0" indent="0" algn="ctr">
              <a:buNone/>
            </a:pPr>
            <a:r>
              <a:rPr lang="en-US" sz="1400" b="1" dirty="0">
                <a:solidFill>
                  <a:srgbClr val="FFFFFF"/>
                </a:solidFill>
              </a:rPr>
              <a:t>SoH HSS</a:t>
            </a:r>
            <a:endParaRPr lang="en-US" sz="1400" dirty="0"/>
          </a:p>
        </p:txBody>
      </p:sp>
      <p:sp>
        <p:nvSpPr>
          <p:cNvPr id="19" name="Shape 17"/>
          <p:cNvSpPr/>
          <p:nvPr/>
        </p:nvSpPr>
        <p:spPr>
          <a:xfrm>
            <a:off x="10332720" y="1417320"/>
            <a:ext cx="1188720" cy="502920"/>
          </a:xfrm>
          <a:prstGeom prst="rect">
            <a:avLst/>
          </a:prstGeom>
          <a:solidFill>
            <a:srgbClr val="0F172A"/>
          </a:solidFill>
          <a:ln w="6350">
            <a:solidFill>
              <a:srgbClr val="FFFFFF"/>
            </a:solidFill>
            <a:prstDash val="solid"/>
          </a:ln>
        </p:spPr>
        <p:txBody>
          <a:bodyPr/>
          <a:lstStyle/>
          <a:p>
            <a:endParaRPr lang="it-IT" sz="1400"/>
          </a:p>
        </p:txBody>
      </p:sp>
      <p:sp>
        <p:nvSpPr>
          <p:cNvPr id="20" name="Text 18"/>
          <p:cNvSpPr/>
          <p:nvPr/>
        </p:nvSpPr>
        <p:spPr>
          <a:xfrm>
            <a:off x="10360152" y="1572768"/>
            <a:ext cx="1133856" cy="182880"/>
          </a:xfrm>
          <a:prstGeom prst="rect">
            <a:avLst/>
          </a:prstGeom>
          <a:noFill/>
          <a:ln/>
        </p:spPr>
        <p:txBody>
          <a:bodyPr wrap="square" lIns="0" tIns="0" rIns="0" bIns="0" rtlCol="0" anchor="ctr"/>
          <a:lstStyle/>
          <a:p>
            <a:pPr marL="0" indent="0" algn="ctr">
              <a:buNone/>
            </a:pPr>
            <a:r>
              <a:rPr lang="en-US" sz="1400" b="1" dirty="0">
                <a:solidFill>
                  <a:srgbClr val="FFFFFF"/>
                </a:solidFill>
              </a:rPr>
              <a:t>PEV</a:t>
            </a:r>
            <a:endParaRPr lang="en-US" sz="1400" dirty="0"/>
          </a:p>
        </p:txBody>
      </p:sp>
      <p:sp>
        <p:nvSpPr>
          <p:cNvPr id="21" name="Shape 19"/>
          <p:cNvSpPr/>
          <p:nvPr/>
        </p:nvSpPr>
        <p:spPr>
          <a:xfrm>
            <a:off x="640080" y="1920240"/>
            <a:ext cx="1143000" cy="566928"/>
          </a:xfrm>
          <a:prstGeom prst="rect">
            <a:avLst/>
          </a:prstGeom>
          <a:solidFill>
            <a:srgbClr val="F8FAFC"/>
          </a:solidFill>
          <a:ln w="6350">
            <a:solidFill>
              <a:srgbClr val="E2E8F0"/>
            </a:solidFill>
            <a:prstDash val="solid"/>
          </a:ln>
        </p:spPr>
        <p:txBody>
          <a:bodyPr/>
          <a:lstStyle/>
          <a:p>
            <a:endParaRPr lang="it-IT" sz="1400"/>
          </a:p>
        </p:txBody>
      </p:sp>
      <p:sp>
        <p:nvSpPr>
          <p:cNvPr id="22" name="Text 20"/>
          <p:cNvSpPr/>
          <p:nvPr/>
        </p:nvSpPr>
        <p:spPr>
          <a:xfrm>
            <a:off x="667512" y="2121408"/>
            <a:ext cx="1088136" cy="182880"/>
          </a:xfrm>
          <a:prstGeom prst="rect">
            <a:avLst/>
          </a:prstGeom>
          <a:noFill/>
          <a:ln/>
        </p:spPr>
        <p:txBody>
          <a:bodyPr wrap="square" lIns="0" tIns="0" rIns="0" bIns="0" rtlCol="0" anchor="ctr"/>
          <a:lstStyle/>
          <a:p>
            <a:pPr marL="0" indent="0" algn="ctr">
              <a:buNone/>
            </a:pPr>
            <a:r>
              <a:rPr lang="en-US" sz="1400" b="1" dirty="0">
                <a:solidFill>
                  <a:srgbClr val="0F172A"/>
                </a:solidFill>
              </a:rPr>
              <a:t>A estate</a:t>
            </a:r>
            <a:endParaRPr lang="en-US" sz="1400" dirty="0"/>
          </a:p>
        </p:txBody>
      </p:sp>
      <p:sp>
        <p:nvSpPr>
          <p:cNvPr id="23" name="Shape 21"/>
          <p:cNvSpPr/>
          <p:nvPr/>
        </p:nvSpPr>
        <p:spPr>
          <a:xfrm>
            <a:off x="1783080" y="1920240"/>
            <a:ext cx="1417320" cy="566928"/>
          </a:xfrm>
          <a:prstGeom prst="rect">
            <a:avLst/>
          </a:prstGeom>
          <a:solidFill>
            <a:srgbClr val="F8FAFC"/>
          </a:solidFill>
          <a:ln w="6350">
            <a:solidFill>
              <a:srgbClr val="E2E8F0"/>
            </a:solidFill>
            <a:prstDash val="solid"/>
          </a:ln>
        </p:spPr>
        <p:txBody>
          <a:bodyPr/>
          <a:lstStyle/>
          <a:p>
            <a:endParaRPr lang="it-IT" sz="1400"/>
          </a:p>
        </p:txBody>
      </p:sp>
      <p:sp>
        <p:nvSpPr>
          <p:cNvPr id="24" name="Text 22"/>
          <p:cNvSpPr/>
          <p:nvPr/>
        </p:nvSpPr>
        <p:spPr>
          <a:xfrm>
            <a:off x="1810512" y="2121408"/>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3695</a:t>
            </a:r>
            <a:endParaRPr lang="en-US" sz="1400" dirty="0"/>
          </a:p>
        </p:txBody>
      </p:sp>
      <p:sp>
        <p:nvSpPr>
          <p:cNvPr id="25" name="Shape 23"/>
          <p:cNvSpPr/>
          <p:nvPr/>
        </p:nvSpPr>
        <p:spPr>
          <a:xfrm>
            <a:off x="3200400" y="1920240"/>
            <a:ext cx="1737360" cy="566928"/>
          </a:xfrm>
          <a:prstGeom prst="rect">
            <a:avLst/>
          </a:prstGeom>
          <a:solidFill>
            <a:srgbClr val="F8FAFC"/>
          </a:solidFill>
          <a:ln w="6350">
            <a:solidFill>
              <a:srgbClr val="E2E8F0"/>
            </a:solidFill>
            <a:prstDash val="solid"/>
          </a:ln>
        </p:spPr>
        <p:txBody>
          <a:bodyPr/>
          <a:lstStyle/>
          <a:p>
            <a:endParaRPr lang="it-IT" sz="1400"/>
          </a:p>
        </p:txBody>
      </p:sp>
      <p:sp>
        <p:nvSpPr>
          <p:cNvPr id="26" name="Text 24"/>
          <p:cNvSpPr/>
          <p:nvPr/>
        </p:nvSpPr>
        <p:spPr>
          <a:xfrm>
            <a:off x="3227832" y="2121408"/>
            <a:ext cx="1682496" cy="182880"/>
          </a:xfrm>
          <a:prstGeom prst="rect">
            <a:avLst/>
          </a:prstGeom>
          <a:noFill/>
          <a:ln/>
        </p:spPr>
        <p:txBody>
          <a:bodyPr wrap="square" lIns="0" tIns="0" rIns="0" bIns="0" rtlCol="0" anchor="ctr"/>
          <a:lstStyle/>
          <a:p>
            <a:pPr marL="0" indent="0" algn="ctr">
              <a:buNone/>
            </a:pPr>
            <a:r>
              <a:rPr lang="en-US" sz="1400" dirty="0">
                <a:solidFill>
                  <a:srgbClr val="5B677A"/>
                </a:solidFill>
              </a:rPr>
              <a:t>4930</a:t>
            </a:r>
            <a:endParaRPr lang="en-US" sz="1400" dirty="0"/>
          </a:p>
        </p:txBody>
      </p:sp>
      <p:sp>
        <p:nvSpPr>
          <p:cNvPr id="27" name="Shape 25"/>
          <p:cNvSpPr/>
          <p:nvPr/>
        </p:nvSpPr>
        <p:spPr>
          <a:xfrm>
            <a:off x="4937760" y="1920240"/>
            <a:ext cx="1417320" cy="566928"/>
          </a:xfrm>
          <a:prstGeom prst="rect">
            <a:avLst/>
          </a:prstGeom>
          <a:solidFill>
            <a:srgbClr val="F8FAFC"/>
          </a:solidFill>
          <a:ln w="6350">
            <a:solidFill>
              <a:srgbClr val="E2E8F0"/>
            </a:solidFill>
            <a:prstDash val="solid"/>
          </a:ln>
        </p:spPr>
        <p:txBody>
          <a:bodyPr/>
          <a:lstStyle/>
          <a:p>
            <a:endParaRPr lang="it-IT" sz="1400"/>
          </a:p>
        </p:txBody>
      </p:sp>
      <p:sp>
        <p:nvSpPr>
          <p:cNvPr id="28" name="Text 26"/>
          <p:cNvSpPr/>
          <p:nvPr/>
        </p:nvSpPr>
        <p:spPr>
          <a:xfrm>
            <a:off x="4965192" y="2121408"/>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5760</a:t>
            </a:r>
            <a:endParaRPr lang="en-US" sz="1400" dirty="0"/>
          </a:p>
        </p:txBody>
      </p:sp>
      <p:sp>
        <p:nvSpPr>
          <p:cNvPr id="29" name="Shape 27"/>
          <p:cNvSpPr/>
          <p:nvPr/>
        </p:nvSpPr>
        <p:spPr>
          <a:xfrm>
            <a:off x="6355080" y="1920240"/>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30" name="Text 28"/>
          <p:cNvSpPr/>
          <p:nvPr/>
        </p:nvSpPr>
        <p:spPr>
          <a:xfrm>
            <a:off x="6382512" y="2121408"/>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5,4</a:t>
            </a:r>
            <a:endParaRPr lang="en-US" sz="1400" dirty="0"/>
          </a:p>
        </p:txBody>
      </p:sp>
      <p:sp>
        <p:nvSpPr>
          <p:cNvPr id="31" name="Shape 29"/>
          <p:cNvSpPr/>
          <p:nvPr/>
        </p:nvSpPr>
        <p:spPr>
          <a:xfrm>
            <a:off x="7680960" y="1920240"/>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32" name="Text 30"/>
          <p:cNvSpPr/>
          <p:nvPr/>
        </p:nvSpPr>
        <p:spPr>
          <a:xfrm>
            <a:off x="7708392" y="2121408"/>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0,10</a:t>
            </a:r>
            <a:endParaRPr lang="en-US" sz="1400" dirty="0"/>
          </a:p>
        </p:txBody>
      </p:sp>
      <p:sp>
        <p:nvSpPr>
          <p:cNvPr id="33" name="Shape 31"/>
          <p:cNvSpPr/>
          <p:nvPr/>
        </p:nvSpPr>
        <p:spPr>
          <a:xfrm>
            <a:off x="9006840" y="1920240"/>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34" name="Text 32"/>
          <p:cNvSpPr/>
          <p:nvPr/>
        </p:nvSpPr>
        <p:spPr>
          <a:xfrm>
            <a:off x="9034272" y="2121408"/>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0,50</a:t>
            </a:r>
            <a:endParaRPr lang="en-US" sz="1400" dirty="0"/>
          </a:p>
        </p:txBody>
      </p:sp>
      <p:sp>
        <p:nvSpPr>
          <p:cNvPr id="35" name="Shape 33"/>
          <p:cNvSpPr/>
          <p:nvPr/>
        </p:nvSpPr>
        <p:spPr>
          <a:xfrm>
            <a:off x="10332720" y="1920240"/>
            <a:ext cx="1188720" cy="566928"/>
          </a:xfrm>
          <a:prstGeom prst="rect">
            <a:avLst/>
          </a:prstGeom>
          <a:solidFill>
            <a:srgbClr val="F8FAFC"/>
          </a:solidFill>
          <a:ln w="6350">
            <a:solidFill>
              <a:srgbClr val="E2E8F0"/>
            </a:solidFill>
            <a:prstDash val="solid"/>
          </a:ln>
        </p:spPr>
        <p:txBody>
          <a:bodyPr/>
          <a:lstStyle/>
          <a:p>
            <a:endParaRPr lang="it-IT" sz="1400"/>
          </a:p>
        </p:txBody>
      </p:sp>
      <p:sp>
        <p:nvSpPr>
          <p:cNvPr id="36" name="Text 34"/>
          <p:cNvSpPr/>
          <p:nvPr/>
        </p:nvSpPr>
        <p:spPr>
          <a:xfrm>
            <a:off x="10360152" y="2121408"/>
            <a:ext cx="1133856" cy="182880"/>
          </a:xfrm>
          <a:prstGeom prst="rect">
            <a:avLst/>
          </a:prstGeom>
          <a:noFill/>
          <a:ln/>
        </p:spPr>
        <p:txBody>
          <a:bodyPr wrap="square" lIns="0" tIns="0" rIns="0" bIns="0" rtlCol="0" anchor="ctr"/>
          <a:lstStyle/>
          <a:p>
            <a:pPr marL="0" indent="0" algn="ctr">
              <a:buNone/>
            </a:pPr>
            <a:r>
              <a:rPr lang="en-US" sz="1400" b="1" dirty="0">
                <a:solidFill>
                  <a:srgbClr val="16A34A"/>
                </a:solidFill>
              </a:rPr>
              <a:t>OK</a:t>
            </a:r>
            <a:endParaRPr lang="en-US" sz="1400" dirty="0"/>
          </a:p>
        </p:txBody>
      </p:sp>
      <p:sp>
        <p:nvSpPr>
          <p:cNvPr id="37" name="Shape 35"/>
          <p:cNvSpPr/>
          <p:nvPr/>
        </p:nvSpPr>
        <p:spPr>
          <a:xfrm>
            <a:off x="640080" y="2487168"/>
            <a:ext cx="1143000" cy="566928"/>
          </a:xfrm>
          <a:prstGeom prst="rect">
            <a:avLst/>
          </a:prstGeom>
          <a:solidFill>
            <a:srgbClr val="FFFFFF"/>
          </a:solidFill>
          <a:ln w="6350">
            <a:solidFill>
              <a:srgbClr val="E2E8F0"/>
            </a:solidFill>
            <a:prstDash val="solid"/>
          </a:ln>
        </p:spPr>
        <p:txBody>
          <a:bodyPr/>
          <a:lstStyle/>
          <a:p>
            <a:endParaRPr lang="it-IT" sz="1400"/>
          </a:p>
        </p:txBody>
      </p:sp>
      <p:sp>
        <p:nvSpPr>
          <p:cNvPr id="38" name="Text 36"/>
          <p:cNvSpPr/>
          <p:nvPr/>
        </p:nvSpPr>
        <p:spPr>
          <a:xfrm>
            <a:off x="667512" y="2688336"/>
            <a:ext cx="1088136" cy="182880"/>
          </a:xfrm>
          <a:prstGeom prst="rect">
            <a:avLst/>
          </a:prstGeom>
          <a:noFill/>
          <a:ln/>
        </p:spPr>
        <p:txBody>
          <a:bodyPr wrap="square" lIns="0" tIns="0" rIns="0" bIns="0" rtlCol="0" anchor="ctr"/>
          <a:lstStyle/>
          <a:p>
            <a:pPr marL="0" indent="0" algn="ctr">
              <a:buNone/>
            </a:pPr>
            <a:r>
              <a:rPr lang="en-US" sz="1400" b="1" dirty="0">
                <a:solidFill>
                  <a:srgbClr val="0F172A"/>
                </a:solidFill>
              </a:rPr>
              <a:t>B estate</a:t>
            </a:r>
            <a:endParaRPr lang="en-US" sz="1400" dirty="0"/>
          </a:p>
        </p:txBody>
      </p:sp>
      <p:sp>
        <p:nvSpPr>
          <p:cNvPr id="39" name="Shape 37"/>
          <p:cNvSpPr/>
          <p:nvPr/>
        </p:nvSpPr>
        <p:spPr>
          <a:xfrm>
            <a:off x="1783080" y="2487168"/>
            <a:ext cx="1417320" cy="566928"/>
          </a:xfrm>
          <a:prstGeom prst="rect">
            <a:avLst/>
          </a:prstGeom>
          <a:solidFill>
            <a:srgbClr val="FFFFFF"/>
          </a:solidFill>
          <a:ln w="6350">
            <a:solidFill>
              <a:srgbClr val="E2E8F0"/>
            </a:solidFill>
            <a:prstDash val="solid"/>
          </a:ln>
        </p:spPr>
        <p:txBody>
          <a:bodyPr/>
          <a:lstStyle/>
          <a:p>
            <a:endParaRPr lang="it-IT" sz="1400"/>
          </a:p>
        </p:txBody>
      </p:sp>
      <p:sp>
        <p:nvSpPr>
          <p:cNvPr id="40" name="Text 38"/>
          <p:cNvSpPr/>
          <p:nvPr/>
        </p:nvSpPr>
        <p:spPr>
          <a:xfrm>
            <a:off x="1810512" y="2688336"/>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5519</a:t>
            </a:r>
            <a:endParaRPr lang="en-US" sz="1400" dirty="0"/>
          </a:p>
        </p:txBody>
      </p:sp>
      <p:sp>
        <p:nvSpPr>
          <p:cNvPr id="41" name="Shape 39"/>
          <p:cNvSpPr/>
          <p:nvPr/>
        </p:nvSpPr>
        <p:spPr>
          <a:xfrm>
            <a:off x="3200400" y="2487168"/>
            <a:ext cx="1737360" cy="566928"/>
          </a:xfrm>
          <a:prstGeom prst="rect">
            <a:avLst/>
          </a:prstGeom>
          <a:solidFill>
            <a:srgbClr val="FFFFFF"/>
          </a:solidFill>
          <a:ln w="6350">
            <a:solidFill>
              <a:srgbClr val="E2E8F0"/>
            </a:solidFill>
            <a:prstDash val="solid"/>
          </a:ln>
        </p:spPr>
        <p:txBody>
          <a:bodyPr/>
          <a:lstStyle/>
          <a:p>
            <a:endParaRPr lang="it-IT" sz="1400"/>
          </a:p>
        </p:txBody>
      </p:sp>
      <p:sp>
        <p:nvSpPr>
          <p:cNvPr id="42" name="Text 40"/>
          <p:cNvSpPr/>
          <p:nvPr/>
        </p:nvSpPr>
        <p:spPr>
          <a:xfrm>
            <a:off x="3227832" y="2688336"/>
            <a:ext cx="1682496" cy="182880"/>
          </a:xfrm>
          <a:prstGeom prst="rect">
            <a:avLst/>
          </a:prstGeom>
          <a:noFill/>
          <a:ln/>
        </p:spPr>
        <p:txBody>
          <a:bodyPr wrap="square" lIns="0" tIns="0" rIns="0" bIns="0" rtlCol="0" anchor="ctr"/>
          <a:lstStyle/>
          <a:p>
            <a:pPr marL="0" indent="0" algn="ctr">
              <a:buNone/>
            </a:pPr>
            <a:r>
              <a:rPr lang="en-US" sz="1400" dirty="0">
                <a:solidFill>
                  <a:srgbClr val="5B677A"/>
                </a:solidFill>
              </a:rPr>
              <a:t>10678</a:t>
            </a:r>
            <a:endParaRPr lang="en-US" sz="1400" dirty="0"/>
          </a:p>
        </p:txBody>
      </p:sp>
      <p:sp>
        <p:nvSpPr>
          <p:cNvPr id="43" name="Shape 41"/>
          <p:cNvSpPr/>
          <p:nvPr/>
        </p:nvSpPr>
        <p:spPr>
          <a:xfrm>
            <a:off x="4937760" y="2487168"/>
            <a:ext cx="1417320" cy="566928"/>
          </a:xfrm>
          <a:prstGeom prst="rect">
            <a:avLst/>
          </a:prstGeom>
          <a:solidFill>
            <a:srgbClr val="FFFFFF"/>
          </a:solidFill>
          <a:ln w="6350">
            <a:solidFill>
              <a:srgbClr val="E2E8F0"/>
            </a:solidFill>
            <a:prstDash val="solid"/>
          </a:ln>
        </p:spPr>
        <p:txBody>
          <a:bodyPr/>
          <a:lstStyle/>
          <a:p>
            <a:endParaRPr lang="it-IT" sz="1400"/>
          </a:p>
        </p:txBody>
      </p:sp>
      <p:sp>
        <p:nvSpPr>
          <p:cNvPr id="44" name="Text 42"/>
          <p:cNvSpPr/>
          <p:nvPr/>
        </p:nvSpPr>
        <p:spPr>
          <a:xfrm>
            <a:off x="4965192" y="2688336"/>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0</a:t>
            </a:r>
            <a:endParaRPr lang="en-US" sz="1400" dirty="0"/>
          </a:p>
        </p:txBody>
      </p:sp>
      <p:sp>
        <p:nvSpPr>
          <p:cNvPr id="45" name="Shape 43"/>
          <p:cNvSpPr/>
          <p:nvPr/>
        </p:nvSpPr>
        <p:spPr>
          <a:xfrm>
            <a:off x="6355080" y="2487168"/>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46" name="Text 44"/>
          <p:cNvSpPr/>
          <p:nvPr/>
        </p:nvSpPr>
        <p:spPr>
          <a:xfrm>
            <a:off x="6382512" y="2688336"/>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a:t>
            </a:r>
            <a:endParaRPr lang="en-US" sz="1400" dirty="0"/>
          </a:p>
        </p:txBody>
      </p:sp>
      <p:sp>
        <p:nvSpPr>
          <p:cNvPr id="47" name="Shape 45"/>
          <p:cNvSpPr/>
          <p:nvPr/>
        </p:nvSpPr>
        <p:spPr>
          <a:xfrm>
            <a:off x="7680960" y="2487168"/>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48" name="Text 46"/>
          <p:cNvSpPr/>
          <p:nvPr/>
        </p:nvSpPr>
        <p:spPr>
          <a:xfrm>
            <a:off x="7708392" y="2688336"/>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0,10</a:t>
            </a:r>
            <a:endParaRPr lang="en-US" sz="1400" dirty="0"/>
          </a:p>
        </p:txBody>
      </p:sp>
      <p:sp>
        <p:nvSpPr>
          <p:cNvPr id="49" name="Shape 47"/>
          <p:cNvSpPr/>
          <p:nvPr/>
        </p:nvSpPr>
        <p:spPr>
          <a:xfrm>
            <a:off x="9006840" y="2487168"/>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50" name="Text 48"/>
          <p:cNvSpPr/>
          <p:nvPr/>
        </p:nvSpPr>
        <p:spPr>
          <a:xfrm>
            <a:off x="9034272" y="2688336"/>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0,50</a:t>
            </a:r>
            <a:endParaRPr lang="en-US" sz="1400" dirty="0"/>
          </a:p>
        </p:txBody>
      </p:sp>
      <p:sp>
        <p:nvSpPr>
          <p:cNvPr id="51" name="Shape 49"/>
          <p:cNvSpPr/>
          <p:nvPr/>
        </p:nvSpPr>
        <p:spPr>
          <a:xfrm>
            <a:off x="10332720" y="2487168"/>
            <a:ext cx="1188720" cy="566928"/>
          </a:xfrm>
          <a:prstGeom prst="rect">
            <a:avLst/>
          </a:prstGeom>
          <a:solidFill>
            <a:srgbClr val="FFFFFF"/>
          </a:solidFill>
          <a:ln w="6350">
            <a:solidFill>
              <a:srgbClr val="E2E8F0"/>
            </a:solidFill>
            <a:prstDash val="solid"/>
          </a:ln>
        </p:spPr>
        <p:txBody>
          <a:bodyPr/>
          <a:lstStyle/>
          <a:p>
            <a:endParaRPr lang="it-IT" sz="1400"/>
          </a:p>
        </p:txBody>
      </p:sp>
      <p:sp>
        <p:nvSpPr>
          <p:cNvPr id="52" name="Text 50"/>
          <p:cNvSpPr/>
          <p:nvPr/>
        </p:nvSpPr>
        <p:spPr>
          <a:xfrm>
            <a:off x="10360152" y="2688336"/>
            <a:ext cx="1133856" cy="182880"/>
          </a:xfrm>
          <a:prstGeom prst="rect">
            <a:avLst/>
          </a:prstGeom>
          <a:noFill/>
          <a:ln/>
        </p:spPr>
        <p:txBody>
          <a:bodyPr wrap="square" lIns="0" tIns="0" rIns="0" bIns="0" rtlCol="0" anchor="ctr"/>
          <a:lstStyle/>
          <a:p>
            <a:pPr marL="0" indent="0" algn="ctr">
              <a:buNone/>
            </a:pPr>
            <a:r>
              <a:rPr lang="en-US" sz="1400" b="1" dirty="0">
                <a:solidFill>
                  <a:srgbClr val="16A34A"/>
                </a:solidFill>
              </a:rPr>
              <a:t>OK</a:t>
            </a:r>
            <a:endParaRPr lang="en-US" sz="1400" dirty="0"/>
          </a:p>
        </p:txBody>
      </p:sp>
      <p:sp>
        <p:nvSpPr>
          <p:cNvPr id="53" name="Shape 51"/>
          <p:cNvSpPr/>
          <p:nvPr/>
        </p:nvSpPr>
        <p:spPr>
          <a:xfrm>
            <a:off x="640080" y="3054096"/>
            <a:ext cx="1143000" cy="566928"/>
          </a:xfrm>
          <a:prstGeom prst="rect">
            <a:avLst/>
          </a:prstGeom>
          <a:solidFill>
            <a:srgbClr val="F8FAFC"/>
          </a:solidFill>
          <a:ln w="6350">
            <a:solidFill>
              <a:srgbClr val="E2E8F0"/>
            </a:solidFill>
            <a:prstDash val="solid"/>
          </a:ln>
        </p:spPr>
        <p:txBody>
          <a:bodyPr/>
          <a:lstStyle/>
          <a:p>
            <a:endParaRPr lang="it-IT" sz="1400"/>
          </a:p>
        </p:txBody>
      </p:sp>
      <p:sp>
        <p:nvSpPr>
          <p:cNvPr id="54" name="Text 52"/>
          <p:cNvSpPr/>
          <p:nvPr/>
        </p:nvSpPr>
        <p:spPr>
          <a:xfrm>
            <a:off x="667512" y="3255264"/>
            <a:ext cx="1088136" cy="182880"/>
          </a:xfrm>
          <a:prstGeom prst="rect">
            <a:avLst/>
          </a:prstGeom>
          <a:noFill/>
          <a:ln/>
        </p:spPr>
        <p:txBody>
          <a:bodyPr wrap="square" lIns="0" tIns="0" rIns="0" bIns="0" rtlCol="0" anchor="ctr"/>
          <a:lstStyle/>
          <a:p>
            <a:pPr marL="0" indent="0" algn="ctr">
              <a:buNone/>
            </a:pPr>
            <a:r>
              <a:rPr lang="en-US" sz="1400" b="1" dirty="0">
                <a:solidFill>
                  <a:srgbClr val="0F172A"/>
                </a:solidFill>
              </a:rPr>
              <a:t>C inverno</a:t>
            </a:r>
            <a:endParaRPr lang="en-US" sz="1400" dirty="0"/>
          </a:p>
        </p:txBody>
      </p:sp>
      <p:sp>
        <p:nvSpPr>
          <p:cNvPr id="55" name="Shape 53"/>
          <p:cNvSpPr/>
          <p:nvPr/>
        </p:nvSpPr>
        <p:spPr>
          <a:xfrm>
            <a:off x="1783080" y="3054096"/>
            <a:ext cx="1417320" cy="566928"/>
          </a:xfrm>
          <a:prstGeom prst="rect">
            <a:avLst/>
          </a:prstGeom>
          <a:solidFill>
            <a:srgbClr val="F8FAFC"/>
          </a:solidFill>
          <a:ln w="6350">
            <a:solidFill>
              <a:srgbClr val="E2E8F0"/>
            </a:solidFill>
            <a:prstDash val="solid"/>
          </a:ln>
        </p:spPr>
        <p:txBody>
          <a:bodyPr/>
          <a:lstStyle/>
          <a:p>
            <a:endParaRPr lang="it-IT" sz="1400"/>
          </a:p>
        </p:txBody>
      </p:sp>
      <p:sp>
        <p:nvSpPr>
          <p:cNvPr id="56" name="Text 54"/>
          <p:cNvSpPr/>
          <p:nvPr/>
        </p:nvSpPr>
        <p:spPr>
          <a:xfrm>
            <a:off x="1810512" y="3255264"/>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3009</a:t>
            </a:r>
            <a:endParaRPr lang="en-US" sz="1400" dirty="0"/>
          </a:p>
        </p:txBody>
      </p:sp>
      <p:sp>
        <p:nvSpPr>
          <p:cNvPr id="57" name="Shape 55"/>
          <p:cNvSpPr/>
          <p:nvPr/>
        </p:nvSpPr>
        <p:spPr>
          <a:xfrm>
            <a:off x="3200400" y="3054096"/>
            <a:ext cx="1737360" cy="566928"/>
          </a:xfrm>
          <a:prstGeom prst="rect">
            <a:avLst/>
          </a:prstGeom>
          <a:solidFill>
            <a:srgbClr val="F8FAFC"/>
          </a:solidFill>
          <a:ln w="6350">
            <a:solidFill>
              <a:srgbClr val="E2E8F0"/>
            </a:solidFill>
            <a:prstDash val="solid"/>
          </a:ln>
        </p:spPr>
        <p:txBody>
          <a:bodyPr/>
          <a:lstStyle/>
          <a:p>
            <a:endParaRPr lang="it-IT" sz="1400"/>
          </a:p>
        </p:txBody>
      </p:sp>
      <p:sp>
        <p:nvSpPr>
          <p:cNvPr id="58" name="Text 56"/>
          <p:cNvSpPr/>
          <p:nvPr/>
        </p:nvSpPr>
        <p:spPr>
          <a:xfrm>
            <a:off x="3227832" y="3255264"/>
            <a:ext cx="1682496" cy="182880"/>
          </a:xfrm>
          <a:prstGeom prst="rect">
            <a:avLst/>
          </a:prstGeom>
          <a:noFill/>
          <a:ln/>
        </p:spPr>
        <p:txBody>
          <a:bodyPr wrap="square" lIns="0" tIns="0" rIns="0" bIns="0" rtlCol="0" anchor="ctr"/>
          <a:lstStyle/>
          <a:p>
            <a:pPr marL="0" indent="0" algn="ctr">
              <a:buNone/>
            </a:pPr>
            <a:r>
              <a:rPr lang="en-US" sz="1400" dirty="0">
                <a:solidFill>
                  <a:srgbClr val="5B677A"/>
                </a:solidFill>
              </a:rPr>
              <a:t>3774</a:t>
            </a:r>
            <a:endParaRPr lang="en-US" sz="1400" dirty="0"/>
          </a:p>
        </p:txBody>
      </p:sp>
      <p:sp>
        <p:nvSpPr>
          <p:cNvPr id="59" name="Shape 57"/>
          <p:cNvSpPr/>
          <p:nvPr/>
        </p:nvSpPr>
        <p:spPr>
          <a:xfrm>
            <a:off x="4937760" y="3054096"/>
            <a:ext cx="1417320" cy="566928"/>
          </a:xfrm>
          <a:prstGeom prst="rect">
            <a:avLst/>
          </a:prstGeom>
          <a:solidFill>
            <a:srgbClr val="F8FAFC"/>
          </a:solidFill>
          <a:ln w="6350">
            <a:solidFill>
              <a:srgbClr val="E2E8F0"/>
            </a:solidFill>
            <a:prstDash val="solid"/>
          </a:ln>
        </p:spPr>
        <p:txBody>
          <a:bodyPr/>
          <a:lstStyle/>
          <a:p>
            <a:endParaRPr lang="it-IT" sz="1400"/>
          </a:p>
        </p:txBody>
      </p:sp>
      <p:sp>
        <p:nvSpPr>
          <p:cNvPr id="60" name="Text 58"/>
          <p:cNvSpPr/>
          <p:nvPr/>
        </p:nvSpPr>
        <p:spPr>
          <a:xfrm>
            <a:off x="4965192" y="3255264"/>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5760</a:t>
            </a:r>
            <a:endParaRPr lang="en-US" sz="1400" dirty="0"/>
          </a:p>
        </p:txBody>
      </p:sp>
      <p:sp>
        <p:nvSpPr>
          <p:cNvPr id="61" name="Shape 59"/>
          <p:cNvSpPr/>
          <p:nvPr/>
        </p:nvSpPr>
        <p:spPr>
          <a:xfrm>
            <a:off x="6355080" y="3054096"/>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62" name="Text 60"/>
          <p:cNvSpPr/>
          <p:nvPr/>
        </p:nvSpPr>
        <p:spPr>
          <a:xfrm>
            <a:off x="6382512" y="3255264"/>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a:t>
            </a:r>
            <a:endParaRPr lang="en-US" sz="1400" dirty="0"/>
          </a:p>
        </p:txBody>
      </p:sp>
      <p:sp>
        <p:nvSpPr>
          <p:cNvPr id="63" name="Shape 61"/>
          <p:cNvSpPr/>
          <p:nvPr/>
        </p:nvSpPr>
        <p:spPr>
          <a:xfrm>
            <a:off x="7680960" y="3054096"/>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64" name="Text 62"/>
          <p:cNvSpPr/>
          <p:nvPr/>
        </p:nvSpPr>
        <p:spPr>
          <a:xfrm>
            <a:off x="7708392" y="3255264"/>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0,10</a:t>
            </a:r>
            <a:endParaRPr lang="en-US" sz="1400" dirty="0"/>
          </a:p>
        </p:txBody>
      </p:sp>
      <p:sp>
        <p:nvSpPr>
          <p:cNvPr id="65" name="Shape 63"/>
          <p:cNvSpPr/>
          <p:nvPr/>
        </p:nvSpPr>
        <p:spPr>
          <a:xfrm>
            <a:off x="9006840" y="3054096"/>
            <a:ext cx="1325880" cy="566928"/>
          </a:xfrm>
          <a:prstGeom prst="rect">
            <a:avLst/>
          </a:prstGeom>
          <a:solidFill>
            <a:srgbClr val="F8FAFC"/>
          </a:solidFill>
          <a:ln w="6350">
            <a:solidFill>
              <a:srgbClr val="E2E8F0"/>
            </a:solidFill>
            <a:prstDash val="solid"/>
          </a:ln>
        </p:spPr>
        <p:txBody>
          <a:bodyPr/>
          <a:lstStyle/>
          <a:p>
            <a:endParaRPr lang="it-IT" sz="1400"/>
          </a:p>
        </p:txBody>
      </p:sp>
      <p:sp>
        <p:nvSpPr>
          <p:cNvPr id="66" name="Text 64"/>
          <p:cNvSpPr/>
          <p:nvPr/>
        </p:nvSpPr>
        <p:spPr>
          <a:xfrm>
            <a:off x="9034272" y="3255264"/>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0,50</a:t>
            </a:r>
            <a:endParaRPr lang="en-US" sz="1400" dirty="0"/>
          </a:p>
        </p:txBody>
      </p:sp>
      <p:sp>
        <p:nvSpPr>
          <p:cNvPr id="67" name="Shape 65"/>
          <p:cNvSpPr/>
          <p:nvPr/>
        </p:nvSpPr>
        <p:spPr>
          <a:xfrm>
            <a:off x="10332720" y="3054096"/>
            <a:ext cx="1188720" cy="566928"/>
          </a:xfrm>
          <a:prstGeom prst="rect">
            <a:avLst/>
          </a:prstGeom>
          <a:solidFill>
            <a:srgbClr val="F8FAFC"/>
          </a:solidFill>
          <a:ln w="6350">
            <a:solidFill>
              <a:srgbClr val="E2E8F0"/>
            </a:solidFill>
            <a:prstDash val="solid"/>
          </a:ln>
        </p:spPr>
        <p:txBody>
          <a:bodyPr/>
          <a:lstStyle/>
          <a:p>
            <a:endParaRPr lang="it-IT" sz="1400"/>
          </a:p>
        </p:txBody>
      </p:sp>
      <p:sp>
        <p:nvSpPr>
          <p:cNvPr id="68" name="Text 66"/>
          <p:cNvSpPr/>
          <p:nvPr/>
        </p:nvSpPr>
        <p:spPr>
          <a:xfrm>
            <a:off x="10360152" y="3255264"/>
            <a:ext cx="1133856" cy="182880"/>
          </a:xfrm>
          <a:prstGeom prst="rect">
            <a:avLst/>
          </a:prstGeom>
          <a:noFill/>
          <a:ln/>
        </p:spPr>
        <p:txBody>
          <a:bodyPr wrap="square" lIns="0" tIns="0" rIns="0" bIns="0" rtlCol="0" anchor="ctr"/>
          <a:lstStyle/>
          <a:p>
            <a:pPr marL="0" indent="0" algn="ctr">
              <a:buNone/>
            </a:pPr>
            <a:r>
              <a:rPr lang="en-US" sz="1400" b="1" dirty="0">
                <a:solidFill>
                  <a:srgbClr val="16A34A"/>
                </a:solidFill>
              </a:rPr>
              <a:t>OK</a:t>
            </a:r>
            <a:endParaRPr lang="en-US" sz="1400" dirty="0"/>
          </a:p>
        </p:txBody>
      </p:sp>
      <p:sp>
        <p:nvSpPr>
          <p:cNvPr id="69" name="Shape 67"/>
          <p:cNvSpPr/>
          <p:nvPr/>
        </p:nvSpPr>
        <p:spPr>
          <a:xfrm>
            <a:off x="640080" y="3621024"/>
            <a:ext cx="1143000" cy="566928"/>
          </a:xfrm>
          <a:prstGeom prst="rect">
            <a:avLst/>
          </a:prstGeom>
          <a:solidFill>
            <a:srgbClr val="FFFFFF"/>
          </a:solidFill>
          <a:ln w="6350">
            <a:solidFill>
              <a:srgbClr val="E2E8F0"/>
            </a:solidFill>
            <a:prstDash val="solid"/>
          </a:ln>
        </p:spPr>
        <p:txBody>
          <a:bodyPr/>
          <a:lstStyle/>
          <a:p>
            <a:endParaRPr lang="it-IT" sz="1400"/>
          </a:p>
        </p:txBody>
      </p:sp>
      <p:sp>
        <p:nvSpPr>
          <p:cNvPr id="70" name="Text 68"/>
          <p:cNvSpPr/>
          <p:nvPr/>
        </p:nvSpPr>
        <p:spPr>
          <a:xfrm>
            <a:off x="667512" y="3822192"/>
            <a:ext cx="1088136" cy="182880"/>
          </a:xfrm>
          <a:prstGeom prst="rect">
            <a:avLst/>
          </a:prstGeom>
          <a:noFill/>
          <a:ln/>
        </p:spPr>
        <p:txBody>
          <a:bodyPr wrap="square" lIns="0" tIns="0" rIns="0" bIns="0" rtlCol="0" anchor="ctr"/>
          <a:lstStyle/>
          <a:p>
            <a:pPr marL="0" indent="0" algn="ctr">
              <a:buNone/>
            </a:pPr>
            <a:r>
              <a:rPr lang="en-US" sz="1400" b="1" dirty="0">
                <a:solidFill>
                  <a:srgbClr val="0F172A"/>
                </a:solidFill>
              </a:rPr>
              <a:t>D inverno</a:t>
            </a:r>
            <a:endParaRPr lang="en-US" sz="1400" dirty="0"/>
          </a:p>
        </p:txBody>
      </p:sp>
      <p:sp>
        <p:nvSpPr>
          <p:cNvPr id="71" name="Shape 69"/>
          <p:cNvSpPr/>
          <p:nvPr/>
        </p:nvSpPr>
        <p:spPr>
          <a:xfrm>
            <a:off x="1783080" y="3621024"/>
            <a:ext cx="1417320" cy="566928"/>
          </a:xfrm>
          <a:prstGeom prst="rect">
            <a:avLst/>
          </a:prstGeom>
          <a:solidFill>
            <a:srgbClr val="FFFFFF"/>
          </a:solidFill>
          <a:ln w="6350">
            <a:solidFill>
              <a:srgbClr val="E2E8F0"/>
            </a:solidFill>
            <a:prstDash val="solid"/>
          </a:ln>
        </p:spPr>
        <p:txBody>
          <a:bodyPr/>
          <a:lstStyle/>
          <a:p>
            <a:endParaRPr lang="it-IT" sz="1400"/>
          </a:p>
        </p:txBody>
      </p:sp>
      <p:sp>
        <p:nvSpPr>
          <p:cNvPr id="72" name="Text 70"/>
          <p:cNvSpPr/>
          <p:nvPr/>
        </p:nvSpPr>
        <p:spPr>
          <a:xfrm>
            <a:off x="1810512" y="3822192"/>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4709</a:t>
            </a:r>
            <a:endParaRPr lang="en-US" sz="1400" dirty="0"/>
          </a:p>
        </p:txBody>
      </p:sp>
      <p:sp>
        <p:nvSpPr>
          <p:cNvPr id="73" name="Shape 71"/>
          <p:cNvSpPr/>
          <p:nvPr/>
        </p:nvSpPr>
        <p:spPr>
          <a:xfrm>
            <a:off x="3200400" y="3621024"/>
            <a:ext cx="1737360" cy="566928"/>
          </a:xfrm>
          <a:prstGeom prst="rect">
            <a:avLst/>
          </a:prstGeom>
          <a:solidFill>
            <a:srgbClr val="FFFFFF"/>
          </a:solidFill>
          <a:ln w="6350">
            <a:solidFill>
              <a:srgbClr val="E2E8F0"/>
            </a:solidFill>
            <a:prstDash val="solid"/>
          </a:ln>
        </p:spPr>
        <p:txBody>
          <a:bodyPr/>
          <a:lstStyle/>
          <a:p>
            <a:endParaRPr lang="it-IT" sz="1400"/>
          </a:p>
        </p:txBody>
      </p:sp>
      <p:sp>
        <p:nvSpPr>
          <p:cNvPr id="74" name="Text 72"/>
          <p:cNvSpPr/>
          <p:nvPr/>
        </p:nvSpPr>
        <p:spPr>
          <a:xfrm>
            <a:off x="3227832" y="3822192"/>
            <a:ext cx="1682496" cy="182880"/>
          </a:xfrm>
          <a:prstGeom prst="rect">
            <a:avLst/>
          </a:prstGeom>
          <a:noFill/>
          <a:ln/>
        </p:spPr>
        <p:txBody>
          <a:bodyPr wrap="square" lIns="0" tIns="0" rIns="0" bIns="0" rtlCol="0" anchor="ctr"/>
          <a:lstStyle/>
          <a:p>
            <a:pPr marL="0" indent="0" algn="ctr">
              <a:buNone/>
            </a:pPr>
            <a:r>
              <a:rPr lang="en-US" sz="1400" dirty="0">
                <a:solidFill>
                  <a:srgbClr val="5B677A"/>
                </a:solidFill>
              </a:rPr>
              <a:t>9532</a:t>
            </a:r>
            <a:endParaRPr lang="en-US" sz="1400" dirty="0"/>
          </a:p>
        </p:txBody>
      </p:sp>
      <p:sp>
        <p:nvSpPr>
          <p:cNvPr id="75" name="Shape 73"/>
          <p:cNvSpPr/>
          <p:nvPr/>
        </p:nvSpPr>
        <p:spPr>
          <a:xfrm>
            <a:off x="4937760" y="3621024"/>
            <a:ext cx="1417320" cy="566928"/>
          </a:xfrm>
          <a:prstGeom prst="rect">
            <a:avLst/>
          </a:prstGeom>
          <a:solidFill>
            <a:srgbClr val="FFFFFF"/>
          </a:solidFill>
          <a:ln w="6350">
            <a:solidFill>
              <a:srgbClr val="E2E8F0"/>
            </a:solidFill>
            <a:prstDash val="solid"/>
          </a:ln>
        </p:spPr>
        <p:txBody>
          <a:bodyPr/>
          <a:lstStyle/>
          <a:p>
            <a:endParaRPr lang="it-IT" sz="1400"/>
          </a:p>
        </p:txBody>
      </p:sp>
      <p:sp>
        <p:nvSpPr>
          <p:cNvPr id="76" name="Text 74"/>
          <p:cNvSpPr/>
          <p:nvPr/>
        </p:nvSpPr>
        <p:spPr>
          <a:xfrm>
            <a:off x="4965192" y="3822192"/>
            <a:ext cx="1362456" cy="182880"/>
          </a:xfrm>
          <a:prstGeom prst="rect">
            <a:avLst/>
          </a:prstGeom>
          <a:noFill/>
          <a:ln/>
        </p:spPr>
        <p:txBody>
          <a:bodyPr wrap="square" lIns="0" tIns="0" rIns="0" bIns="0" rtlCol="0" anchor="ctr"/>
          <a:lstStyle/>
          <a:p>
            <a:pPr marL="0" indent="0" algn="ctr">
              <a:buNone/>
            </a:pPr>
            <a:r>
              <a:rPr lang="en-US" sz="1400" dirty="0">
                <a:solidFill>
                  <a:srgbClr val="5B677A"/>
                </a:solidFill>
              </a:rPr>
              <a:t>0</a:t>
            </a:r>
            <a:endParaRPr lang="en-US" sz="1400" dirty="0"/>
          </a:p>
        </p:txBody>
      </p:sp>
      <p:sp>
        <p:nvSpPr>
          <p:cNvPr id="77" name="Shape 75"/>
          <p:cNvSpPr/>
          <p:nvPr/>
        </p:nvSpPr>
        <p:spPr>
          <a:xfrm>
            <a:off x="6355080" y="3621024"/>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78" name="Text 76"/>
          <p:cNvSpPr/>
          <p:nvPr/>
        </p:nvSpPr>
        <p:spPr>
          <a:xfrm>
            <a:off x="6382512" y="3822192"/>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a:t>
            </a:r>
            <a:endParaRPr lang="en-US" sz="1400" dirty="0"/>
          </a:p>
        </p:txBody>
      </p:sp>
      <p:sp>
        <p:nvSpPr>
          <p:cNvPr id="79" name="Shape 77"/>
          <p:cNvSpPr/>
          <p:nvPr/>
        </p:nvSpPr>
        <p:spPr>
          <a:xfrm>
            <a:off x="7680960" y="3621024"/>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80" name="Text 78"/>
          <p:cNvSpPr/>
          <p:nvPr/>
        </p:nvSpPr>
        <p:spPr>
          <a:xfrm>
            <a:off x="7708392" y="3822192"/>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0,10</a:t>
            </a:r>
            <a:endParaRPr lang="en-US" sz="1400" dirty="0"/>
          </a:p>
        </p:txBody>
      </p:sp>
      <p:sp>
        <p:nvSpPr>
          <p:cNvPr id="81" name="Shape 79"/>
          <p:cNvSpPr/>
          <p:nvPr/>
        </p:nvSpPr>
        <p:spPr>
          <a:xfrm>
            <a:off x="9006840" y="3621024"/>
            <a:ext cx="1325880" cy="566928"/>
          </a:xfrm>
          <a:prstGeom prst="rect">
            <a:avLst/>
          </a:prstGeom>
          <a:solidFill>
            <a:srgbClr val="FFFFFF"/>
          </a:solidFill>
          <a:ln w="6350">
            <a:solidFill>
              <a:srgbClr val="E2E8F0"/>
            </a:solidFill>
            <a:prstDash val="solid"/>
          </a:ln>
        </p:spPr>
        <p:txBody>
          <a:bodyPr/>
          <a:lstStyle/>
          <a:p>
            <a:endParaRPr lang="it-IT" sz="1400"/>
          </a:p>
        </p:txBody>
      </p:sp>
      <p:sp>
        <p:nvSpPr>
          <p:cNvPr id="82" name="Text 80"/>
          <p:cNvSpPr/>
          <p:nvPr/>
        </p:nvSpPr>
        <p:spPr>
          <a:xfrm>
            <a:off x="9034272" y="3822192"/>
            <a:ext cx="1271016" cy="182880"/>
          </a:xfrm>
          <a:prstGeom prst="rect">
            <a:avLst/>
          </a:prstGeom>
          <a:noFill/>
          <a:ln/>
        </p:spPr>
        <p:txBody>
          <a:bodyPr wrap="square" lIns="0" tIns="0" rIns="0" bIns="0" rtlCol="0" anchor="ctr"/>
          <a:lstStyle/>
          <a:p>
            <a:pPr marL="0" indent="0" algn="ctr">
              <a:buNone/>
            </a:pPr>
            <a:r>
              <a:rPr lang="en-US" sz="1400" dirty="0">
                <a:solidFill>
                  <a:srgbClr val="5B677A"/>
                </a:solidFill>
              </a:rPr>
              <a:t>0,50</a:t>
            </a:r>
            <a:endParaRPr lang="en-US" sz="1400" dirty="0"/>
          </a:p>
        </p:txBody>
      </p:sp>
      <p:sp>
        <p:nvSpPr>
          <p:cNvPr id="83" name="Shape 81"/>
          <p:cNvSpPr/>
          <p:nvPr/>
        </p:nvSpPr>
        <p:spPr>
          <a:xfrm>
            <a:off x="10332720" y="3621024"/>
            <a:ext cx="1188720" cy="566928"/>
          </a:xfrm>
          <a:prstGeom prst="rect">
            <a:avLst/>
          </a:prstGeom>
          <a:solidFill>
            <a:srgbClr val="FFFFFF"/>
          </a:solidFill>
          <a:ln w="6350">
            <a:solidFill>
              <a:srgbClr val="E2E8F0"/>
            </a:solidFill>
            <a:prstDash val="solid"/>
          </a:ln>
        </p:spPr>
        <p:txBody>
          <a:bodyPr/>
          <a:lstStyle/>
          <a:p>
            <a:endParaRPr lang="it-IT" sz="1400"/>
          </a:p>
        </p:txBody>
      </p:sp>
      <p:sp>
        <p:nvSpPr>
          <p:cNvPr id="84" name="Text 82"/>
          <p:cNvSpPr/>
          <p:nvPr/>
        </p:nvSpPr>
        <p:spPr>
          <a:xfrm>
            <a:off x="10360152" y="3822192"/>
            <a:ext cx="1133856" cy="182880"/>
          </a:xfrm>
          <a:prstGeom prst="rect">
            <a:avLst/>
          </a:prstGeom>
          <a:noFill/>
          <a:ln/>
        </p:spPr>
        <p:txBody>
          <a:bodyPr wrap="square" lIns="0" tIns="0" rIns="0" bIns="0" rtlCol="0" anchor="ctr"/>
          <a:lstStyle/>
          <a:p>
            <a:pPr marL="0" indent="0" algn="ctr">
              <a:buNone/>
            </a:pPr>
            <a:r>
              <a:rPr lang="en-US" sz="1400" b="1" dirty="0">
                <a:solidFill>
                  <a:srgbClr val="16A34A"/>
                </a:solidFill>
              </a:rPr>
              <a:t>OK</a:t>
            </a:r>
            <a:endParaRPr lang="en-US" sz="1400" dirty="0"/>
          </a:p>
        </p:txBody>
      </p:sp>
      <p:sp>
        <p:nvSpPr>
          <p:cNvPr id="85" name="Shape 83"/>
          <p:cNvSpPr/>
          <p:nvPr/>
        </p:nvSpPr>
        <p:spPr>
          <a:xfrm>
            <a:off x="1143000" y="4800600"/>
            <a:ext cx="9966960" cy="1051560"/>
          </a:xfrm>
          <a:prstGeom prst="roundRect">
            <a:avLst>
              <a:gd name="adj" fmla="val 6957"/>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86" name="Shape 84"/>
          <p:cNvSpPr/>
          <p:nvPr/>
        </p:nvSpPr>
        <p:spPr>
          <a:xfrm>
            <a:off x="1143000" y="4800600"/>
            <a:ext cx="64008" cy="1051560"/>
          </a:xfrm>
          <a:prstGeom prst="rect">
            <a:avLst/>
          </a:prstGeom>
          <a:solidFill>
            <a:srgbClr val="2563EB"/>
          </a:solidFill>
          <a:ln w="12700">
            <a:solidFill>
              <a:srgbClr val="2563EB"/>
            </a:solidFill>
            <a:prstDash val="solid"/>
          </a:ln>
        </p:spPr>
        <p:txBody>
          <a:bodyPr/>
          <a:lstStyle/>
          <a:p>
            <a:endParaRPr lang="it-IT"/>
          </a:p>
        </p:txBody>
      </p:sp>
      <p:sp>
        <p:nvSpPr>
          <p:cNvPr id="87" name="Text 85"/>
          <p:cNvSpPr/>
          <p:nvPr/>
        </p:nvSpPr>
        <p:spPr>
          <a:xfrm>
            <a:off x="1371600" y="4506092"/>
            <a:ext cx="9555480" cy="274320"/>
          </a:xfrm>
          <a:prstGeom prst="rect">
            <a:avLst/>
          </a:prstGeom>
          <a:noFill/>
          <a:ln/>
        </p:spPr>
        <p:txBody>
          <a:bodyPr wrap="square" lIns="0" tIns="0" rIns="0" bIns="0" rtlCol="0" anchor="ctr"/>
          <a:lstStyle/>
          <a:p>
            <a:pPr marL="0" indent="0">
              <a:buNone/>
            </a:pPr>
            <a:r>
              <a:rPr lang="en-US" sz="2000" b="1" dirty="0">
                <a:solidFill>
                  <a:srgbClr val="0F172A"/>
                </a:solidFill>
              </a:rPr>
              <a:t>Tre messaggi chiave</a:t>
            </a:r>
            <a:endParaRPr lang="en-US" sz="2000" dirty="0"/>
          </a:p>
        </p:txBody>
      </p:sp>
      <p:sp>
        <p:nvSpPr>
          <p:cNvPr id="88" name="Text 86"/>
          <p:cNvSpPr/>
          <p:nvPr/>
        </p:nvSpPr>
        <p:spPr>
          <a:xfrm>
            <a:off x="1466602" y="5004737"/>
            <a:ext cx="9555480" cy="656824"/>
          </a:xfrm>
          <a:prstGeom prst="rect">
            <a:avLst/>
          </a:prstGeom>
          <a:noFill/>
          <a:ln/>
        </p:spPr>
        <p:txBody>
          <a:bodyPr wrap="square" lIns="381" tIns="381" rIns="381" bIns="381" rtlCol="0" anchor="t">
            <a:normAutofit fontScale="25000" lnSpcReduction="20000"/>
          </a:bodyPr>
          <a:lstStyle/>
          <a:p>
            <a:pPr marL="0" indent="0">
              <a:buNone/>
            </a:pPr>
            <a:r>
              <a:rPr lang="en-US" sz="8000" dirty="0">
                <a:solidFill>
                  <a:srgbClr val="5B677A"/>
                </a:solidFill>
              </a:rPr>
              <a:t>1. Comfort e PEV sono </a:t>
            </a:r>
            <a:r>
              <a:rPr lang="en-US" sz="8000" dirty="0" err="1">
                <a:solidFill>
                  <a:srgbClr val="5B677A"/>
                </a:solidFill>
              </a:rPr>
              <a:t>rispettati</a:t>
            </a:r>
            <a:r>
              <a:rPr lang="en-US" sz="8000" dirty="0">
                <a:solidFill>
                  <a:srgbClr val="5B677A"/>
                </a:solidFill>
              </a:rPr>
              <a:t>.</a:t>
            </a:r>
            <a:endParaRPr lang="en-US" sz="8000" dirty="0"/>
          </a:p>
          <a:p>
            <a:pPr marL="0" indent="0">
              <a:buNone/>
            </a:pPr>
            <a:r>
              <a:rPr lang="en-US" sz="8000" dirty="0">
                <a:solidFill>
                  <a:srgbClr val="5B677A"/>
                </a:solidFill>
              </a:rPr>
              <a:t>2. Combustibile basso attiva il DG.</a:t>
            </a:r>
            <a:endParaRPr lang="en-US" sz="8000" dirty="0"/>
          </a:p>
          <a:p>
            <a:pPr marL="0" indent="0">
              <a:buNone/>
            </a:pPr>
            <a:r>
              <a:rPr lang="en-US" sz="8000" dirty="0">
                <a:solidFill>
                  <a:srgbClr val="5B677A"/>
                </a:solidFill>
              </a:rPr>
              <a:t>3. Combustibile alto sposta la fornitura sulla rete</a:t>
            </a:r>
            <a:r>
              <a:rPr lang="en-US" sz="1200" dirty="0">
                <a:solidFill>
                  <a:srgbClr val="5B677A"/>
                </a:solidFill>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10896"/>
            <a:ext cx="10972800" cy="41148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Conclusione</a:t>
            </a:r>
            <a:endParaRPr lang="en-US" sz="2800" dirty="0"/>
          </a:p>
        </p:txBody>
      </p:sp>
      <p:sp>
        <p:nvSpPr>
          <p:cNvPr id="3" name="Text 1"/>
          <p:cNvSpPr/>
          <p:nvPr/>
        </p:nvSpPr>
        <p:spPr>
          <a:xfrm>
            <a:off x="621792" y="804672"/>
            <a:ext cx="10972800" cy="274320"/>
          </a:xfrm>
          <a:prstGeom prst="rect">
            <a:avLst/>
          </a:prstGeom>
          <a:noFill/>
          <a:ln/>
        </p:spPr>
        <p:txBody>
          <a:bodyPr wrap="square" lIns="0" tIns="0" rIns="0" bIns="0" rtlCol="0" anchor="ctr"/>
          <a:lstStyle/>
          <a:p>
            <a:pPr marL="0" indent="0">
              <a:buNone/>
            </a:pPr>
            <a:r>
              <a:rPr lang="en-US" sz="1250" dirty="0">
                <a:solidFill>
                  <a:srgbClr val="5B677A"/>
                </a:solidFill>
              </a:rPr>
              <a:t>MILP-MPC per coordinare sistemi energetici complessi</a:t>
            </a:r>
            <a:endParaRPr lang="en-US" sz="1250" dirty="0"/>
          </a:p>
        </p:txBody>
      </p:sp>
      <p:sp>
        <p:nvSpPr>
          <p:cNvPr id="4" name="Shape 2"/>
          <p:cNvSpPr/>
          <p:nvPr/>
        </p:nvSpPr>
        <p:spPr>
          <a:xfrm>
            <a:off x="594360" y="1115568"/>
            <a:ext cx="10972800" cy="0"/>
          </a:xfrm>
          <a:prstGeom prst="line">
            <a:avLst/>
          </a:prstGeom>
          <a:noFill/>
          <a:ln w="12700">
            <a:solidFill>
              <a:srgbClr val="E7EEF7"/>
            </a:solidFill>
            <a:prstDash val="solid"/>
          </a:ln>
        </p:spPr>
        <p:txBody>
          <a:bodyPr/>
          <a:lstStyle/>
          <a:p>
            <a:endParaRPr lang="it-IT"/>
          </a:p>
        </p:txBody>
      </p:sp>
      <p:sp>
        <p:nvSpPr>
          <p:cNvPr id="5" name="Shape 3"/>
          <p:cNvSpPr/>
          <p:nvPr/>
        </p:nvSpPr>
        <p:spPr>
          <a:xfrm>
            <a:off x="822960" y="1417320"/>
            <a:ext cx="3429000" cy="3154680"/>
          </a:xfrm>
          <a:prstGeom prst="roundRect">
            <a:avLst>
              <a:gd name="adj" fmla="val 2319"/>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6" name="Shape 4"/>
          <p:cNvSpPr/>
          <p:nvPr/>
        </p:nvSpPr>
        <p:spPr>
          <a:xfrm>
            <a:off x="822960" y="1417320"/>
            <a:ext cx="64008" cy="3154680"/>
          </a:xfrm>
          <a:prstGeom prst="rect">
            <a:avLst/>
          </a:prstGeom>
          <a:solidFill>
            <a:srgbClr val="2563EB"/>
          </a:solidFill>
          <a:ln w="12700">
            <a:solidFill>
              <a:srgbClr val="2563EB"/>
            </a:solidFill>
            <a:prstDash val="solid"/>
          </a:ln>
        </p:spPr>
        <p:txBody>
          <a:bodyPr/>
          <a:lstStyle/>
          <a:p>
            <a:endParaRPr lang="it-IT"/>
          </a:p>
        </p:txBody>
      </p:sp>
      <p:sp>
        <p:nvSpPr>
          <p:cNvPr id="7" name="Text 5"/>
          <p:cNvSpPr/>
          <p:nvPr/>
        </p:nvSpPr>
        <p:spPr>
          <a:xfrm>
            <a:off x="1051560" y="1600200"/>
            <a:ext cx="3017520" cy="274320"/>
          </a:xfrm>
          <a:prstGeom prst="rect">
            <a:avLst/>
          </a:prstGeom>
          <a:noFill/>
          <a:ln/>
        </p:spPr>
        <p:txBody>
          <a:bodyPr wrap="square" lIns="0" tIns="0" rIns="0" bIns="0" rtlCol="0" anchor="ctr"/>
          <a:lstStyle/>
          <a:p>
            <a:pPr marL="0" indent="0">
              <a:buNone/>
            </a:pPr>
            <a:r>
              <a:rPr lang="en-US" sz="2000" b="1" dirty="0" err="1">
                <a:solidFill>
                  <a:srgbClr val="0F172A"/>
                </a:solidFill>
              </a:rPr>
              <a:t>Vantaggi</a:t>
            </a:r>
            <a:r>
              <a:rPr lang="en-US" sz="2000" b="1" dirty="0">
                <a:solidFill>
                  <a:srgbClr val="0F172A"/>
                </a:solidFill>
              </a:rPr>
              <a:t> </a:t>
            </a:r>
            <a:r>
              <a:rPr lang="en-US" sz="2000" b="1" dirty="0" err="1">
                <a:solidFill>
                  <a:srgbClr val="0F172A"/>
                </a:solidFill>
              </a:rPr>
              <a:t>riscontrati</a:t>
            </a:r>
            <a:endParaRPr lang="en-US" sz="2000" dirty="0"/>
          </a:p>
        </p:txBody>
      </p:sp>
      <p:sp>
        <p:nvSpPr>
          <p:cNvPr id="8" name="Text 6"/>
          <p:cNvSpPr/>
          <p:nvPr/>
        </p:nvSpPr>
        <p:spPr>
          <a:xfrm>
            <a:off x="1060704" y="2587752"/>
            <a:ext cx="3017520" cy="1353312"/>
          </a:xfrm>
          <a:prstGeom prst="rect">
            <a:avLst/>
          </a:prstGeom>
          <a:noFill/>
          <a:ln/>
        </p:spPr>
        <p:txBody>
          <a:bodyPr wrap="square" lIns="381" tIns="381" rIns="381" bIns="381" rtlCol="0" anchor="t">
            <a:normAutofit/>
          </a:bodyPr>
          <a:lstStyle/>
          <a:p>
            <a:pPr marL="0" indent="0">
              <a:buNone/>
            </a:pPr>
            <a:r>
              <a:rPr lang="en-US" sz="2000" dirty="0" err="1">
                <a:solidFill>
                  <a:srgbClr val="5B677A"/>
                </a:solidFill>
              </a:rPr>
              <a:t>Possibilità</a:t>
            </a:r>
            <a:r>
              <a:rPr lang="en-US" sz="2000" dirty="0">
                <a:solidFill>
                  <a:srgbClr val="5B677A"/>
                </a:solidFill>
              </a:rPr>
              <a:t> di </a:t>
            </a:r>
            <a:r>
              <a:rPr lang="en-US" sz="2000" dirty="0" err="1">
                <a:solidFill>
                  <a:srgbClr val="5B677A"/>
                </a:solidFill>
              </a:rPr>
              <a:t>combinare</a:t>
            </a:r>
            <a:r>
              <a:rPr lang="en-US" sz="2000" dirty="0">
                <a:solidFill>
                  <a:srgbClr val="5B677A"/>
                </a:solidFill>
              </a:rPr>
              <a:t> </a:t>
            </a:r>
            <a:r>
              <a:rPr lang="en-US" sz="2000" dirty="0" err="1">
                <a:solidFill>
                  <a:srgbClr val="5B677A"/>
                </a:solidFill>
              </a:rPr>
              <a:t>molti</a:t>
            </a:r>
            <a:r>
              <a:rPr lang="en-US" sz="2000" dirty="0">
                <a:solidFill>
                  <a:srgbClr val="5B677A"/>
                </a:solidFill>
              </a:rPr>
              <a:t> </a:t>
            </a:r>
            <a:r>
              <a:rPr lang="en-US" sz="2000" dirty="0" err="1">
                <a:solidFill>
                  <a:srgbClr val="5B677A"/>
                </a:solidFill>
              </a:rPr>
              <a:t>elementi</a:t>
            </a:r>
            <a:r>
              <a:rPr lang="en-US" sz="2000" dirty="0">
                <a:solidFill>
                  <a:srgbClr val="5B677A"/>
                </a:solidFill>
              </a:rPr>
              <a:t> in un </a:t>
            </a:r>
            <a:r>
              <a:rPr lang="en-US" sz="2000" dirty="0" err="1">
                <a:solidFill>
                  <a:srgbClr val="5B677A"/>
                </a:solidFill>
              </a:rPr>
              <a:t>unico</a:t>
            </a:r>
            <a:r>
              <a:rPr lang="en-US" sz="2000" dirty="0">
                <a:solidFill>
                  <a:srgbClr val="5B677A"/>
                </a:solidFill>
              </a:rPr>
              <a:t> </a:t>
            </a:r>
            <a:r>
              <a:rPr lang="en-US" sz="2000" dirty="0" err="1">
                <a:solidFill>
                  <a:srgbClr val="5B677A"/>
                </a:solidFill>
              </a:rPr>
              <a:t>modello</a:t>
            </a:r>
            <a:r>
              <a:rPr lang="en-US" sz="2000" dirty="0">
                <a:solidFill>
                  <a:srgbClr val="5B677A"/>
                </a:solidFill>
              </a:rPr>
              <a:t>: il Sistema </a:t>
            </a:r>
            <a:r>
              <a:rPr lang="en-US" sz="2000" dirty="0" err="1">
                <a:solidFill>
                  <a:srgbClr val="5B677A"/>
                </a:solidFill>
              </a:rPr>
              <a:t>sceglie</a:t>
            </a:r>
            <a:r>
              <a:rPr lang="en-US" sz="2000" dirty="0">
                <a:solidFill>
                  <a:srgbClr val="5B677A"/>
                </a:solidFill>
              </a:rPr>
              <a:t> </a:t>
            </a:r>
            <a:r>
              <a:rPr lang="en-US" sz="2000" dirty="0" err="1">
                <a:solidFill>
                  <a:srgbClr val="5B677A"/>
                </a:solidFill>
              </a:rPr>
              <a:t>strategia</a:t>
            </a:r>
            <a:r>
              <a:rPr lang="en-US" sz="2000" dirty="0">
                <a:solidFill>
                  <a:srgbClr val="5B677A"/>
                </a:solidFill>
              </a:rPr>
              <a:t> </a:t>
            </a:r>
            <a:r>
              <a:rPr lang="en-US" sz="2000" dirty="0" err="1">
                <a:solidFill>
                  <a:srgbClr val="5B677A"/>
                </a:solidFill>
              </a:rPr>
              <a:t>ottimale</a:t>
            </a:r>
            <a:endParaRPr lang="en-US" sz="2000" dirty="0"/>
          </a:p>
        </p:txBody>
      </p:sp>
      <p:sp>
        <p:nvSpPr>
          <p:cNvPr id="9" name="Shape 7"/>
          <p:cNvSpPr/>
          <p:nvPr/>
        </p:nvSpPr>
        <p:spPr>
          <a:xfrm>
            <a:off x="4389120" y="1417320"/>
            <a:ext cx="3429000" cy="3154680"/>
          </a:xfrm>
          <a:prstGeom prst="roundRect">
            <a:avLst>
              <a:gd name="adj" fmla="val 2319"/>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0" name="Shape 8"/>
          <p:cNvSpPr/>
          <p:nvPr/>
        </p:nvSpPr>
        <p:spPr>
          <a:xfrm>
            <a:off x="4389120" y="1417320"/>
            <a:ext cx="64008" cy="3154680"/>
          </a:xfrm>
          <a:prstGeom prst="rect">
            <a:avLst/>
          </a:prstGeom>
          <a:solidFill>
            <a:srgbClr val="7C3AED"/>
          </a:solidFill>
          <a:ln w="12700">
            <a:solidFill>
              <a:srgbClr val="7C3AED"/>
            </a:solidFill>
            <a:prstDash val="solid"/>
          </a:ln>
        </p:spPr>
        <p:txBody>
          <a:bodyPr/>
          <a:lstStyle/>
          <a:p>
            <a:endParaRPr lang="it-IT"/>
          </a:p>
        </p:txBody>
      </p:sp>
      <p:sp>
        <p:nvSpPr>
          <p:cNvPr id="11" name="Text 9"/>
          <p:cNvSpPr/>
          <p:nvPr/>
        </p:nvSpPr>
        <p:spPr>
          <a:xfrm>
            <a:off x="4617720" y="1600200"/>
            <a:ext cx="3017520" cy="274320"/>
          </a:xfrm>
          <a:prstGeom prst="rect">
            <a:avLst/>
          </a:prstGeom>
          <a:noFill/>
          <a:ln/>
        </p:spPr>
        <p:txBody>
          <a:bodyPr wrap="square" lIns="0" tIns="0" rIns="0" bIns="0" rtlCol="0" anchor="ctr"/>
          <a:lstStyle/>
          <a:p>
            <a:pPr marL="0" indent="0">
              <a:buNone/>
            </a:pPr>
            <a:r>
              <a:rPr lang="en-US" sz="2000" b="1" dirty="0" err="1">
                <a:solidFill>
                  <a:srgbClr val="0F172A"/>
                </a:solidFill>
              </a:rPr>
              <a:t>Risultati</a:t>
            </a:r>
            <a:endParaRPr lang="en-US" sz="2000" dirty="0"/>
          </a:p>
        </p:txBody>
      </p:sp>
      <p:sp>
        <p:nvSpPr>
          <p:cNvPr id="12" name="Text 10"/>
          <p:cNvSpPr/>
          <p:nvPr/>
        </p:nvSpPr>
        <p:spPr>
          <a:xfrm>
            <a:off x="4617720" y="2544170"/>
            <a:ext cx="3017520" cy="1285029"/>
          </a:xfrm>
          <a:prstGeom prst="rect">
            <a:avLst/>
          </a:prstGeom>
          <a:noFill/>
          <a:ln/>
        </p:spPr>
        <p:txBody>
          <a:bodyPr wrap="square" lIns="381" tIns="381" rIns="381" bIns="381" rtlCol="0" anchor="t">
            <a:normAutofit/>
          </a:bodyPr>
          <a:lstStyle/>
          <a:p>
            <a:pPr marL="0" indent="0">
              <a:buNone/>
            </a:pPr>
            <a:r>
              <a:rPr lang="en-US" sz="2000" dirty="0">
                <a:solidFill>
                  <a:srgbClr val="5B677A"/>
                </a:solidFill>
              </a:rPr>
              <a:t>I </a:t>
            </a:r>
            <a:r>
              <a:rPr lang="en-US" sz="2000" dirty="0" err="1">
                <a:solidFill>
                  <a:srgbClr val="5B677A"/>
                </a:solidFill>
              </a:rPr>
              <a:t>risultati</a:t>
            </a:r>
            <a:r>
              <a:rPr lang="en-US" sz="2000" dirty="0">
                <a:solidFill>
                  <a:srgbClr val="5B677A"/>
                </a:solidFill>
              </a:rPr>
              <a:t> </a:t>
            </a:r>
            <a:r>
              <a:rPr lang="en-US" sz="2000" dirty="0" err="1">
                <a:solidFill>
                  <a:srgbClr val="5B677A"/>
                </a:solidFill>
              </a:rPr>
              <a:t>mostrano</a:t>
            </a:r>
            <a:r>
              <a:rPr lang="en-US" sz="2000" dirty="0">
                <a:solidFill>
                  <a:srgbClr val="5B677A"/>
                </a:solidFill>
              </a:rPr>
              <a:t> </a:t>
            </a:r>
            <a:r>
              <a:rPr lang="en-US" sz="2000" dirty="0" err="1">
                <a:solidFill>
                  <a:srgbClr val="5B677A"/>
                </a:solidFill>
              </a:rPr>
              <a:t>una</a:t>
            </a:r>
            <a:r>
              <a:rPr lang="en-US" sz="2000" dirty="0">
                <a:solidFill>
                  <a:srgbClr val="5B677A"/>
                </a:solidFill>
              </a:rPr>
              <a:t> </a:t>
            </a:r>
            <a:r>
              <a:rPr lang="en-US" sz="2000" dirty="0" err="1">
                <a:solidFill>
                  <a:srgbClr val="5B677A"/>
                </a:solidFill>
              </a:rPr>
              <a:t>reattività</a:t>
            </a:r>
            <a:r>
              <a:rPr lang="en-US" sz="2000" dirty="0">
                <a:solidFill>
                  <a:srgbClr val="5B677A"/>
                </a:solidFill>
              </a:rPr>
              <a:t> </a:t>
            </a:r>
            <a:r>
              <a:rPr lang="en-US" sz="2000" dirty="0" err="1">
                <a:solidFill>
                  <a:srgbClr val="5B677A"/>
                </a:solidFill>
              </a:rPr>
              <a:t>intrisneca</a:t>
            </a:r>
            <a:r>
              <a:rPr lang="en-US" sz="2000" dirty="0">
                <a:solidFill>
                  <a:srgbClr val="5B677A"/>
                </a:solidFill>
              </a:rPr>
              <a:t> del Sistema </a:t>
            </a:r>
            <a:r>
              <a:rPr lang="en-US" sz="2000" dirty="0" err="1">
                <a:solidFill>
                  <a:srgbClr val="5B677A"/>
                </a:solidFill>
              </a:rPr>
              <a:t>agli</a:t>
            </a:r>
            <a:r>
              <a:rPr lang="en-US" sz="2000" dirty="0">
                <a:solidFill>
                  <a:srgbClr val="5B677A"/>
                </a:solidFill>
              </a:rPr>
              <a:t> incentive economici</a:t>
            </a:r>
            <a:endParaRPr lang="en-US" sz="2000" dirty="0"/>
          </a:p>
        </p:txBody>
      </p:sp>
      <p:sp>
        <p:nvSpPr>
          <p:cNvPr id="13" name="Shape 11"/>
          <p:cNvSpPr/>
          <p:nvPr/>
        </p:nvSpPr>
        <p:spPr>
          <a:xfrm>
            <a:off x="7955280" y="1417320"/>
            <a:ext cx="3429000" cy="3154680"/>
          </a:xfrm>
          <a:prstGeom prst="roundRect">
            <a:avLst>
              <a:gd name="adj" fmla="val 2319"/>
            </a:avLst>
          </a:prstGeom>
          <a:solidFill>
            <a:srgbClr val="FFFFFF"/>
          </a:solidFill>
          <a:ln w="13970">
            <a:solidFill>
              <a:srgbClr val="CAD5E3"/>
            </a:solidFill>
            <a:prstDash val="solid"/>
          </a:ln>
          <a:effectLst>
            <a:outerShdw blurRad="12700" dist="50800" dir="2700000" algn="bl" rotWithShape="0">
              <a:srgbClr val="E7EBF0">
                <a:alpha val="28000"/>
              </a:srgbClr>
            </a:outerShdw>
          </a:effectLst>
        </p:spPr>
        <p:txBody>
          <a:bodyPr/>
          <a:lstStyle/>
          <a:p>
            <a:endParaRPr lang="it-IT"/>
          </a:p>
        </p:txBody>
      </p:sp>
      <p:sp>
        <p:nvSpPr>
          <p:cNvPr id="14" name="Shape 12"/>
          <p:cNvSpPr/>
          <p:nvPr/>
        </p:nvSpPr>
        <p:spPr>
          <a:xfrm>
            <a:off x="7955280" y="1417320"/>
            <a:ext cx="64008" cy="3154680"/>
          </a:xfrm>
          <a:prstGeom prst="rect">
            <a:avLst/>
          </a:prstGeom>
          <a:solidFill>
            <a:srgbClr val="16A34A"/>
          </a:solidFill>
          <a:ln w="12700">
            <a:solidFill>
              <a:srgbClr val="16A34A"/>
            </a:solidFill>
            <a:prstDash val="solid"/>
          </a:ln>
        </p:spPr>
        <p:txBody>
          <a:bodyPr/>
          <a:lstStyle/>
          <a:p>
            <a:endParaRPr lang="it-IT"/>
          </a:p>
        </p:txBody>
      </p:sp>
      <p:sp>
        <p:nvSpPr>
          <p:cNvPr id="15" name="Text 13"/>
          <p:cNvSpPr/>
          <p:nvPr/>
        </p:nvSpPr>
        <p:spPr>
          <a:xfrm>
            <a:off x="8183880" y="1600200"/>
            <a:ext cx="3017520" cy="274320"/>
          </a:xfrm>
          <a:prstGeom prst="rect">
            <a:avLst/>
          </a:prstGeom>
          <a:noFill/>
          <a:ln/>
        </p:spPr>
        <p:txBody>
          <a:bodyPr wrap="square" lIns="0" tIns="0" rIns="0" bIns="0" rtlCol="0" anchor="ctr"/>
          <a:lstStyle/>
          <a:p>
            <a:pPr marL="0" indent="0">
              <a:buNone/>
            </a:pPr>
            <a:r>
              <a:rPr lang="en-US" sz="2000" b="1" dirty="0" err="1">
                <a:solidFill>
                  <a:srgbClr val="0F172A"/>
                </a:solidFill>
              </a:rPr>
              <a:t>Sviluppo</a:t>
            </a:r>
            <a:r>
              <a:rPr lang="en-US" sz="2000" b="1" dirty="0">
                <a:solidFill>
                  <a:srgbClr val="0F172A"/>
                </a:solidFill>
              </a:rPr>
              <a:t> </a:t>
            </a:r>
            <a:r>
              <a:rPr lang="en-US" sz="2000" b="1" dirty="0" err="1">
                <a:solidFill>
                  <a:srgbClr val="0F172A"/>
                </a:solidFill>
              </a:rPr>
              <a:t>futuro</a:t>
            </a:r>
            <a:endParaRPr lang="en-US" sz="2000" dirty="0"/>
          </a:p>
        </p:txBody>
      </p:sp>
      <p:sp>
        <p:nvSpPr>
          <p:cNvPr id="16" name="Text 14"/>
          <p:cNvSpPr/>
          <p:nvPr/>
        </p:nvSpPr>
        <p:spPr>
          <a:xfrm>
            <a:off x="8156448" y="2491265"/>
            <a:ext cx="3017520" cy="1546286"/>
          </a:xfrm>
          <a:prstGeom prst="rect">
            <a:avLst/>
          </a:prstGeom>
          <a:noFill/>
          <a:ln/>
        </p:spPr>
        <p:txBody>
          <a:bodyPr wrap="square" lIns="381" tIns="381" rIns="381" bIns="381" rtlCol="0" anchor="t">
            <a:normAutofit/>
          </a:bodyPr>
          <a:lstStyle/>
          <a:p>
            <a:pPr marL="0" indent="0">
              <a:buNone/>
            </a:pPr>
            <a:r>
              <a:rPr lang="en-US" sz="2000" dirty="0" err="1"/>
              <a:t>Estensione</a:t>
            </a:r>
            <a:r>
              <a:rPr lang="en-US" sz="2000" dirty="0"/>
              <a:t> del </a:t>
            </a:r>
            <a:r>
              <a:rPr lang="en-US" sz="2000" dirty="0" err="1"/>
              <a:t>modello</a:t>
            </a:r>
            <a:r>
              <a:rPr lang="en-US" sz="2000" dirty="0"/>
              <a:t> a </a:t>
            </a:r>
            <a:r>
              <a:rPr lang="en-US" sz="2000" dirty="0" err="1"/>
              <a:t>includere</a:t>
            </a:r>
            <a:r>
              <a:rPr lang="en-US" sz="2000" dirty="0"/>
              <a:t> </a:t>
            </a:r>
            <a:r>
              <a:rPr lang="en-US" sz="2000" dirty="0" err="1"/>
              <a:t>incertezze</a:t>
            </a:r>
            <a:r>
              <a:rPr lang="en-US" sz="2000" dirty="0"/>
              <a:t> </a:t>
            </a:r>
            <a:r>
              <a:rPr lang="en-US" sz="2000" dirty="0" err="1"/>
              <a:t>nelle</a:t>
            </a:r>
            <a:r>
              <a:rPr lang="en-US" sz="2000" dirty="0"/>
              <a:t> </a:t>
            </a:r>
            <a:r>
              <a:rPr lang="en-US" sz="2000" dirty="0" err="1"/>
              <a:t>previsioni</a:t>
            </a:r>
            <a:r>
              <a:rPr lang="en-US" sz="2000" dirty="0"/>
              <a:t>, </a:t>
            </a:r>
            <a:r>
              <a:rPr lang="en-US" sz="2000"/>
              <a:t>degrado </a:t>
            </a:r>
            <a:r>
              <a:rPr lang="en-US" sz="2000" dirty="0"/>
              <a:t>degli </a:t>
            </a:r>
            <a:r>
              <a:rPr lang="en-US" sz="2000" dirty="0" err="1"/>
              <a:t>accumuli</a:t>
            </a:r>
            <a:r>
              <a:rPr lang="en-US" sz="2000" dirty="0"/>
              <a:t> o </a:t>
            </a:r>
            <a:r>
              <a:rPr lang="en-US" sz="2000" dirty="0" err="1"/>
              <a:t>scenari</a:t>
            </a:r>
            <a:r>
              <a:rPr lang="en-US" sz="2000" dirty="0"/>
              <a:t> di demand response.</a:t>
            </a:r>
          </a:p>
        </p:txBody>
      </p:sp>
      <p:sp>
        <p:nvSpPr>
          <p:cNvPr id="17" name="Shape 15"/>
          <p:cNvSpPr/>
          <p:nvPr/>
        </p:nvSpPr>
        <p:spPr>
          <a:xfrm>
            <a:off x="1508760" y="5257800"/>
            <a:ext cx="9144000" cy="685800"/>
          </a:xfrm>
          <a:prstGeom prst="roundRect">
            <a:avLst>
              <a:gd name="adj" fmla="val 10667"/>
            </a:avLst>
          </a:prstGeom>
          <a:solidFill>
            <a:srgbClr val="0F172A"/>
          </a:solidFill>
          <a:ln w="12700">
            <a:solidFill>
              <a:srgbClr val="0F172A"/>
            </a:solidFill>
            <a:prstDash val="solid"/>
          </a:ln>
        </p:spPr>
        <p:txBody>
          <a:bodyPr/>
          <a:lstStyle/>
          <a:p>
            <a:endParaRPr lang="it-IT"/>
          </a:p>
        </p:txBody>
      </p:sp>
      <p:sp>
        <p:nvSpPr>
          <p:cNvPr id="18" name="Text 16"/>
          <p:cNvSpPr/>
          <p:nvPr/>
        </p:nvSpPr>
        <p:spPr>
          <a:xfrm>
            <a:off x="1645920" y="5468112"/>
            <a:ext cx="8869680" cy="228600"/>
          </a:xfrm>
          <a:prstGeom prst="rect">
            <a:avLst/>
          </a:prstGeom>
          <a:noFill/>
          <a:ln/>
        </p:spPr>
        <p:txBody>
          <a:bodyPr wrap="square" lIns="0" tIns="0" rIns="0" bIns="0" rtlCol="0" anchor="ctr"/>
          <a:lstStyle/>
          <a:p>
            <a:pPr marL="0" indent="0" algn="ctr">
              <a:buNone/>
            </a:pPr>
            <a:r>
              <a:rPr lang="en-US" sz="1800" b="1" dirty="0">
                <a:solidFill>
                  <a:srgbClr val="FFFFFF"/>
                </a:solidFill>
              </a:rPr>
              <a:t>Il </a:t>
            </a:r>
            <a:r>
              <a:rPr lang="en-US" sz="1800" b="1" dirty="0" err="1">
                <a:solidFill>
                  <a:srgbClr val="FFFFFF"/>
                </a:solidFill>
              </a:rPr>
              <a:t>progetto</a:t>
            </a:r>
            <a:r>
              <a:rPr lang="en-US" sz="1800" b="1" dirty="0">
                <a:solidFill>
                  <a:srgbClr val="FFFFFF"/>
                </a:solidFill>
              </a:rPr>
              <a:t> </a:t>
            </a:r>
            <a:r>
              <a:rPr lang="en-US" sz="1800" b="1" dirty="0" err="1">
                <a:solidFill>
                  <a:srgbClr val="FFFFFF"/>
                </a:solidFill>
              </a:rPr>
              <a:t>dimostra</a:t>
            </a:r>
            <a:r>
              <a:rPr lang="en-US" sz="1800" b="1" dirty="0">
                <a:solidFill>
                  <a:srgbClr val="FFFFFF"/>
                </a:solidFill>
              </a:rPr>
              <a:t> il </a:t>
            </a:r>
            <a:r>
              <a:rPr lang="en-US" sz="1800" b="1" dirty="0" err="1">
                <a:solidFill>
                  <a:srgbClr val="FFFFFF"/>
                </a:solidFill>
              </a:rPr>
              <a:t>valore</a:t>
            </a:r>
            <a:r>
              <a:rPr lang="en-US" sz="1800" b="1" dirty="0">
                <a:solidFill>
                  <a:srgbClr val="FFFFFF"/>
                </a:solidFill>
              </a:rPr>
              <a:t> </a:t>
            </a:r>
            <a:r>
              <a:rPr lang="en-US" sz="1800" b="1" dirty="0" err="1">
                <a:solidFill>
                  <a:srgbClr val="FFFFFF"/>
                </a:solidFill>
              </a:rPr>
              <a:t>dell’ottimizzazione</a:t>
            </a:r>
            <a:r>
              <a:rPr lang="en-US" sz="1800" b="1" dirty="0">
                <a:solidFill>
                  <a:srgbClr val="FFFFFF"/>
                </a:solidFill>
              </a:rPr>
              <a:t> per </a:t>
            </a:r>
            <a:r>
              <a:rPr lang="en-US" sz="1800" b="1" dirty="0" err="1">
                <a:solidFill>
                  <a:srgbClr val="FFFFFF"/>
                </a:solidFill>
              </a:rPr>
              <a:t>coordinare</a:t>
            </a:r>
            <a:r>
              <a:rPr lang="en-US" sz="1800" b="1" dirty="0">
                <a:solidFill>
                  <a:srgbClr val="FFFFFF"/>
                </a:solidFill>
              </a:rPr>
              <a:t> </a:t>
            </a:r>
            <a:r>
              <a:rPr lang="en-US" sz="1800" b="1" dirty="0" err="1">
                <a:solidFill>
                  <a:srgbClr val="FFFFFF"/>
                </a:solidFill>
              </a:rPr>
              <a:t>sistemi</a:t>
            </a:r>
            <a:r>
              <a:rPr lang="en-US" sz="1800" b="1" dirty="0">
                <a:solidFill>
                  <a:srgbClr val="FFFFFF"/>
                </a:solidFill>
              </a:rPr>
              <a:t> </a:t>
            </a:r>
            <a:r>
              <a:rPr lang="en-US" sz="1800" b="1" dirty="0" err="1">
                <a:solidFill>
                  <a:srgbClr val="FFFFFF"/>
                </a:solidFill>
              </a:rPr>
              <a:t>complessi</a:t>
            </a:r>
            <a:r>
              <a:rPr lang="en-US" sz="1800" b="1" dirty="0">
                <a:solidFill>
                  <a:srgbClr val="FFFFFF"/>
                </a:solidFill>
              </a:rPr>
              <a:t>.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574</TotalTime>
  <Words>1577</Words>
  <Application>Microsoft Macintosh PowerPoint</Application>
  <PresentationFormat>Widescreen</PresentationFormat>
  <Paragraphs>275</Paragraphs>
  <Slides>13</Slides>
  <Notes>13</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13</vt:i4>
      </vt:variant>
    </vt:vector>
  </HeadingPairs>
  <TitlesOfParts>
    <vt:vector size="18" baseType="lpstr">
      <vt:lpstr>Aptos</vt:lpstr>
      <vt:lpstr>Aptos (Corpo)</vt:lpstr>
      <vt:lpstr>Aptos Display</vt: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Generato con 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Gestione energetica di uno Smart District</dc:title>
  <dc:subject>Presentazione Smart District MILP-MPC</dc:subject>
  <dc:creator>OpenAI</dc:creator>
  <cp:lastModifiedBy>a.difilippo</cp:lastModifiedBy>
  <cp:revision>10</cp:revision>
  <cp:lastPrinted>2026-06-08T15:36:43Z</cp:lastPrinted>
  <dcterms:created xsi:type="dcterms:W3CDTF">2026-06-03T15:31:13Z</dcterms:created>
  <dcterms:modified xsi:type="dcterms:W3CDTF">2026-06-08T16:31:04Z</dcterms:modified>
</cp:coreProperties>
</file>